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83" r:id="rId2"/>
    <p:sldId id="292" r:id="rId3"/>
    <p:sldId id="398" r:id="rId4"/>
    <p:sldId id="400" r:id="rId5"/>
    <p:sldId id="401" r:id="rId6"/>
    <p:sldId id="347" r:id="rId7"/>
    <p:sldId id="348" r:id="rId8"/>
    <p:sldId id="421" r:id="rId9"/>
    <p:sldId id="378" r:id="rId10"/>
    <p:sldId id="438" r:id="rId11"/>
    <p:sldId id="446" r:id="rId12"/>
    <p:sldId id="447" r:id="rId13"/>
    <p:sldId id="437" r:id="rId14"/>
    <p:sldId id="439" r:id="rId15"/>
    <p:sldId id="441" r:id="rId16"/>
    <p:sldId id="435" r:id="rId17"/>
    <p:sldId id="444" r:id="rId18"/>
    <p:sldId id="442" r:id="rId19"/>
    <p:sldId id="445" r:id="rId20"/>
    <p:sldId id="364" r:id="rId21"/>
    <p:sldId id="423" r:id="rId22"/>
    <p:sldId id="422" r:id="rId23"/>
    <p:sldId id="424" r:id="rId24"/>
    <p:sldId id="425" r:id="rId25"/>
    <p:sldId id="426" r:id="rId26"/>
    <p:sldId id="428" r:id="rId27"/>
    <p:sldId id="429" r:id="rId28"/>
    <p:sldId id="431" r:id="rId29"/>
    <p:sldId id="430" r:id="rId30"/>
    <p:sldId id="433" r:id="rId31"/>
    <p:sldId id="432" r:id="rId32"/>
    <p:sldId id="434" r:id="rId33"/>
    <p:sldId id="448" r:id="rId34"/>
    <p:sldId id="450" r:id="rId35"/>
    <p:sldId id="449" r:id="rId36"/>
    <p:sldId id="402" r:id="rId37"/>
    <p:sldId id="403" r:id="rId38"/>
    <p:sldId id="404" r:id="rId39"/>
    <p:sldId id="411" r:id="rId40"/>
    <p:sldId id="405" r:id="rId41"/>
    <p:sldId id="407" r:id="rId42"/>
    <p:sldId id="406" r:id="rId43"/>
    <p:sldId id="408" r:id="rId44"/>
    <p:sldId id="410" r:id="rId45"/>
    <p:sldId id="412"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9FhY5B+eciFy5NbGKN1liw==" hashData="W0YtlBkR8PxpbKXR41HMEkt69wpZxrMvd4CtL59ppHOSqHMStTvvIcUdozC7+MT/tnQt21IOz7/qaueWxvz07g=="/>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7D8B"/>
    <a:srgbClr val="ED524F"/>
    <a:srgbClr val="00CC99"/>
    <a:srgbClr val="301B92"/>
    <a:srgbClr val="673BB7"/>
    <a:srgbClr val="B71B1C"/>
    <a:srgbClr val="F54337"/>
    <a:srgbClr val="D81A60"/>
    <a:srgbClr val="890E4F"/>
    <a:srgbClr val="EA1E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48"/>
  </p:normalViewPr>
  <p:slideViewPr>
    <p:cSldViewPr snapToGrid="0">
      <p:cViewPr varScale="1">
        <p:scale>
          <a:sx n="79" d="100"/>
          <a:sy n="79" d="100"/>
        </p:scale>
        <p:origin x="494" y="62"/>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3/14/2026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79BDEF-6165-4E72-B1A6-6E8034CEC248}" type="slidenum">
              <a:rPr lang="en-US" smtClean="0"/>
              <a:t>1</a:t>
            </a:fld>
            <a:endParaRPr lang="en-US"/>
          </a:p>
        </p:txBody>
      </p:sp>
    </p:spTree>
    <p:extLst>
      <p:ext uri="{BB962C8B-B14F-4D97-AF65-F5344CB8AC3E}">
        <p14:creationId xmlns:p14="http://schemas.microsoft.com/office/powerpoint/2010/main" val="242001631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8.png"/><Relationship Id="rId4" Type="http://schemas.microsoft.com/office/2007/relationships/hdphoto" Target="../media/hdphoto2.wdp"/></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7.jpeg"/><Relationship Id="rId5" Type="http://schemas.openxmlformats.org/officeDocument/2006/relationships/image" Target="../media/image3.png"/><Relationship Id="rId10" Type="http://schemas.openxmlformats.org/officeDocument/2006/relationships/image" Target="../media/image14.jpeg"/><Relationship Id="rId4" Type="http://schemas.openxmlformats.org/officeDocument/2006/relationships/image" Target="../media/image1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3956"/>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4" name="Picture 3">
            <a:extLst>
              <a:ext uri="{FF2B5EF4-FFF2-40B4-BE49-F238E27FC236}">
                <a16:creationId xmlns:a16="http://schemas.microsoft.com/office/drawing/2014/main" id="{0D3FD703-A923-5FFC-49A0-8C313F0B42ED}"/>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512662" y="596629"/>
            <a:ext cx="2976891" cy="904935"/>
          </a:xfrm>
          <a:prstGeom prst="rect">
            <a:avLst/>
          </a:prstGeom>
        </p:spPr>
      </p:pic>
      <p:pic>
        <p:nvPicPr>
          <p:cNvPr id="8" name="Picture 7">
            <a:extLst>
              <a:ext uri="{FF2B5EF4-FFF2-40B4-BE49-F238E27FC236}">
                <a16:creationId xmlns:a16="http://schemas.microsoft.com/office/drawing/2014/main" id="{4AE52AF9-0738-907E-5BBA-0ED5F6A1485B}"/>
              </a:ext>
            </a:extLst>
          </p:cNvPr>
          <p:cNvPicPr>
            <a:picLocks noChangeAspect="1"/>
          </p:cNvPicPr>
          <p:nvPr userDrawn="1"/>
        </p:nvPicPr>
        <p:blipFill>
          <a:blip r:embed="rId11" cstate="hqprint">
            <a:extLst>
              <a:ext uri="{28A0092B-C50C-407E-A947-70E740481C1C}">
                <a14:useLocalDpi xmlns:a14="http://schemas.microsoft.com/office/drawing/2010/main" val="0"/>
              </a:ext>
            </a:extLst>
          </a:blip>
          <a:stretch>
            <a:fillRect/>
          </a:stretch>
        </p:blipFill>
        <p:spPr>
          <a:xfrm>
            <a:off x="8512661" y="1741817"/>
            <a:ext cx="2976891" cy="1185243"/>
          </a:xfrm>
          <a:prstGeom prst="rect">
            <a:avLst/>
          </a:prstGeom>
        </p:spPr>
      </p:pic>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solidFill>
              <a:schemeClr val="tx2"/>
            </a:solid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p:nvPr>
        </p:nvSpPr>
        <p:spPr>
          <a:xfrm>
            <a:off x="1828969" y="5563895"/>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endParaRPr lang="en-US" dirty="0"/>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endParaRPr lang="en-US" dirty="0"/>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7"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0" name="Hexagon 29">
            <a:extLst>
              <a:ext uri="{FF2B5EF4-FFF2-40B4-BE49-F238E27FC236}">
                <a16:creationId xmlns:a16="http://schemas.microsoft.com/office/drawing/2014/main" id="{43663646-67F9-47C4-84E3-B4EEDA5FB900}"/>
              </a:ext>
            </a:extLst>
          </p:cNvPr>
          <p:cNvSpPr/>
          <p:nvPr userDrawn="1"/>
        </p:nvSpPr>
        <p:spPr>
          <a:xfrm rot="5400000">
            <a:off x="4309292" y="1717040"/>
            <a:ext cx="3461658" cy="2984188"/>
          </a:xfrm>
          <a:prstGeom prst="hexagon">
            <a:avLst/>
          </a:prstGeom>
          <a:solidFill>
            <a:schemeClr val="bg1">
              <a:lumMod val="95000"/>
            </a:schemeClr>
          </a:solidFill>
          <a:ln w="57150">
            <a:solidFill>
              <a:schemeClr val="tx2"/>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 name="TextBox 30">
            <a:extLst>
              <a:ext uri="{FF2B5EF4-FFF2-40B4-BE49-F238E27FC236}">
                <a16:creationId xmlns:a16="http://schemas.microsoft.com/office/drawing/2014/main" id="{760958F6-32DB-4A2F-BFC3-1FBEA359C54B}"/>
              </a:ext>
            </a:extLst>
          </p:cNvPr>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34" name="Rectangle 33">
            <a:extLst>
              <a:ext uri="{FF2B5EF4-FFF2-40B4-BE49-F238E27FC236}">
                <a16:creationId xmlns:a16="http://schemas.microsoft.com/office/drawing/2014/main" id="{66C323F2-F0D8-4EB7-83AE-DFAA81BC49DE}"/>
              </a:ext>
            </a:extLst>
          </p:cNvPr>
          <p:cNvSpPr/>
          <p:nvPr userDrawn="1"/>
        </p:nvSpPr>
        <p:spPr>
          <a:xfrm rot="10800000">
            <a:off x="7678346" y="2221532"/>
            <a:ext cx="4513654" cy="1951692"/>
          </a:xfrm>
          <a:prstGeom prst="rect">
            <a:avLst/>
          </a:prstGeom>
          <a:gradFill>
            <a:gsLst>
              <a:gs pos="0">
                <a:srgbClr val="1D3064"/>
              </a:gs>
              <a:gs pos="50000">
                <a:srgbClr val="1D3064"/>
              </a:gs>
              <a:gs pos="100000">
                <a:schemeClr val="tx2"/>
              </a:gs>
            </a:gsLst>
            <a:lin ang="10800000" scaled="1"/>
          </a:gra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212D27AE-1148-4B42-8B61-FEBB2397EFD9}"/>
              </a:ext>
            </a:extLst>
          </p:cNvPr>
          <p:cNvSpPr/>
          <p:nvPr userDrawn="1"/>
        </p:nvSpPr>
        <p:spPr>
          <a:xfrm>
            <a:off x="0" y="2221532"/>
            <a:ext cx="4402106" cy="1951692"/>
          </a:xfrm>
          <a:prstGeom prst="rect">
            <a:avLst/>
          </a:prstGeom>
          <a:gradFill>
            <a:gsLst>
              <a:gs pos="0">
                <a:srgbClr val="1D3064"/>
              </a:gs>
              <a:gs pos="50000">
                <a:srgbClr val="1D3064"/>
              </a:gs>
              <a:gs pos="100000">
                <a:schemeClr val="tx2"/>
              </a:gs>
            </a:gsLst>
            <a:lin ang="10800000" scaled="1"/>
          </a:gradFill>
          <a:ln>
            <a:solidFill>
              <a:schemeClr val="tx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1235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Jayesh D.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Vagadiya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440818"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#2301CS62(ML)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Unit 5 –  Artificial Neural Network (ML)</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920005"/>
            <a:ext cx="11929641" cy="5534004"/>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13118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DF0D05C3-99AA-773B-0F49-09924E81855A}"/>
              </a:ext>
            </a:extLst>
          </p:cNvPr>
          <p:cNvGrpSpPr/>
          <p:nvPr userDrawn="1"/>
        </p:nvGrpSpPr>
        <p:grpSpPr>
          <a:xfrm>
            <a:off x="10411778" y="921114"/>
            <a:ext cx="1649043" cy="501287"/>
            <a:chOff x="10721798" y="852808"/>
            <a:chExt cx="1339023" cy="407045"/>
          </a:xfrm>
        </p:grpSpPr>
        <p:pic>
          <p:nvPicPr>
            <p:cNvPr id="7" name="Picture 6">
              <a:extLst>
                <a:ext uri="{FF2B5EF4-FFF2-40B4-BE49-F238E27FC236}">
                  <a16:creationId xmlns:a16="http://schemas.microsoft.com/office/drawing/2014/main" id="{2479EDFC-ED4D-861A-E37D-14D7E6B0514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8" name="Rectangle 7">
              <a:extLst>
                <a:ext uri="{FF2B5EF4-FFF2-40B4-BE49-F238E27FC236}">
                  <a16:creationId xmlns:a16="http://schemas.microsoft.com/office/drawing/2014/main" id="{DAE3FA7F-857D-E61D-5C28-13E2D70838D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6633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Jayesh D.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Vagadiya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280210"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#2301CS62(ML)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Unit 5 –  Artificial Neural Network (ML)</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78501"/>
          </a:xfrm>
        </p:spPr>
        <p:txBody>
          <a:bodyPr>
            <a:noAutofit/>
          </a:bodyPr>
          <a:lstStyle>
            <a:lvl1pPr marL="265113" indent="-265113" algn="just">
              <a:buClr>
                <a:schemeClr val="accent6"/>
              </a:buClr>
              <a:buFont typeface="Webdings" panose="05030102010509060703"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61618DA6-ADDC-7E6E-7A51-8D40B3889FE6}"/>
              </a:ext>
            </a:extLst>
          </p:cNvPr>
          <p:cNvGrpSpPr/>
          <p:nvPr userDrawn="1"/>
        </p:nvGrpSpPr>
        <p:grpSpPr>
          <a:xfrm>
            <a:off x="10313386" y="5940670"/>
            <a:ext cx="1649043" cy="501287"/>
            <a:chOff x="10721798" y="852808"/>
            <a:chExt cx="1339023" cy="407045"/>
          </a:xfrm>
        </p:grpSpPr>
        <p:pic>
          <p:nvPicPr>
            <p:cNvPr id="7" name="Picture 6">
              <a:extLst>
                <a:ext uri="{FF2B5EF4-FFF2-40B4-BE49-F238E27FC236}">
                  <a16:creationId xmlns:a16="http://schemas.microsoft.com/office/drawing/2014/main" id="{D3D5E089-7BE6-03A1-CD63-E67BAD57608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8" name="Rectangle 7">
              <a:extLst>
                <a:ext uri="{FF2B5EF4-FFF2-40B4-BE49-F238E27FC236}">
                  <a16:creationId xmlns:a16="http://schemas.microsoft.com/office/drawing/2014/main" id="{DEC36E20-EF18-6B0D-305F-4B32B1F5F4C6}"/>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761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Jayesh D.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Vagadiya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599" y="6604000"/>
            <a:ext cx="4324815"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#2301CS62(ML)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Unit 5 –  Artificial Neural Network (ML)</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626739"/>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8A3AED85-A54D-97C1-DD2C-9FDEA4914919}"/>
              </a:ext>
            </a:extLst>
          </p:cNvPr>
          <p:cNvGrpSpPr/>
          <p:nvPr userDrawn="1"/>
        </p:nvGrpSpPr>
        <p:grpSpPr>
          <a:xfrm>
            <a:off x="131180" y="5988910"/>
            <a:ext cx="1649043" cy="501287"/>
            <a:chOff x="10721798" y="852808"/>
            <a:chExt cx="1339023" cy="407045"/>
          </a:xfrm>
        </p:grpSpPr>
        <p:pic>
          <p:nvPicPr>
            <p:cNvPr id="7" name="Picture 6">
              <a:extLst>
                <a:ext uri="{FF2B5EF4-FFF2-40B4-BE49-F238E27FC236}">
                  <a16:creationId xmlns:a16="http://schemas.microsoft.com/office/drawing/2014/main" id="{F801B37D-BAE9-0650-58F2-BC78CED44C4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8" name="Rectangle 7">
              <a:extLst>
                <a:ext uri="{FF2B5EF4-FFF2-40B4-BE49-F238E27FC236}">
                  <a16:creationId xmlns:a16="http://schemas.microsoft.com/office/drawing/2014/main" id="{1DA2DE62-0FAB-499C-3FF7-8E3E8DDDF86C}"/>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862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 name="Group 3">
            <a:extLst>
              <a:ext uri="{FF2B5EF4-FFF2-40B4-BE49-F238E27FC236}">
                <a16:creationId xmlns:a16="http://schemas.microsoft.com/office/drawing/2014/main" id="{8D8F205C-D692-3A8F-DB67-62DFE62B7370}"/>
              </a:ext>
            </a:extLst>
          </p:cNvPr>
          <p:cNvGrpSpPr/>
          <p:nvPr userDrawn="1"/>
        </p:nvGrpSpPr>
        <p:grpSpPr>
          <a:xfrm>
            <a:off x="10359675" y="6131022"/>
            <a:ext cx="1649043" cy="501287"/>
            <a:chOff x="10721798" y="852808"/>
            <a:chExt cx="1339023" cy="407045"/>
          </a:xfrm>
        </p:grpSpPr>
        <p:pic>
          <p:nvPicPr>
            <p:cNvPr id="5" name="Picture 4">
              <a:extLst>
                <a:ext uri="{FF2B5EF4-FFF2-40B4-BE49-F238E27FC236}">
                  <a16:creationId xmlns:a16="http://schemas.microsoft.com/office/drawing/2014/main" id="{31DDAE99-2697-C009-4B54-2913BF8DCC4D}"/>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6" name="Rectangle 5">
              <a:extLst>
                <a:ext uri="{FF2B5EF4-FFF2-40B4-BE49-F238E27FC236}">
                  <a16:creationId xmlns:a16="http://schemas.microsoft.com/office/drawing/2014/main" id="{6DBF6B26-56F5-A99C-23BA-B1DAF78C0F43}"/>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Jayesh D.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Vagadiya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#2101CS521  (DM)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to Data Mining (DM)</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FEA6E7FD-9D74-A53E-354C-AEDE33361F68}"/>
              </a:ext>
            </a:extLst>
          </p:cNvPr>
          <p:cNvGrpSpPr/>
          <p:nvPr userDrawn="1"/>
        </p:nvGrpSpPr>
        <p:grpSpPr>
          <a:xfrm>
            <a:off x="10253733" y="119603"/>
            <a:ext cx="1649043" cy="501287"/>
            <a:chOff x="10721798" y="852808"/>
            <a:chExt cx="1339023" cy="407045"/>
          </a:xfrm>
        </p:grpSpPr>
        <p:pic>
          <p:nvPicPr>
            <p:cNvPr id="3" name="Picture 2">
              <a:extLst>
                <a:ext uri="{FF2B5EF4-FFF2-40B4-BE49-F238E27FC236}">
                  <a16:creationId xmlns:a16="http://schemas.microsoft.com/office/drawing/2014/main" id="{B8648CBA-7265-39F8-D1B9-0E15C03485C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4" name="Rectangle 3">
              <a:extLst>
                <a:ext uri="{FF2B5EF4-FFF2-40B4-BE49-F238E27FC236}">
                  <a16:creationId xmlns:a16="http://schemas.microsoft.com/office/drawing/2014/main" id="{31B50395-FD5C-D870-AB87-21ADE7A84320}"/>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Jayesh D.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Vagadiya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#2101CS521  (DM)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to Data Mining (DM)</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2D3440BC-6A73-AF16-1513-F5FFB0D86493}"/>
              </a:ext>
            </a:extLst>
          </p:cNvPr>
          <p:cNvGrpSpPr/>
          <p:nvPr userDrawn="1"/>
        </p:nvGrpSpPr>
        <p:grpSpPr>
          <a:xfrm>
            <a:off x="10313386" y="5940670"/>
            <a:ext cx="1649043" cy="501287"/>
            <a:chOff x="10721798" y="852808"/>
            <a:chExt cx="1339023" cy="407045"/>
          </a:xfrm>
        </p:grpSpPr>
        <p:pic>
          <p:nvPicPr>
            <p:cNvPr id="3" name="Picture 2">
              <a:extLst>
                <a:ext uri="{FF2B5EF4-FFF2-40B4-BE49-F238E27FC236}">
                  <a16:creationId xmlns:a16="http://schemas.microsoft.com/office/drawing/2014/main" id="{70E47C1E-ADCB-A740-5C5D-E07477F1CD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4" name="Rectangle 3">
              <a:extLst>
                <a:ext uri="{FF2B5EF4-FFF2-40B4-BE49-F238E27FC236}">
                  <a16:creationId xmlns:a16="http://schemas.microsoft.com/office/drawing/2014/main" id="{836726FA-F8E4-08AE-4611-17B220D84286}"/>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Jayesh D.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vagadiya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#2101CS521  (DM)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to Data Mining (DM)</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40A11904-2EF7-7EB7-D8E1-64D669405E2D}"/>
              </a:ext>
            </a:extLst>
          </p:cNvPr>
          <p:cNvGrpSpPr/>
          <p:nvPr userDrawn="1"/>
        </p:nvGrpSpPr>
        <p:grpSpPr>
          <a:xfrm>
            <a:off x="164674" y="5980196"/>
            <a:ext cx="1649043" cy="501287"/>
            <a:chOff x="10721798" y="852808"/>
            <a:chExt cx="1339023" cy="407045"/>
          </a:xfrm>
        </p:grpSpPr>
        <p:pic>
          <p:nvPicPr>
            <p:cNvPr id="3" name="Picture 2">
              <a:extLst>
                <a:ext uri="{FF2B5EF4-FFF2-40B4-BE49-F238E27FC236}">
                  <a16:creationId xmlns:a16="http://schemas.microsoft.com/office/drawing/2014/main" id="{3BE576EA-E9D4-7CEC-3198-56D174FDDB8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4" name="Rectangle 3">
              <a:extLst>
                <a:ext uri="{FF2B5EF4-FFF2-40B4-BE49-F238E27FC236}">
                  <a16:creationId xmlns:a16="http://schemas.microsoft.com/office/drawing/2014/main" id="{4754B836-2324-D134-A2A1-533073B97009}"/>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3/14/2026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92" r:id="rId2"/>
    <p:sldLayoutId id="2147483670" r:id="rId3"/>
    <p:sldLayoutId id="2147483687" r:id="rId4"/>
    <p:sldLayoutId id="2147483688" r:id="rId5"/>
    <p:sldLayoutId id="2147483671" r:id="rId6"/>
    <p:sldLayoutId id="2147483672" r:id="rId7"/>
    <p:sldLayoutId id="2147483689" r:id="rId8"/>
    <p:sldLayoutId id="2147483690" r:id="rId9"/>
    <p:sldLayoutId id="2147483673" r:id="rId10"/>
    <p:sldLayoutId id="2147483691" r:id="rId11"/>
    <p:sldLayoutId id="2147483674" r:id="rId12"/>
    <p:sldLayoutId id="2147483676" r:id="rId13"/>
    <p:sldLayoutId id="2147483677" r:id="rId14"/>
    <p:sldLayoutId id="2147483678" r:id="rId15"/>
    <p:sldLayoutId id="2147483679" r:id="rId16"/>
    <p:sldLayoutId id="2147483681" r:id="rId17"/>
    <p:sldLayoutId id="2147483683" r:id="rId18"/>
    <p:sldLayoutId id="2147483682" r:id="rId19"/>
    <p:sldLayoutId id="2147483684" r:id="rId20"/>
    <p:sldLayoutId id="2147483685" r:id="rId21"/>
    <p:sldLayoutId id="2147483686"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em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image" Target="../media/image23.png"/><Relationship Id="rId1" Type="http://schemas.openxmlformats.org/officeDocument/2006/relationships/slideLayout" Target="../slideLayouts/slideLayout4.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4.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0.xml"/><Relationship Id="rId4" Type="http://schemas.openxmlformats.org/officeDocument/2006/relationships/image" Target="../media/image47.png"/></Relationships>
</file>

<file path=ppt/slides/_rels/slide21.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35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360.png"/><Relationship Id="rId1" Type="http://schemas.openxmlformats.org/officeDocument/2006/relationships/slideLayout" Target="../slideLayouts/slideLayout10.xml"/><Relationship Id="rId5" Type="http://schemas.openxmlformats.org/officeDocument/2006/relationships/image" Target="../media/image50.png"/><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10.png"/><Relationship Id="rId1" Type="http://schemas.openxmlformats.org/officeDocument/2006/relationships/slideLayout" Target="../slideLayouts/slideLayout10.xml"/><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440.png"/><Relationship Id="rId1" Type="http://schemas.openxmlformats.org/officeDocument/2006/relationships/slideLayout" Target="../slideLayouts/slideLayout10.xml"/><Relationship Id="rId4" Type="http://schemas.openxmlformats.org/officeDocument/2006/relationships/image" Target="../media/image5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a:xfrm>
            <a:off x="691374" y="1019474"/>
            <a:ext cx="7060510" cy="3021948"/>
          </a:xfrm>
        </p:spPr>
        <p:txBody>
          <a:bodyPr/>
          <a:lstStyle/>
          <a:p>
            <a:pPr>
              <a:lnSpc>
                <a:spcPct val="100000"/>
              </a:lnSpc>
              <a:spcBef>
                <a:spcPts val="0"/>
              </a:spcBef>
            </a:pPr>
            <a:r>
              <a:rPr lang="en-US" sz="4800" b="0" dirty="0">
                <a:latin typeface="Roboto Condensed Light" panose="02000000000000000000" pitchFamily="2" charset="0"/>
                <a:ea typeface="Roboto Condensed Light" panose="02000000000000000000" pitchFamily="2" charset="0"/>
              </a:rPr>
              <a:t>Unit-05</a:t>
            </a:r>
            <a:r>
              <a:rPr lang="en-US" dirty="0"/>
              <a:t> </a:t>
            </a:r>
            <a:br>
              <a:rPr lang="en-US" dirty="0"/>
            </a:br>
            <a:r>
              <a:rPr lang="en-US" dirty="0"/>
              <a:t>Artificial Neural Network</a:t>
            </a:r>
            <a:endParaRPr lang="en-US" sz="4800" dirty="0"/>
          </a:p>
          <a:p>
            <a:pPr>
              <a:lnSpc>
                <a:spcPct val="100000"/>
              </a:lnSpc>
              <a:spcBef>
                <a:spcPts val="0"/>
              </a:spcBef>
            </a:pPr>
            <a:endParaRPr lang="en-US" dirty="0"/>
          </a:p>
        </p:txBody>
      </p:sp>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US" dirty="0" err="1"/>
              <a:t>jayesh.vagadiya@darshan.ac.in</a:t>
            </a:r>
            <a:endParaRPr lang="en-US" dirty="0"/>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r>
              <a:rPr lang="en-US" dirty="0"/>
              <a:t>9537133260</a:t>
            </a:r>
          </a:p>
        </p:txBody>
      </p:sp>
      <p:sp>
        <p:nvSpPr>
          <p:cNvPr id="5" name="Text Placeholder 4">
            <a:extLst>
              <a:ext uri="{FF2B5EF4-FFF2-40B4-BE49-F238E27FC236}">
                <a16:creationId xmlns:a16="http://schemas.microsoft.com/office/drawing/2014/main" id="{B786D614-6447-4787-8025-9C902A1B7344}"/>
              </a:ext>
            </a:extLst>
          </p:cNvPr>
          <p:cNvSpPr>
            <a:spLocks noGrp="1"/>
          </p:cNvSpPr>
          <p:nvPr>
            <p:ph type="body" sz="quarter" idx="13"/>
          </p:nvPr>
        </p:nvSpPr>
        <p:spPr>
          <a:xfrm>
            <a:off x="1837678" y="5546560"/>
            <a:ext cx="3735998" cy="290081"/>
          </a:xfrm>
        </p:spPr>
        <p:txBody>
          <a:bodyPr/>
          <a:lstStyle/>
          <a:p>
            <a:r>
              <a:rPr lang="en-US" dirty="0"/>
              <a:t>Computer Engineering Department</a:t>
            </a:r>
          </a:p>
        </p:txBody>
      </p:sp>
      <p:sp>
        <p:nvSpPr>
          <p:cNvPr id="6" name="Text Placeholder 5">
            <a:extLst>
              <a:ext uri="{FF2B5EF4-FFF2-40B4-BE49-F238E27FC236}">
                <a16:creationId xmlns:a16="http://schemas.microsoft.com/office/drawing/2014/main" id="{1F7AB9BC-FE08-46B2-A19C-803CB5DF0CD1}"/>
              </a:ext>
            </a:extLst>
          </p:cNvPr>
          <p:cNvSpPr>
            <a:spLocks noGrp="1"/>
          </p:cNvSpPr>
          <p:nvPr>
            <p:ph type="body" sz="quarter" idx="14"/>
          </p:nvPr>
        </p:nvSpPr>
        <p:spPr/>
        <p:txBody>
          <a:bodyPr/>
          <a:lstStyle/>
          <a:p>
            <a:r>
              <a:rPr lang="en-US" dirty="0"/>
              <a:t>Prof. Jayesh D. </a:t>
            </a:r>
            <a:r>
              <a:rPr lang="en-US" dirty="0" err="1"/>
              <a:t>vagadiya</a:t>
            </a:r>
            <a:endParaRPr lang="en-US" dirty="0"/>
          </a:p>
        </p:txBody>
      </p:sp>
      <p:sp>
        <p:nvSpPr>
          <p:cNvPr id="1027"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p:txBody>
          <a:bodyPr/>
          <a:lstStyle/>
          <a:p>
            <a:pPr>
              <a:lnSpc>
                <a:spcPct val="100000"/>
              </a:lnSpc>
            </a:pPr>
            <a:r>
              <a:rPr lang="en-US" sz="2000" b="1" dirty="0"/>
              <a:t>Machine Learning </a:t>
            </a:r>
            <a:r>
              <a:rPr lang="en-US" sz="2000" dirty="0">
                <a:latin typeface="Roboto Condensed Light" panose="02000000000000000000" pitchFamily="2" charset="0"/>
                <a:ea typeface="Roboto Condensed Light" panose="02000000000000000000" pitchFamily="2" charset="0"/>
              </a:rPr>
              <a:t>(ML)</a:t>
            </a:r>
          </a:p>
          <a:p>
            <a:pPr>
              <a:lnSpc>
                <a:spcPct val="100000"/>
              </a:lnSpc>
            </a:pPr>
            <a:r>
              <a:rPr lang="en-IN" sz="1800" dirty="0">
                <a:effectLst/>
                <a:latin typeface="Calibri" panose="020F0502020204030204" pitchFamily="34" charset="0"/>
                <a:ea typeface="Calibri" panose="020F0502020204030204" pitchFamily="34" charset="0"/>
              </a:rPr>
              <a:t>2301CS621 </a:t>
            </a:r>
            <a:r>
              <a:rPr lang="en-IN" sz="2000" dirty="0">
                <a:effectLst/>
              </a:rPr>
              <a:t> </a:t>
            </a:r>
            <a:endParaRPr lang="en-US" sz="2000" dirty="0">
              <a:latin typeface="Roboto Condensed Light" panose="02000000000000000000" pitchFamily="2" charset="0"/>
              <a:ea typeface="Roboto Condensed Light" panose="02000000000000000000" pitchFamily="2" charset="0"/>
            </a:endParaRP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Picture Placeholder 7">
            <a:extLst>
              <a:ext uri="{FF2B5EF4-FFF2-40B4-BE49-F238E27FC236}">
                <a16:creationId xmlns:a16="http://schemas.microsoft.com/office/drawing/2014/main" id="{7453A6AA-5BE7-25F7-2841-55E5AC4CF8F7}"/>
              </a:ext>
            </a:extLst>
          </p:cNvPr>
          <p:cNvSpPr>
            <a:spLocks noGrp="1"/>
          </p:cNvSpPr>
          <p:nvPr>
            <p:ph type="pic" sz="quarter" idx="10"/>
          </p:nvPr>
        </p:nvSpPr>
        <p:spPr/>
      </p:sp>
      <p:pic>
        <p:nvPicPr>
          <p:cNvPr id="9" name="Picture Placeholder 4">
            <a:extLst>
              <a:ext uri="{FF2B5EF4-FFF2-40B4-BE49-F238E27FC236}">
                <a16:creationId xmlns:a16="http://schemas.microsoft.com/office/drawing/2014/main" id="{C9D17E62-5C4C-182E-001B-DBEFCFD2D429}"/>
              </a:ext>
            </a:extLst>
          </p:cNvPr>
          <p:cNvPicPr>
            <a:picLocks noChangeAspect="1"/>
          </p:cNvPicPr>
          <p:nvPr/>
        </p:nvPicPr>
        <p:blipFill>
          <a:blip r:embed="rId3" cstate="hqprint">
            <a:extLst>
              <a:ext uri="{28A0092B-C50C-407E-A947-70E740481C1C}">
                <a14:useLocalDpi xmlns:a14="http://schemas.microsoft.com/office/drawing/2010/main" val="0"/>
              </a:ext>
            </a:extLst>
          </a:blip>
          <a:srcRect/>
          <a:stretch>
            <a:fillRect/>
          </a:stretch>
        </p:blipFill>
        <p:spPr>
          <a:xfrm>
            <a:off x="353569" y="5211250"/>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pic>
    </p:spTree>
    <p:extLst>
      <p:ext uri="{BB962C8B-B14F-4D97-AF65-F5344CB8AC3E}">
        <p14:creationId xmlns:p14="http://schemas.microsoft.com/office/powerpoint/2010/main" val="66100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solidFill>
            <a:schemeClr val="tx2"/>
          </a:solidFill>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3" y="742995"/>
            <a:ext cx="8810452" cy="4770537"/>
          </a:xfrm>
          <a:prstGeom prst="rect">
            <a:avLst/>
          </a:prstGeom>
          <a:noFill/>
        </p:spPr>
        <p:txBody>
          <a:bodyPr wrap="square" rtlCol="0">
            <a:spAutoFit/>
          </a:bodyPr>
          <a:lstStyle/>
          <a:p>
            <a:r>
              <a:rPr lang="en-US" sz="2400" b="1" dirty="0"/>
              <a:t>Topics to be covered</a:t>
            </a:r>
          </a:p>
          <a:p>
            <a:pPr marL="742950" lvl="1" indent="-285750">
              <a:lnSpc>
                <a:spcPct val="150000"/>
              </a:lnSpc>
              <a:buFont typeface="Arial" panose="020B0604020202020204" pitchFamily="34" charset="0"/>
              <a:buChar char="•"/>
            </a:pPr>
            <a:r>
              <a:rPr lang="en-US" sz="2100" dirty="0">
                <a:solidFill>
                  <a:schemeClr val="accent6"/>
                </a:solidFill>
              </a:rPr>
              <a:t>Introduction</a:t>
            </a:r>
          </a:p>
          <a:p>
            <a:pPr marL="742950" lvl="1" indent="-285750">
              <a:lnSpc>
                <a:spcPct val="150000"/>
              </a:lnSpc>
              <a:buFont typeface="Arial" panose="020B0604020202020204" pitchFamily="34" charset="0"/>
              <a:buChar char="•"/>
            </a:pPr>
            <a:r>
              <a:rPr lang="en-US" sz="2100" dirty="0">
                <a:solidFill>
                  <a:schemeClr val="accent6"/>
                </a:solidFill>
              </a:rPr>
              <a:t>Artificial Neural Network</a:t>
            </a:r>
          </a:p>
          <a:p>
            <a:pPr marL="742950" lvl="1" indent="-285750">
              <a:lnSpc>
                <a:spcPct val="150000"/>
              </a:lnSpc>
              <a:buFont typeface="Arial" panose="020B0604020202020204" pitchFamily="34" charset="0"/>
              <a:buChar char="•"/>
            </a:pPr>
            <a:r>
              <a:rPr lang="en-US" sz="2100" dirty="0">
                <a:solidFill>
                  <a:schemeClr val="accent6"/>
                </a:solidFill>
              </a:rPr>
              <a:t>History of ANN</a:t>
            </a:r>
          </a:p>
          <a:p>
            <a:pPr marL="742950" lvl="1" indent="-285750">
              <a:lnSpc>
                <a:spcPct val="150000"/>
              </a:lnSpc>
              <a:buFont typeface="Arial" panose="020B0604020202020204" pitchFamily="34" charset="0"/>
              <a:buChar char="•"/>
            </a:pPr>
            <a:r>
              <a:rPr lang="en-US" sz="2100" dirty="0">
                <a:solidFill>
                  <a:schemeClr val="accent6"/>
                </a:solidFill>
              </a:rPr>
              <a:t>How ANN works</a:t>
            </a:r>
          </a:p>
          <a:p>
            <a:pPr marL="742950" lvl="1" indent="-285750">
              <a:lnSpc>
                <a:spcPct val="150000"/>
              </a:lnSpc>
              <a:buFont typeface="Arial" panose="020B0604020202020204" pitchFamily="34" charset="0"/>
              <a:buChar char="•"/>
            </a:pPr>
            <a:r>
              <a:rPr lang="en-US" sz="2100" dirty="0">
                <a:solidFill>
                  <a:schemeClr val="accent6"/>
                </a:solidFill>
              </a:rPr>
              <a:t>Multilayer Perceptron</a:t>
            </a:r>
          </a:p>
          <a:p>
            <a:pPr marL="742950" lvl="1" indent="-285750">
              <a:lnSpc>
                <a:spcPct val="150000"/>
              </a:lnSpc>
              <a:buFont typeface="Arial" panose="020B0604020202020204" pitchFamily="34" charset="0"/>
              <a:buChar char="•"/>
            </a:pPr>
            <a:r>
              <a:rPr lang="en-US" sz="2100" dirty="0">
                <a:solidFill>
                  <a:schemeClr val="accent6"/>
                </a:solidFill>
              </a:rPr>
              <a:t>Activation Function</a:t>
            </a:r>
          </a:p>
          <a:p>
            <a:pPr marL="742950" lvl="1" indent="-285750">
              <a:lnSpc>
                <a:spcPct val="150000"/>
              </a:lnSpc>
              <a:buFont typeface="Arial" panose="020B0604020202020204" pitchFamily="34" charset="0"/>
              <a:buChar char="•"/>
            </a:pPr>
            <a:r>
              <a:rPr lang="en-US" sz="2100" dirty="0">
                <a:solidFill>
                  <a:schemeClr val="accent6"/>
                </a:solidFill>
              </a:rPr>
              <a:t>Hyperparameter</a:t>
            </a:r>
          </a:p>
          <a:p>
            <a:pPr marL="742950" lvl="1" indent="-285750">
              <a:lnSpc>
                <a:spcPct val="150000"/>
              </a:lnSpc>
              <a:buFont typeface="Arial" panose="020B0604020202020204" pitchFamily="34" charset="0"/>
              <a:buChar char="•"/>
            </a:pPr>
            <a:r>
              <a:rPr lang="en-US" sz="2100" dirty="0">
                <a:solidFill>
                  <a:schemeClr val="accent6"/>
                </a:solidFill>
              </a:rPr>
              <a:t>Back Propagation</a:t>
            </a:r>
          </a:p>
          <a:p>
            <a:pPr marL="742950" lvl="1" indent="-285750">
              <a:lnSpc>
                <a:spcPct val="150000"/>
              </a:lnSpc>
              <a:buFont typeface="Arial" panose="020B0604020202020204" pitchFamily="34" charset="0"/>
              <a:buChar char="•"/>
            </a:pPr>
            <a:r>
              <a:rPr lang="en-US" sz="2100" dirty="0">
                <a:solidFill>
                  <a:schemeClr val="accent6"/>
                </a:solidFill>
              </a:rPr>
              <a:t>Multilayer neural network </a:t>
            </a:r>
          </a:p>
        </p:txBody>
      </p:sp>
    </p:spTree>
    <p:extLst>
      <p:ext uri="{BB962C8B-B14F-4D97-AF65-F5344CB8AC3E}">
        <p14:creationId xmlns:p14="http://schemas.microsoft.com/office/powerpoint/2010/main" val="421630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Brain vs Computer</a:t>
            </a:r>
          </a:p>
        </p:txBody>
      </p:sp>
      <p:pic>
        <p:nvPicPr>
          <p:cNvPr id="6" name="Picture 5">
            <a:extLst>
              <a:ext uri="{FF2B5EF4-FFF2-40B4-BE49-F238E27FC236}">
                <a16:creationId xmlns:a16="http://schemas.microsoft.com/office/drawing/2014/main" id="{3BD74519-6AA4-853A-F4B3-DE94F1C988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1935" y="663224"/>
            <a:ext cx="1713089" cy="1713089"/>
          </a:xfrm>
          <a:prstGeom prst="rect">
            <a:avLst/>
          </a:prstGeom>
        </p:spPr>
      </p:pic>
      <p:pic>
        <p:nvPicPr>
          <p:cNvPr id="8" name="Picture 7">
            <a:extLst>
              <a:ext uri="{FF2B5EF4-FFF2-40B4-BE49-F238E27FC236}">
                <a16:creationId xmlns:a16="http://schemas.microsoft.com/office/drawing/2014/main" id="{8F6A9A70-26C9-4F32-A4F8-E4AFFCAAFD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6935" y="852313"/>
            <a:ext cx="1524000" cy="1524000"/>
          </a:xfrm>
          <a:prstGeom prst="rect">
            <a:avLst/>
          </a:prstGeom>
        </p:spPr>
      </p:pic>
      <p:sp>
        <p:nvSpPr>
          <p:cNvPr id="10" name="Content Placeholder 2">
            <a:extLst>
              <a:ext uri="{FF2B5EF4-FFF2-40B4-BE49-F238E27FC236}">
                <a16:creationId xmlns:a16="http://schemas.microsoft.com/office/drawing/2014/main" id="{586AF8F3-508C-B545-0E80-47859707ABC1}"/>
              </a:ext>
            </a:extLst>
          </p:cNvPr>
          <p:cNvSpPr>
            <a:spLocks noGrp="1"/>
          </p:cNvSpPr>
          <p:nvPr>
            <p:ph idx="1"/>
          </p:nvPr>
        </p:nvSpPr>
        <p:spPr>
          <a:xfrm>
            <a:off x="131181" y="2935111"/>
            <a:ext cx="4723042" cy="3506834"/>
          </a:xfrm>
        </p:spPr>
        <p:txBody>
          <a:bodyPr/>
          <a:lstStyle/>
          <a:p>
            <a:r>
              <a:rPr lang="en-US" dirty="0"/>
              <a:t>Pattern Recognition</a:t>
            </a:r>
          </a:p>
          <a:p>
            <a:r>
              <a:rPr lang="en-US" dirty="0"/>
              <a:t>Association</a:t>
            </a:r>
          </a:p>
          <a:p>
            <a:r>
              <a:rPr lang="en-US" dirty="0"/>
              <a:t>Complexity</a:t>
            </a:r>
          </a:p>
          <a:p>
            <a:r>
              <a:rPr lang="en-US" dirty="0"/>
              <a:t>Noise Tolerance</a:t>
            </a:r>
          </a:p>
        </p:txBody>
      </p:sp>
      <p:sp>
        <p:nvSpPr>
          <p:cNvPr id="11" name="Content Placeholder 2">
            <a:extLst>
              <a:ext uri="{FF2B5EF4-FFF2-40B4-BE49-F238E27FC236}">
                <a16:creationId xmlns:a16="http://schemas.microsoft.com/office/drawing/2014/main" id="{E3AB1EDA-9127-44DB-4D1F-A8707E495D78}"/>
              </a:ext>
            </a:extLst>
          </p:cNvPr>
          <p:cNvSpPr txBox="1">
            <a:spLocks/>
          </p:cNvSpPr>
          <p:nvPr/>
        </p:nvSpPr>
        <p:spPr>
          <a:xfrm>
            <a:off x="6706959" y="2935109"/>
            <a:ext cx="4723042" cy="350683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Calculation</a:t>
            </a:r>
          </a:p>
          <a:p>
            <a:r>
              <a:rPr lang="en-US" dirty="0"/>
              <a:t>High Precision</a:t>
            </a:r>
          </a:p>
          <a:p>
            <a:r>
              <a:rPr lang="en-US" dirty="0"/>
              <a:t>Logic</a:t>
            </a:r>
          </a:p>
        </p:txBody>
      </p:sp>
      <p:sp>
        <p:nvSpPr>
          <p:cNvPr id="12" name="TextBox 11">
            <a:extLst>
              <a:ext uri="{FF2B5EF4-FFF2-40B4-BE49-F238E27FC236}">
                <a16:creationId xmlns:a16="http://schemas.microsoft.com/office/drawing/2014/main" id="{330B470A-FBFA-20D4-D546-AA2423FCA5EC}"/>
              </a:ext>
            </a:extLst>
          </p:cNvPr>
          <p:cNvSpPr txBox="1"/>
          <p:nvPr/>
        </p:nvSpPr>
        <p:spPr>
          <a:xfrm>
            <a:off x="1631993" y="2473444"/>
            <a:ext cx="833883" cy="461665"/>
          </a:xfrm>
          <a:prstGeom prst="rect">
            <a:avLst/>
          </a:prstGeom>
          <a:noFill/>
        </p:spPr>
        <p:txBody>
          <a:bodyPr wrap="none" rtlCol="0">
            <a:spAutoFit/>
          </a:bodyPr>
          <a:lstStyle/>
          <a:p>
            <a:r>
              <a:rPr lang="en-US" sz="2400" b="1" dirty="0"/>
              <a:t>Brain</a:t>
            </a:r>
          </a:p>
        </p:txBody>
      </p:sp>
      <p:sp>
        <p:nvSpPr>
          <p:cNvPr id="13" name="TextBox 12">
            <a:extLst>
              <a:ext uri="{FF2B5EF4-FFF2-40B4-BE49-F238E27FC236}">
                <a16:creationId xmlns:a16="http://schemas.microsoft.com/office/drawing/2014/main" id="{A9DF5B59-610D-9A4A-BCF0-D356DF9CE8CC}"/>
              </a:ext>
            </a:extLst>
          </p:cNvPr>
          <p:cNvSpPr txBox="1"/>
          <p:nvPr/>
        </p:nvSpPr>
        <p:spPr>
          <a:xfrm>
            <a:off x="8211935" y="2474621"/>
            <a:ext cx="1770036" cy="461665"/>
          </a:xfrm>
          <a:prstGeom prst="rect">
            <a:avLst/>
          </a:prstGeom>
          <a:noFill/>
        </p:spPr>
        <p:txBody>
          <a:bodyPr wrap="none" rtlCol="0">
            <a:spAutoFit/>
          </a:bodyPr>
          <a:lstStyle/>
          <a:p>
            <a:r>
              <a:rPr lang="en-US" sz="2400" b="1" dirty="0"/>
              <a:t>The Machine</a:t>
            </a:r>
          </a:p>
        </p:txBody>
      </p:sp>
    </p:spTree>
    <p:extLst>
      <p:ext uri="{BB962C8B-B14F-4D97-AF65-F5344CB8AC3E}">
        <p14:creationId xmlns:p14="http://schemas.microsoft.com/office/powerpoint/2010/main" val="4229164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xEl>
                                              <p:pRg st="3" end="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
                                            <p:txEl>
                                              <p:pRg st="0" end="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
                                            <p:txEl>
                                              <p:pRg st="1" end="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p:bldP spid="12"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41CA8-B6A4-0DFE-982F-05ECAA2E4BAC}"/>
              </a:ext>
            </a:extLst>
          </p:cNvPr>
          <p:cNvSpPr>
            <a:spLocks noGrp="1"/>
          </p:cNvSpPr>
          <p:nvPr>
            <p:ph type="title"/>
          </p:nvPr>
        </p:nvSpPr>
        <p:spPr/>
        <p:txBody>
          <a:bodyPr/>
          <a:lstStyle/>
          <a:p>
            <a:r>
              <a:rPr lang="en-US" dirty="0"/>
              <a:t>Features of the Brain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AF17DF-2CE7-575A-8414-44BDA80C052E}"/>
                  </a:ext>
                </a:extLst>
              </p:cNvPr>
              <p:cNvSpPr>
                <a:spLocks noGrp="1"/>
              </p:cNvSpPr>
              <p:nvPr>
                <p:ph idx="1"/>
              </p:nvPr>
            </p:nvSpPr>
            <p:spPr/>
            <p:txBody>
              <a:bodyPr/>
              <a:lstStyle/>
              <a:p>
                <a:r>
                  <a:rPr lang="en-US" dirty="0"/>
                  <a:t>Ten billion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10</m:t>
                        </m:r>
                      </m:sup>
                    </m:sSup>
                  </m:oMath>
                </a14:m>
                <a:r>
                  <a:rPr lang="en-US" dirty="0"/>
                  <a:t>) neurons</a:t>
                </a:r>
              </a:p>
              <a:p>
                <a:r>
                  <a:rPr lang="en-US" dirty="0"/>
                  <a:t>On average, </a:t>
                </a:r>
                <a:r>
                  <a:rPr lang="en-US" dirty="0">
                    <a:solidFill>
                      <a:srgbClr val="C00000"/>
                    </a:solidFill>
                  </a:rPr>
                  <a:t>several thousand connections</a:t>
                </a:r>
              </a:p>
              <a:p>
                <a:r>
                  <a:rPr lang="en-US" dirty="0"/>
                  <a:t>Hundreds of </a:t>
                </a:r>
                <a:r>
                  <a:rPr lang="en-US" dirty="0">
                    <a:solidFill>
                      <a:srgbClr val="C00000"/>
                    </a:solidFill>
                  </a:rPr>
                  <a:t>operation per second.</a:t>
                </a:r>
              </a:p>
              <a:p>
                <a:r>
                  <a:rPr lang="en-US" dirty="0"/>
                  <a:t>Compensates for problems by massive parallelism.</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6CAF17DF-2CE7-575A-8414-44BDA80C052E}"/>
                  </a:ext>
                </a:extLst>
              </p:cNvPr>
              <p:cNvSpPr>
                <a:spLocks noGrp="1" noRot="1" noChangeAspect="1" noMove="1" noResize="1" noEditPoints="1" noAdjustHandles="1" noChangeArrowheads="1" noChangeShapeType="1" noTextEdit="1"/>
              </p:cNvSpPr>
              <p:nvPr>
                <p:ph idx="1"/>
              </p:nvPr>
            </p:nvSpPr>
            <p:spPr>
              <a:blipFill>
                <a:blip r:embed="rId2"/>
                <a:stretch>
                  <a:fillRect l="-532" t="-1591"/>
                </a:stretch>
              </a:blipFill>
            </p:spPr>
            <p:txBody>
              <a:bodyPr/>
              <a:lstStyle/>
              <a:p>
                <a:r>
                  <a:rPr lang="en-US">
                    <a:noFill/>
                  </a:rPr>
                  <a:t> </a:t>
                </a:r>
              </a:p>
            </p:txBody>
          </p:sp>
        </mc:Fallback>
      </mc:AlternateContent>
    </p:spTree>
    <p:extLst>
      <p:ext uri="{BB962C8B-B14F-4D97-AF65-F5344CB8AC3E}">
        <p14:creationId xmlns:p14="http://schemas.microsoft.com/office/powerpoint/2010/main" val="2910700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F5CFF-347B-8570-468D-BF8D16370B6F}"/>
              </a:ext>
            </a:extLst>
          </p:cNvPr>
          <p:cNvSpPr>
            <a:spLocks noGrp="1"/>
          </p:cNvSpPr>
          <p:nvPr>
            <p:ph type="title"/>
          </p:nvPr>
        </p:nvSpPr>
        <p:spPr/>
        <p:txBody>
          <a:bodyPr/>
          <a:lstStyle/>
          <a:p>
            <a:r>
              <a:rPr lang="en-IN" dirty="0"/>
              <a:t>Biological Neurons</a:t>
            </a:r>
            <a:endParaRPr lang="en-US" dirty="0"/>
          </a:p>
        </p:txBody>
      </p:sp>
      <p:pic>
        <p:nvPicPr>
          <p:cNvPr id="6" name="Content Placeholder 4">
            <a:extLst>
              <a:ext uri="{FF2B5EF4-FFF2-40B4-BE49-F238E27FC236}">
                <a16:creationId xmlns:a16="http://schemas.microsoft.com/office/drawing/2014/main" id="{0249B8DE-5884-2533-4482-AC3CAD75E1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7063" y="1192113"/>
            <a:ext cx="5023556" cy="1670248"/>
          </a:xfrm>
          <a:prstGeom prst="rect">
            <a:avLst/>
          </a:prstGeom>
        </p:spPr>
      </p:pic>
      <p:sp>
        <p:nvSpPr>
          <p:cNvPr id="8" name="Content Placeholder 7">
            <a:extLst>
              <a:ext uri="{FF2B5EF4-FFF2-40B4-BE49-F238E27FC236}">
                <a16:creationId xmlns:a16="http://schemas.microsoft.com/office/drawing/2014/main" id="{71A3EFC1-3C77-ACC4-916F-88790DE3A60D}"/>
              </a:ext>
            </a:extLst>
          </p:cNvPr>
          <p:cNvSpPr>
            <a:spLocks noGrp="1"/>
          </p:cNvSpPr>
          <p:nvPr>
            <p:ph idx="1"/>
          </p:nvPr>
        </p:nvSpPr>
        <p:spPr>
          <a:xfrm>
            <a:off x="131181" y="863444"/>
            <a:ext cx="6766330" cy="5578501"/>
          </a:xfrm>
        </p:spPr>
        <p:txBody>
          <a:bodyPr/>
          <a:lstStyle/>
          <a:p>
            <a:r>
              <a:rPr lang="en-US" dirty="0"/>
              <a:t>A neuron has a </a:t>
            </a:r>
            <a:r>
              <a:rPr lang="en-US" dirty="0">
                <a:solidFill>
                  <a:srgbClr val="C00000"/>
                </a:solidFill>
              </a:rPr>
              <a:t>cell body</a:t>
            </a:r>
            <a:r>
              <a:rPr lang="en-US" dirty="0"/>
              <a:t>, a branching </a:t>
            </a:r>
            <a:r>
              <a:rPr lang="en-US" dirty="0">
                <a:solidFill>
                  <a:srgbClr val="C00000"/>
                </a:solidFill>
              </a:rPr>
              <a:t>input</a:t>
            </a:r>
            <a:r>
              <a:rPr lang="en-US" dirty="0"/>
              <a:t> structure (the </a:t>
            </a:r>
            <a:r>
              <a:rPr lang="en-US" dirty="0" err="1">
                <a:solidFill>
                  <a:srgbClr val="C00000"/>
                </a:solidFill>
              </a:rPr>
              <a:t>dendrIte</a:t>
            </a:r>
            <a:r>
              <a:rPr lang="en-US" dirty="0"/>
              <a:t>) and a branching </a:t>
            </a:r>
            <a:r>
              <a:rPr lang="en-US" dirty="0">
                <a:solidFill>
                  <a:srgbClr val="C00000"/>
                </a:solidFill>
              </a:rPr>
              <a:t>output</a:t>
            </a:r>
            <a:r>
              <a:rPr lang="en-US" dirty="0"/>
              <a:t> structure (the </a:t>
            </a:r>
            <a:r>
              <a:rPr lang="en-US" dirty="0">
                <a:solidFill>
                  <a:srgbClr val="C00000"/>
                </a:solidFill>
              </a:rPr>
              <a:t>axon</a:t>
            </a:r>
            <a:r>
              <a:rPr lang="en-US" dirty="0"/>
              <a:t>).</a:t>
            </a:r>
          </a:p>
          <a:p>
            <a:r>
              <a:rPr lang="en-US" dirty="0"/>
              <a:t>Axons connect to dendrites via </a:t>
            </a:r>
            <a:r>
              <a:rPr lang="en-US" dirty="0">
                <a:solidFill>
                  <a:srgbClr val="C00000"/>
                </a:solidFill>
              </a:rPr>
              <a:t>synapses</a:t>
            </a:r>
          </a:p>
          <a:p>
            <a:r>
              <a:rPr lang="en-US" dirty="0"/>
              <a:t>Electro-chemical signals are </a:t>
            </a:r>
            <a:r>
              <a:rPr lang="en-US" dirty="0">
                <a:solidFill>
                  <a:srgbClr val="C00000"/>
                </a:solidFill>
              </a:rPr>
              <a:t>propagated from the dendritic input</a:t>
            </a:r>
            <a:r>
              <a:rPr lang="en-US" dirty="0"/>
              <a:t>, through the cell body, and </a:t>
            </a:r>
            <a:r>
              <a:rPr lang="en-US" dirty="0">
                <a:solidFill>
                  <a:srgbClr val="C00000"/>
                </a:solidFill>
              </a:rPr>
              <a:t>down the axon to other neurons</a:t>
            </a:r>
          </a:p>
          <a:p>
            <a:r>
              <a:rPr lang="en-US" dirty="0"/>
              <a:t>A neuron only fires if its input signal exceeds a certain </a:t>
            </a:r>
            <a:r>
              <a:rPr lang="en-US" dirty="0">
                <a:solidFill>
                  <a:srgbClr val="C00000"/>
                </a:solidFill>
              </a:rPr>
              <a:t>amount (the threshold) </a:t>
            </a:r>
            <a:r>
              <a:rPr lang="en-US" dirty="0"/>
              <a:t>in a short time</a:t>
            </a:r>
            <a:br>
              <a:rPr lang="en-US" dirty="0"/>
            </a:br>
            <a:r>
              <a:rPr lang="en-US" dirty="0"/>
              <a:t>period.</a:t>
            </a:r>
          </a:p>
          <a:p>
            <a:r>
              <a:rPr lang="en-US" dirty="0"/>
              <a:t>Synapses </a:t>
            </a:r>
            <a:r>
              <a:rPr lang="en-US" dirty="0">
                <a:solidFill>
                  <a:srgbClr val="C00000"/>
                </a:solidFill>
              </a:rPr>
              <a:t>vary in strength</a:t>
            </a:r>
          </a:p>
          <a:p>
            <a:pPr lvl="1"/>
            <a:r>
              <a:rPr lang="en-US" dirty="0"/>
              <a:t>﻿﻿Good connections allowing a large signal</a:t>
            </a:r>
          </a:p>
          <a:p>
            <a:pPr lvl="1"/>
            <a:r>
              <a:rPr lang="en-US" dirty="0"/>
              <a:t>﻿﻿Slight connections allow only a weak signal</a:t>
            </a:r>
          </a:p>
          <a:p>
            <a:pPr lvl="1"/>
            <a:r>
              <a:rPr lang="en-US" dirty="0"/>
              <a:t>﻿﻿Synapses can be either excitatory or inhibitory</a:t>
            </a:r>
          </a:p>
          <a:p>
            <a:endParaRPr lang="en-US" dirty="0"/>
          </a:p>
          <a:p>
            <a:endParaRPr lang="en-US" dirty="0"/>
          </a:p>
        </p:txBody>
      </p:sp>
      <p:sp>
        <p:nvSpPr>
          <p:cNvPr id="9" name="TextBox 8">
            <a:extLst>
              <a:ext uri="{FF2B5EF4-FFF2-40B4-BE49-F238E27FC236}">
                <a16:creationId xmlns:a16="http://schemas.microsoft.com/office/drawing/2014/main" id="{E38EA0F7-910E-2A45-59E7-88C252B1918A}"/>
              </a:ext>
            </a:extLst>
          </p:cNvPr>
          <p:cNvSpPr txBox="1"/>
          <p:nvPr/>
        </p:nvSpPr>
        <p:spPr>
          <a:xfrm>
            <a:off x="7078133" y="2998113"/>
            <a:ext cx="4820356" cy="861774"/>
          </a:xfrm>
          <a:prstGeom prst="rect">
            <a:avLst/>
          </a:prstGeom>
          <a:noFill/>
        </p:spPr>
        <p:txBody>
          <a:bodyPr wrap="square" rtlCol="0">
            <a:spAutoFit/>
          </a:bodyPr>
          <a:lstStyle/>
          <a:p>
            <a:r>
              <a:rPr lang="en-US" sz="1000" dirty="0" err="1"/>
              <a:t>Ref:https</a:t>
            </a:r>
            <a:r>
              <a:rPr lang="en-US" sz="1000" dirty="0"/>
              <a:t>://</a:t>
            </a:r>
            <a:r>
              <a:rPr lang="en-US" sz="1000" dirty="0" err="1"/>
              <a:t>www.google.co.in</a:t>
            </a:r>
            <a:r>
              <a:rPr lang="en-US" sz="1000" dirty="0"/>
              <a:t>/</a:t>
            </a:r>
            <a:r>
              <a:rPr lang="en-US" sz="1000" dirty="0" err="1"/>
              <a:t>url?sa</a:t>
            </a:r>
            <a:r>
              <a:rPr lang="en-US" sz="1000" dirty="0"/>
              <a:t>=</a:t>
            </a:r>
            <a:r>
              <a:rPr lang="en-US" sz="1000" dirty="0" err="1"/>
              <a:t>i&amp;url</a:t>
            </a:r>
            <a:r>
              <a:rPr lang="en-US" sz="1000" dirty="0"/>
              <a:t>=https%3A%2F%2Fsaurabhnativeblog.medium.com%2Fwhat-is-the-relation-between-artificial-and-biological-neuron-18b05831036&amp;psig=AOvVaw3aGnAj7eK-CjHZ4PrPC19u&amp;ust=1741006389878000&amp;source=</a:t>
            </a:r>
            <a:r>
              <a:rPr lang="en-US" sz="1000" dirty="0" err="1"/>
              <a:t>images&amp;cd</a:t>
            </a:r>
            <a:r>
              <a:rPr lang="en-US" sz="1000" dirty="0"/>
              <a:t>=</a:t>
            </a:r>
            <a:r>
              <a:rPr lang="en-US" sz="1000" dirty="0" err="1"/>
              <a:t>vfe&amp;opi</a:t>
            </a:r>
            <a:r>
              <a:rPr lang="en-US" sz="1000" dirty="0"/>
              <a:t>=89978449&amp;ved=0CBcQjhxqFwoTCJiK4K2464sDFQAAAAAdAAAAABAI</a:t>
            </a:r>
          </a:p>
        </p:txBody>
      </p:sp>
    </p:spTree>
    <p:extLst>
      <p:ext uri="{BB962C8B-B14F-4D97-AF65-F5344CB8AC3E}">
        <p14:creationId xmlns:p14="http://schemas.microsoft.com/office/powerpoint/2010/main" val="657515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Biological Neurons</a:t>
            </a:r>
          </a:p>
        </p:txBody>
      </p:sp>
      <p:sp>
        <p:nvSpPr>
          <p:cNvPr id="3" name="Content Placeholder 2"/>
          <p:cNvSpPr>
            <a:spLocks noGrp="1"/>
          </p:cNvSpPr>
          <p:nvPr>
            <p:ph idx="1"/>
          </p:nvPr>
        </p:nvSpPr>
        <p:spPr>
          <a:xfrm>
            <a:off x="5268192" y="863444"/>
            <a:ext cx="6792630" cy="5590565"/>
          </a:xfrm>
        </p:spPr>
        <p:txBody>
          <a:bodyPr/>
          <a:lstStyle/>
          <a:p>
            <a:r>
              <a:rPr lang="en-IN" dirty="0"/>
              <a:t>biological neurons are organized in a vast network of billions, with each neuron typically connected to thousands of other neurons. </a:t>
            </a:r>
          </a:p>
          <a:p>
            <a:r>
              <a:rPr lang="en-IN" dirty="0"/>
              <a:t>Highly complex computations can be performed by a network of fairly simple neurons, much like a complex anthill can emerge from the combined efforts of simple ants. </a:t>
            </a:r>
          </a:p>
          <a:p>
            <a:r>
              <a:rPr lang="en-IN" dirty="0"/>
              <a:t>The architecture of biological neural networks (BNNs) is still the subject of active research, but some parts of the brain have been mapped, and it seems that neurons are often organized in consecutive layers, especially in the cerebral cortex.</a:t>
            </a:r>
          </a:p>
        </p:txBody>
      </p:sp>
      <p:sp>
        <p:nvSpPr>
          <p:cNvPr id="5" name="Rectangle 4"/>
          <p:cNvSpPr/>
          <p:nvPr/>
        </p:nvSpPr>
        <p:spPr>
          <a:xfrm>
            <a:off x="363432" y="5801870"/>
            <a:ext cx="4655128" cy="646331"/>
          </a:xfrm>
          <a:prstGeom prst="rect">
            <a:avLst/>
          </a:prstGeom>
        </p:spPr>
        <p:txBody>
          <a:bodyPr wrap="square">
            <a:spAutoFit/>
          </a:bodyPr>
          <a:lstStyle/>
          <a:p>
            <a:pPr algn="ctr"/>
            <a:r>
              <a:rPr lang="en-IN" dirty="0"/>
              <a:t>Multiple layers in a biological neural network (human cortex)</a:t>
            </a:r>
          </a:p>
        </p:txBody>
      </p:sp>
      <p:grpSp>
        <p:nvGrpSpPr>
          <p:cNvPr id="7" name="Group 6"/>
          <p:cNvGrpSpPr/>
          <p:nvPr/>
        </p:nvGrpSpPr>
        <p:grpSpPr>
          <a:xfrm>
            <a:off x="363432" y="1319645"/>
            <a:ext cx="4428058" cy="4248001"/>
            <a:chOff x="382933" y="1288472"/>
            <a:chExt cx="4428058" cy="4248001"/>
          </a:xfrm>
        </p:grpSpPr>
        <p:pic>
          <p:nvPicPr>
            <p:cNvPr id="4" name="Picture 3"/>
            <p:cNvPicPr>
              <a:picLocks noChangeAspect="1"/>
            </p:cNvPicPr>
            <p:nvPr/>
          </p:nvPicPr>
          <p:blipFill>
            <a:blip r:embed="rId2"/>
            <a:stretch>
              <a:fillRect/>
            </a:stretch>
          </p:blipFill>
          <p:spPr>
            <a:xfrm rot="5400000">
              <a:off x="-718310" y="2389715"/>
              <a:ext cx="4218485" cy="2016000"/>
            </a:xfrm>
            <a:prstGeom prst="rect">
              <a:avLst/>
            </a:prstGeom>
          </p:spPr>
        </p:pic>
        <p:pic>
          <p:nvPicPr>
            <p:cNvPr id="6" name="Content Placeholder 3"/>
            <p:cNvPicPr>
              <a:picLocks noChangeAspect="1"/>
            </p:cNvPicPr>
            <p:nvPr/>
          </p:nvPicPr>
          <p:blipFill rotWithShape="1">
            <a:blip r:embed="rId3"/>
            <a:srcRect l="54228" t="2030" b="921"/>
            <a:stretch/>
          </p:blipFill>
          <p:spPr>
            <a:xfrm>
              <a:off x="2393990" y="1288473"/>
              <a:ext cx="2417001" cy="4248000"/>
            </a:xfrm>
            <a:prstGeom prst="rect">
              <a:avLst/>
            </a:prstGeom>
          </p:spPr>
        </p:pic>
      </p:grpSp>
    </p:spTree>
    <p:extLst>
      <p:ext uri="{BB962C8B-B14F-4D97-AF65-F5344CB8AC3E}">
        <p14:creationId xmlns:p14="http://schemas.microsoft.com/office/powerpoint/2010/main" val="656103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dirty="0"/>
              <a:t>Artificial Neurons vs Biological Neurons</a:t>
            </a:r>
            <a:endParaRPr lang="en-IN" dirty="0"/>
          </a:p>
        </p:txBody>
      </p:sp>
      <p:pic>
        <p:nvPicPr>
          <p:cNvPr id="10" name="Picture 9"/>
          <p:cNvPicPr>
            <a:picLocks noChangeAspect="1"/>
          </p:cNvPicPr>
          <p:nvPr/>
        </p:nvPicPr>
        <p:blipFill rotWithShape="1">
          <a:blip r:embed="rId2"/>
          <a:srcRect l="2145" t="11600" r="1855" b="10946"/>
          <a:stretch/>
        </p:blipFill>
        <p:spPr>
          <a:xfrm>
            <a:off x="5125550" y="1790579"/>
            <a:ext cx="6954588" cy="2805544"/>
          </a:xfrm>
          <a:prstGeom prst="rect">
            <a:avLst/>
          </a:prstGeom>
        </p:spPr>
      </p:pic>
      <p:sp>
        <p:nvSpPr>
          <p:cNvPr id="11" name="Rectangle 10"/>
          <p:cNvSpPr/>
          <p:nvPr/>
        </p:nvSpPr>
        <p:spPr>
          <a:xfrm>
            <a:off x="5800960" y="4738484"/>
            <a:ext cx="6096000" cy="276999"/>
          </a:xfrm>
          <a:prstGeom prst="rect">
            <a:avLst/>
          </a:prstGeom>
        </p:spPr>
        <p:txBody>
          <a:bodyPr>
            <a:spAutoFit/>
          </a:bodyPr>
          <a:lstStyle/>
          <a:p>
            <a:r>
              <a:rPr lang="en-IN" sz="1200" dirty="0"/>
              <a:t>Image reference : https://www.geeksforgeeks.org/artificial-neural-networks-and-its-applications/</a:t>
            </a:r>
          </a:p>
        </p:txBody>
      </p:sp>
      <p:graphicFrame>
        <p:nvGraphicFramePr>
          <p:cNvPr id="12" name="Table 11"/>
          <p:cNvGraphicFramePr>
            <a:graphicFrameLocks noGrp="1"/>
          </p:cNvGraphicFramePr>
          <p:nvPr/>
        </p:nvGraphicFramePr>
        <p:xfrm>
          <a:off x="302379" y="1605880"/>
          <a:ext cx="4269620" cy="3174942"/>
        </p:xfrm>
        <a:graphic>
          <a:graphicData uri="http://schemas.openxmlformats.org/drawingml/2006/table">
            <a:tbl>
              <a:tblPr firstRow="1" bandRow="1">
                <a:tableStyleId>{0E3FDE45-AF77-4B5C-9715-49D594BDF05E}</a:tableStyleId>
              </a:tblPr>
              <a:tblGrid>
                <a:gridCol w="2134810">
                  <a:extLst>
                    <a:ext uri="{9D8B030D-6E8A-4147-A177-3AD203B41FA5}">
                      <a16:colId xmlns:a16="http://schemas.microsoft.com/office/drawing/2014/main" val="20000"/>
                    </a:ext>
                  </a:extLst>
                </a:gridCol>
                <a:gridCol w="2134810">
                  <a:extLst>
                    <a:ext uri="{9D8B030D-6E8A-4147-A177-3AD203B41FA5}">
                      <a16:colId xmlns:a16="http://schemas.microsoft.com/office/drawing/2014/main" val="20001"/>
                    </a:ext>
                  </a:extLst>
                </a:gridCol>
              </a:tblGrid>
              <a:tr h="509559">
                <a:tc>
                  <a:txBody>
                    <a:bodyPr/>
                    <a:lstStyle/>
                    <a:p>
                      <a:pPr algn="ctr" fontAlgn="base"/>
                      <a:r>
                        <a:rPr lang="en-IN" sz="2000" b="1" dirty="0">
                          <a:effectLst/>
                        </a:rPr>
                        <a:t>Biological Neuron</a:t>
                      </a:r>
                    </a:p>
                  </a:txBody>
                  <a:tcPr marL="38100" marR="38100" marT="95250" marB="952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ctr" fontAlgn="base"/>
                      <a:r>
                        <a:rPr lang="en-IN" sz="2000" b="1" dirty="0">
                          <a:effectLst/>
                        </a:rPr>
                        <a:t>Artificial Neuron</a:t>
                      </a:r>
                    </a:p>
                  </a:txBody>
                  <a:tcPr marL="95250" marR="95250" marT="95250" marB="952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87952">
                <a:tc>
                  <a:txBody>
                    <a:bodyPr/>
                    <a:lstStyle/>
                    <a:p>
                      <a:pPr algn="ctr" fontAlgn="base"/>
                      <a:r>
                        <a:rPr lang="en-IN" sz="2000" b="0" dirty="0">
                          <a:effectLst/>
                        </a:rPr>
                        <a:t>Dendrite</a:t>
                      </a:r>
                    </a:p>
                  </a:txBody>
                  <a:tcPr marL="95250" marR="95250" marT="133350" marB="1333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solidFill>
                      <a:schemeClr val="tx2">
                        <a:lumMod val="40000"/>
                        <a:lumOff val="60000"/>
                        <a:alpha val="20000"/>
                      </a:schemeClr>
                    </a:solidFill>
                  </a:tcPr>
                </a:tc>
                <a:tc>
                  <a:txBody>
                    <a:bodyPr/>
                    <a:lstStyle/>
                    <a:p>
                      <a:pPr algn="ctr" fontAlgn="base"/>
                      <a:r>
                        <a:rPr lang="en-IN" sz="2000" b="0" dirty="0">
                          <a:effectLst/>
                        </a:rPr>
                        <a:t>Inputs</a:t>
                      </a:r>
                    </a:p>
                  </a:txBody>
                  <a:tcPr marL="95250" marR="95250" marT="133350" marB="1333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solidFill>
                      <a:schemeClr val="tx2">
                        <a:lumMod val="40000"/>
                        <a:lumOff val="60000"/>
                        <a:alpha val="20000"/>
                      </a:schemeClr>
                    </a:solidFill>
                  </a:tcPr>
                </a:tc>
                <a:extLst>
                  <a:ext uri="{0D108BD9-81ED-4DB2-BD59-A6C34878D82A}">
                    <a16:rowId xmlns:a16="http://schemas.microsoft.com/office/drawing/2014/main" val="10001"/>
                  </a:ext>
                </a:extLst>
              </a:tr>
              <a:tr h="901527">
                <a:tc>
                  <a:txBody>
                    <a:bodyPr/>
                    <a:lstStyle/>
                    <a:p>
                      <a:pPr algn="ctr" fontAlgn="base"/>
                      <a:r>
                        <a:rPr lang="en-IN" sz="2000" b="0" dirty="0">
                          <a:effectLst/>
                        </a:rPr>
                        <a:t>Cell nucleus or Soma</a:t>
                      </a:r>
                    </a:p>
                  </a:txBody>
                  <a:tcPr marL="95250" marR="95250" marT="133350" marB="133350" anchor="ctr">
                    <a:lnR w="12700" cap="flat" cmpd="sng" algn="ctr">
                      <a:solidFill>
                        <a:schemeClr val="tx2">
                          <a:lumMod val="75000"/>
                        </a:schemeClr>
                      </a:solidFill>
                      <a:prstDash val="solid"/>
                      <a:round/>
                      <a:headEnd type="none" w="med" len="med"/>
                      <a:tailEnd type="none" w="med" len="med"/>
                    </a:lnR>
                  </a:tcPr>
                </a:tc>
                <a:tc>
                  <a:txBody>
                    <a:bodyPr/>
                    <a:lstStyle/>
                    <a:p>
                      <a:pPr algn="ctr" fontAlgn="base"/>
                      <a:r>
                        <a:rPr lang="en-IN" sz="2000" b="0" dirty="0">
                          <a:effectLst/>
                        </a:rPr>
                        <a:t>Nodes</a:t>
                      </a:r>
                    </a:p>
                  </a:txBody>
                  <a:tcPr marL="95250" marR="95250" marT="133350" marB="133350" anchor="ctr">
                    <a:lnL w="12700" cap="flat" cmpd="sng" algn="ctr">
                      <a:solidFill>
                        <a:schemeClr val="tx2">
                          <a:lumMod val="75000"/>
                        </a:schemeClr>
                      </a:solidFill>
                      <a:prstDash val="solid"/>
                      <a:round/>
                      <a:headEnd type="none" w="med" len="med"/>
                      <a:tailEnd type="none" w="med" len="med"/>
                    </a:lnL>
                  </a:tcPr>
                </a:tc>
                <a:extLst>
                  <a:ext uri="{0D108BD9-81ED-4DB2-BD59-A6C34878D82A}">
                    <a16:rowId xmlns:a16="http://schemas.microsoft.com/office/drawing/2014/main" val="10002"/>
                  </a:ext>
                </a:extLst>
              </a:tr>
              <a:tr h="587952">
                <a:tc>
                  <a:txBody>
                    <a:bodyPr/>
                    <a:lstStyle/>
                    <a:p>
                      <a:pPr algn="ctr" fontAlgn="base"/>
                      <a:r>
                        <a:rPr lang="en-IN" sz="2000" b="0" dirty="0">
                          <a:effectLst/>
                        </a:rPr>
                        <a:t>Synapses</a:t>
                      </a:r>
                    </a:p>
                  </a:txBody>
                  <a:tcPr marL="95250" marR="95250" marT="133350" marB="133350" anchor="ctr">
                    <a:lnR w="12700" cap="flat" cmpd="sng" algn="ctr">
                      <a:solidFill>
                        <a:schemeClr val="tx2">
                          <a:lumMod val="75000"/>
                        </a:schemeClr>
                      </a:solidFill>
                      <a:prstDash val="solid"/>
                      <a:round/>
                      <a:headEnd type="none" w="med" len="med"/>
                      <a:tailEnd type="none" w="med" len="med"/>
                    </a:lnR>
                    <a:solidFill>
                      <a:schemeClr val="tx2">
                        <a:lumMod val="40000"/>
                        <a:lumOff val="60000"/>
                        <a:alpha val="20000"/>
                      </a:schemeClr>
                    </a:solidFill>
                  </a:tcPr>
                </a:tc>
                <a:tc>
                  <a:txBody>
                    <a:bodyPr/>
                    <a:lstStyle/>
                    <a:p>
                      <a:pPr algn="ctr" fontAlgn="base"/>
                      <a:r>
                        <a:rPr lang="en-IN" sz="2000" b="0" dirty="0">
                          <a:effectLst/>
                        </a:rPr>
                        <a:t>Weights</a:t>
                      </a:r>
                    </a:p>
                  </a:txBody>
                  <a:tcPr marL="95250" marR="95250" marT="133350" marB="133350" anchor="ctr">
                    <a:lnL w="12700" cap="flat" cmpd="sng" algn="ctr">
                      <a:solidFill>
                        <a:schemeClr val="tx2">
                          <a:lumMod val="75000"/>
                        </a:schemeClr>
                      </a:solidFill>
                      <a:prstDash val="solid"/>
                      <a:round/>
                      <a:headEnd type="none" w="med" len="med"/>
                      <a:tailEnd type="none" w="med" len="med"/>
                    </a:lnL>
                    <a:solidFill>
                      <a:schemeClr val="tx2">
                        <a:lumMod val="40000"/>
                        <a:lumOff val="60000"/>
                        <a:alpha val="20000"/>
                      </a:schemeClr>
                    </a:solidFill>
                  </a:tcPr>
                </a:tc>
                <a:extLst>
                  <a:ext uri="{0D108BD9-81ED-4DB2-BD59-A6C34878D82A}">
                    <a16:rowId xmlns:a16="http://schemas.microsoft.com/office/drawing/2014/main" val="10003"/>
                  </a:ext>
                </a:extLst>
              </a:tr>
              <a:tr h="587952">
                <a:tc>
                  <a:txBody>
                    <a:bodyPr/>
                    <a:lstStyle/>
                    <a:p>
                      <a:pPr algn="ctr" fontAlgn="base"/>
                      <a:r>
                        <a:rPr lang="en-IN" sz="2000" b="0" dirty="0">
                          <a:effectLst/>
                        </a:rPr>
                        <a:t>Axon</a:t>
                      </a:r>
                    </a:p>
                  </a:txBody>
                  <a:tcPr marL="95250" marR="95250" marT="133350" marB="133350" anchor="ctr">
                    <a:lnR w="12700" cap="flat" cmpd="sng" algn="ctr">
                      <a:solidFill>
                        <a:schemeClr val="tx2">
                          <a:lumMod val="75000"/>
                        </a:schemeClr>
                      </a:solidFill>
                      <a:prstDash val="solid"/>
                      <a:round/>
                      <a:headEnd type="none" w="med" len="med"/>
                      <a:tailEnd type="none" w="med" len="med"/>
                    </a:lnR>
                    <a:lnB w="12700" cap="flat" cmpd="sng" algn="ctr">
                      <a:solidFill>
                        <a:schemeClr val="tx2">
                          <a:lumMod val="75000"/>
                        </a:schemeClr>
                      </a:solidFill>
                      <a:prstDash val="solid"/>
                      <a:round/>
                      <a:headEnd type="none" w="med" len="med"/>
                      <a:tailEnd type="none" w="med" len="med"/>
                    </a:lnB>
                    <a:noFill/>
                  </a:tcPr>
                </a:tc>
                <a:tc>
                  <a:txBody>
                    <a:bodyPr/>
                    <a:lstStyle/>
                    <a:p>
                      <a:pPr algn="ctr" fontAlgn="base"/>
                      <a:r>
                        <a:rPr lang="en-IN" sz="2000" b="0" dirty="0">
                          <a:effectLst/>
                        </a:rPr>
                        <a:t>Output</a:t>
                      </a:r>
                    </a:p>
                  </a:txBody>
                  <a:tcPr marL="95250" marR="95250" marT="133350" marB="133350" anchor="ctr">
                    <a:lnL w="12700" cap="flat" cmpd="sng" algn="ctr">
                      <a:solidFill>
                        <a:schemeClr val="tx2">
                          <a:lumMod val="75000"/>
                        </a:schemeClr>
                      </a:solidFill>
                      <a:prstDash val="solid"/>
                      <a:round/>
                      <a:headEnd type="none" w="med" len="med"/>
                      <a:tailEnd type="none" w="med" len="med"/>
                    </a:lnL>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96224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err="1"/>
              <a:t>Artificial</a:t>
            </a:r>
            <a:r>
              <a:rPr lang="fr-FR" dirty="0"/>
              <a:t> </a:t>
            </a:r>
            <a:r>
              <a:rPr lang="fr-FR" dirty="0" err="1"/>
              <a:t>Neurons</a:t>
            </a:r>
            <a:r>
              <a:rPr lang="fr-FR" dirty="0"/>
              <a:t> - </a:t>
            </a:r>
            <a:r>
              <a:rPr lang="en-IN" dirty="0"/>
              <a:t>Perceptron</a:t>
            </a:r>
          </a:p>
        </p:txBody>
      </p:sp>
      <p:sp>
        <p:nvSpPr>
          <p:cNvPr id="3" name="Content Placeholder 2"/>
          <p:cNvSpPr>
            <a:spLocks noGrp="1"/>
          </p:cNvSpPr>
          <p:nvPr>
            <p:ph idx="1"/>
          </p:nvPr>
        </p:nvSpPr>
        <p:spPr/>
        <p:txBody>
          <a:bodyPr/>
          <a:lstStyle/>
          <a:p>
            <a:endParaRPr lang="en-IN" dirty="0"/>
          </a:p>
          <a:p>
            <a:endParaRPr lang="en-IN" dirty="0"/>
          </a:p>
        </p:txBody>
      </p:sp>
      <p:grpSp>
        <p:nvGrpSpPr>
          <p:cNvPr id="4" name="Group 3">
            <a:extLst>
              <a:ext uri="{FF2B5EF4-FFF2-40B4-BE49-F238E27FC236}">
                <a16:creationId xmlns:a16="http://schemas.microsoft.com/office/drawing/2014/main" id="{2A094194-EA95-D679-26D1-193435D79370}"/>
              </a:ext>
            </a:extLst>
          </p:cNvPr>
          <p:cNvGrpSpPr/>
          <p:nvPr/>
        </p:nvGrpSpPr>
        <p:grpSpPr>
          <a:xfrm>
            <a:off x="1434229" y="1232170"/>
            <a:ext cx="9559774" cy="4378789"/>
            <a:chOff x="1434229" y="1232170"/>
            <a:chExt cx="9559774" cy="4378789"/>
          </a:xfrm>
        </p:grpSpPr>
        <mc:AlternateContent xmlns:mc="http://schemas.openxmlformats.org/markup-compatibility/2006" xmlns:a14="http://schemas.microsoft.com/office/drawing/2010/main">
          <mc:Choice Requires="a14">
            <p:sp>
              <p:nvSpPr>
                <p:cNvPr id="16" name="Oval 15"/>
                <p:cNvSpPr/>
                <p:nvPr/>
              </p:nvSpPr>
              <p:spPr>
                <a:xfrm>
                  <a:off x="1587797" y="1232170"/>
                  <a:ext cx="540000" cy="540000"/>
                </a:xfrm>
                <a:prstGeom prst="ellipse">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IN" sz="2000" b="1" i="1" dirty="0" smtClean="0">
                                <a:solidFill>
                                  <a:schemeClr val="bg1"/>
                                </a:solidFill>
                                <a:latin typeface="Cambria Math" panose="02040503050406030204" pitchFamily="18" charset="0"/>
                              </a:rPr>
                            </m:ctrlPr>
                          </m:sSubPr>
                          <m:e>
                            <m:r>
                              <a:rPr lang="en-IN" sz="2000" b="1" i="1" dirty="0">
                                <a:solidFill>
                                  <a:schemeClr val="bg1"/>
                                </a:solidFill>
                                <a:latin typeface="Cambria Math" panose="02040503050406030204" pitchFamily="18" charset="0"/>
                              </a:rPr>
                              <m:t>𝒙</m:t>
                            </m:r>
                          </m:e>
                          <m:sub>
                            <m:r>
                              <a:rPr lang="en-IN" sz="2000" b="1" i="1" dirty="0">
                                <a:solidFill>
                                  <a:schemeClr val="bg1"/>
                                </a:solidFill>
                                <a:latin typeface="Cambria Math" panose="02040503050406030204" pitchFamily="18" charset="0"/>
                              </a:rPr>
                              <m:t>𝟏</m:t>
                            </m:r>
                          </m:sub>
                        </m:sSub>
                      </m:oMath>
                    </m:oMathPara>
                  </a14:m>
                  <a:endParaRPr lang="en-IN" sz="2000" b="1" dirty="0">
                    <a:solidFill>
                      <a:schemeClr val="bg1"/>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1587797" y="1232170"/>
                  <a:ext cx="540000" cy="540000"/>
                </a:xfrm>
                <a:prstGeom prst="ellipse">
                  <a:avLst/>
                </a:prstGeom>
                <a:blipFill>
                  <a:blip r:embed="rId2"/>
                  <a:stretch>
                    <a:fillRect/>
                  </a:stretch>
                </a:blipFill>
                <a:ln>
                  <a:solidFill>
                    <a:schemeClr val="accent2">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1587797" y="4533390"/>
                  <a:ext cx="540000" cy="540000"/>
                </a:xfrm>
                <a:prstGeom prst="ellipse">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IN" sz="2000" b="1" i="1" dirty="0" smtClean="0">
                                <a:solidFill>
                                  <a:schemeClr val="bg1"/>
                                </a:solidFill>
                                <a:latin typeface="Cambria Math" panose="02040503050406030204" pitchFamily="18" charset="0"/>
                              </a:rPr>
                            </m:ctrlPr>
                          </m:sSubPr>
                          <m:e>
                            <m:r>
                              <a:rPr lang="en-IN" sz="2000" b="1" i="1" dirty="0">
                                <a:solidFill>
                                  <a:schemeClr val="bg1"/>
                                </a:solidFill>
                                <a:latin typeface="Cambria Math" panose="02040503050406030204" pitchFamily="18" charset="0"/>
                              </a:rPr>
                              <m:t>𝒙</m:t>
                            </m:r>
                          </m:e>
                          <m:sub>
                            <m:r>
                              <a:rPr lang="en-IN" sz="2000" b="1" i="1" dirty="0" smtClean="0">
                                <a:solidFill>
                                  <a:schemeClr val="bg1"/>
                                </a:solidFill>
                                <a:latin typeface="Cambria Math" panose="02040503050406030204" pitchFamily="18" charset="0"/>
                              </a:rPr>
                              <m:t>𝒏</m:t>
                            </m:r>
                          </m:sub>
                        </m:sSub>
                      </m:oMath>
                    </m:oMathPara>
                  </a14:m>
                  <a:endParaRPr lang="en-IN" sz="2000" b="1" dirty="0">
                    <a:solidFill>
                      <a:schemeClr val="bg1"/>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1587797" y="4533390"/>
                  <a:ext cx="540000" cy="540000"/>
                </a:xfrm>
                <a:prstGeom prst="ellipse">
                  <a:avLst/>
                </a:prstGeom>
                <a:blipFill>
                  <a:blip r:embed="rId3"/>
                  <a:stretch>
                    <a:fillRect/>
                  </a:stretch>
                </a:blipFill>
                <a:ln>
                  <a:solidFill>
                    <a:schemeClr val="accent2">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3411588" y="2230596"/>
                  <a:ext cx="2160000" cy="2160000"/>
                </a:xfrm>
                <a:prstGeom prst="ellipse">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chr m:val="∑"/>
                            <m:ctrlPr>
                              <a:rPr lang="en-IN" sz="2000" b="1" i="1" smtClean="0">
                                <a:latin typeface="Cambria Math" panose="02040503050406030204" pitchFamily="18" charset="0"/>
                              </a:rPr>
                            </m:ctrlPr>
                          </m:naryPr>
                          <m:sub>
                            <m:r>
                              <m:rPr>
                                <m:brk m:alnAt="23"/>
                              </m:rPr>
                              <a:rPr lang="en-IN" sz="2000" b="1" i="1">
                                <a:latin typeface="Cambria Math" panose="02040503050406030204" pitchFamily="18" charset="0"/>
                              </a:rPr>
                              <m:t>𝒊</m:t>
                            </m:r>
                            <m:r>
                              <a:rPr lang="en-IN" sz="2000" b="1" i="1">
                                <a:latin typeface="Cambria Math" panose="02040503050406030204" pitchFamily="18" charset="0"/>
                              </a:rPr>
                              <m:t>=</m:t>
                            </m:r>
                            <m:r>
                              <a:rPr lang="en-IN" sz="2000" b="1" i="1">
                                <a:latin typeface="Cambria Math" panose="02040503050406030204" pitchFamily="18" charset="0"/>
                              </a:rPr>
                              <m:t>𝟏</m:t>
                            </m:r>
                          </m:sub>
                          <m:sup>
                            <m:r>
                              <a:rPr lang="en-IN" sz="2000" b="1" i="1">
                                <a:latin typeface="Cambria Math" panose="02040503050406030204" pitchFamily="18" charset="0"/>
                              </a:rPr>
                              <m:t>𝒏</m:t>
                            </m:r>
                          </m:sup>
                          <m:e>
                            <m:sSub>
                              <m:sSubPr>
                                <m:ctrlPr>
                                  <a:rPr lang="en-IN" sz="2000" b="1" i="1">
                                    <a:latin typeface="Cambria Math" panose="02040503050406030204" pitchFamily="18" charset="0"/>
                                  </a:rPr>
                                </m:ctrlPr>
                              </m:sSubPr>
                              <m:e>
                                <m:r>
                                  <a:rPr lang="en-IN" sz="2000" b="1" i="1">
                                    <a:latin typeface="Cambria Math" panose="02040503050406030204" pitchFamily="18" charset="0"/>
                                  </a:rPr>
                                  <m:t>𝒙</m:t>
                                </m:r>
                              </m:e>
                              <m:sub>
                                <m:r>
                                  <a:rPr lang="en-IN" sz="2000" b="1" i="1">
                                    <a:latin typeface="Cambria Math" panose="02040503050406030204" pitchFamily="18" charset="0"/>
                                  </a:rPr>
                                  <m:t>𝒊</m:t>
                                </m:r>
                              </m:sub>
                            </m:sSub>
                            <m:sSub>
                              <m:sSubPr>
                                <m:ctrlPr>
                                  <a:rPr lang="en-IN" sz="2000" b="1" i="1">
                                    <a:latin typeface="Cambria Math" panose="02040503050406030204" pitchFamily="18" charset="0"/>
                                  </a:rPr>
                                </m:ctrlPr>
                              </m:sSubPr>
                              <m:e>
                                <m:r>
                                  <a:rPr lang="en-IN" sz="2000" b="1" i="1">
                                    <a:latin typeface="Cambria Math" panose="02040503050406030204" pitchFamily="18" charset="0"/>
                                  </a:rPr>
                                  <m:t>𝒘</m:t>
                                </m:r>
                              </m:e>
                              <m:sub>
                                <m:r>
                                  <a:rPr lang="en-IN" sz="2000" b="1" i="1">
                                    <a:latin typeface="Cambria Math" panose="02040503050406030204" pitchFamily="18" charset="0"/>
                                  </a:rPr>
                                  <m:t>𝒊</m:t>
                                </m:r>
                              </m:sub>
                            </m:sSub>
                          </m:e>
                        </m:nary>
                        <m:r>
                          <a:rPr lang="en-IN" sz="2000" b="1" i="1" smtClean="0">
                            <a:latin typeface="Cambria Math" panose="02040503050406030204" pitchFamily="18" charset="0"/>
                          </a:rPr>
                          <m:t>+</m:t>
                        </m:r>
                        <m:r>
                          <a:rPr lang="en-IN" sz="2000" b="1" i="1" smtClean="0">
                            <a:latin typeface="Cambria Math" panose="02040503050406030204" pitchFamily="18" charset="0"/>
                          </a:rPr>
                          <m:t>𝒃</m:t>
                        </m:r>
                      </m:oMath>
                    </m:oMathPara>
                  </a14:m>
                  <a:endParaRPr lang="en-IN" sz="2000" b="1" dirty="0">
                    <a:solidFill>
                      <a:schemeClr val="tx1"/>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3411588" y="2230596"/>
                  <a:ext cx="2160000" cy="2160000"/>
                </a:xfrm>
                <a:prstGeom prst="ellipse">
                  <a:avLst/>
                </a:prstGeom>
                <a:blipFill>
                  <a:blip r:embed="rId4"/>
                  <a:stretch>
                    <a:fillRect l="-26744" t="-16279" b="-39535"/>
                  </a:stretch>
                </a:blipFill>
                <a:ln>
                  <a:solidFill>
                    <a:schemeClr val="accent3">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6622624" y="2761968"/>
                  <a:ext cx="2785475" cy="1099007"/>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400" b="1" i="1" smtClean="0">
                            <a:solidFill>
                              <a:schemeClr val="bg1"/>
                            </a:solidFill>
                            <a:latin typeface="Cambria Math" panose="02040503050406030204" pitchFamily="18" charset="0"/>
                          </a:rPr>
                          <m:t>𝒇</m:t>
                        </m:r>
                        <m:d>
                          <m:dPr>
                            <m:ctrlPr>
                              <a:rPr lang="en-IN" sz="1400" b="1" i="1" smtClean="0">
                                <a:solidFill>
                                  <a:schemeClr val="bg1"/>
                                </a:solidFill>
                                <a:latin typeface="Cambria Math" panose="02040503050406030204" pitchFamily="18" charset="0"/>
                              </a:rPr>
                            </m:ctrlPr>
                          </m:dPr>
                          <m:e>
                            <m:r>
                              <a:rPr lang="en-IN" sz="1400" b="1" i="1" smtClean="0">
                                <a:solidFill>
                                  <a:schemeClr val="bg1"/>
                                </a:solidFill>
                                <a:latin typeface="Cambria Math" panose="02040503050406030204" pitchFamily="18" charset="0"/>
                              </a:rPr>
                              <m:t>𝒙</m:t>
                            </m:r>
                          </m:e>
                        </m:d>
                        <m:r>
                          <a:rPr lang="en-IN" sz="1400" b="1" i="1" smtClean="0">
                            <a:solidFill>
                              <a:schemeClr val="bg1"/>
                            </a:solidFill>
                            <a:latin typeface="Cambria Math" panose="02040503050406030204" pitchFamily="18" charset="0"/>
                          </a:rPr>
                          <m:t>=</m:t>
                        </m:r>
                        <m:d>
                          <m:dPr>
                            <m:begChr m:val="{"/>
                            <m:endChr m:val=""/>
                            <m:ctrlPr>
                              <a:rPr lang="en-IN" sz="1400" b="1" i="1" smtClean="0">
                                <a:solidFill>
                                  <a:schemeClr val="bg1"/>
                                </a:solidFill>
                                <a:latin typeface="Cambria Math" panose="02040503050406030204" pitchFamily="18" charset="0"/>
                              </a:rPr>
                            </m:ctrlPr>
                          </m:dPr>
                          <m:e>
                            <m:eqArr>
                              <m:eqArrPr>
                                <m:ctrlPr>
                                  <a:rPr lang="en-IN" sz="1400" b="1" i="1" smtClean="0">
                                    <a:solidFill>
                                      <a:schemeClr val="bg1"/>
                                    </a:solidFill>
                                    <a:latin typeface="Cambria Math" panose="02040503050406030204" pitchFamily="18" charset="0"/>
                                  </a:rPr>
                                </m:ctrlPr>
                              </m:eqArrPr>
                              <m:e>
                                <m:r>
                                  <a:rPr lang="en-IN" sz="1400" b="1" i="1" smtClean="0">
                                    <a:solidFill>
                                      <a:schemeClr val="bg1"/>
                                    </a:solidFill>
                                    <a:latin typeface="Cambria Math" panose="02040503050406030204" pitchFamily="18" charset="0"/>
                                  </a:rPr>
                                  <m:t>𝟏</m:t>
                                </m:r>
                                <m:r>
                                  <a:rPr lang="en-IN" sz="1400" b="1" i="1" smtClean="0">
                                    <a:solidFill>
                                      <a:schemeClr val="bg1"/>
                                    </a:solidFill>
                                    <a:latin typeface="Cambria Math" panose="02040503050406030204" pitchFamily="18" charset="0"/>
                                  </a:rPr>
                                  <m:t> </m:t>
                                </m:r>
                                <m:r>
                                  <a:rPr lang="en-IN" sz="1400" b="1" i="1" smtClean="0">
                                    <a:solidFill>
                                      <a:schemeClr val="bg1"/>
                                    </a:solidFill>
                                    <a:latin typeface="Cambria Math" panose="02040503050406030204" pitchFamily="18" charset="0"/>
                                  </a:rPr>
                                  <m:t>𝒊𝒇</m:t>
                                </m:r>
                                <m:r>
                                  <a:rPr lang="en-IN" sz="1400" b="1" i="1" smtClean="0">
                                    <a:solidFill>
                                      <a:schemeClr val="bg1"/>
                                    </a:solidFill>
                                    <a:latin typeface="Cambria Math" panose="02040503050406030204" pitchFamily="18" charset="0"/>
                                  </a:rPr>
                                  <m:t> </m:t>
                                </m:r>
                                <m:nary>
                                  <m:naryPr>
                                    <m:chr m:val="∑"/>
                                    <m:subHide m:val="on"/>
                                    <m:supHide m:val="on"/>
                                    <m:ctrlPr>
                                      <a:rPr lang="en-IN" sz="1400" b="1" i="1" smtClean="0">
                                        <a:solidFill>
                                          <a:schemeClr val="bg1"/>
                                        </a:solidFill>
                                        <a:latin typeface="Cambria Math" panose="02040503050406030204" pitchFamily="18" charset="0"/>
                                      </a:rPr>
                                    </m:ctrlPr>
                                  </m:naryPr>
                                  <m:sub/>
                                  <m:sup/>
                                  <m:e>
                                    <m:r>
                                      <a:rPr lang="en-IN" sz="1400" b="1" i="1" smtClean="0">
                                        <a:solidFill>
                                          <a:schemeClr val="bg1"/>
                                        </a:solidFill>
                                        <a:latin typeface="Cambria Math" panose="02040503050406030204" pitchFamily="18" charset="0"/>
                                      </a:rPr>
                                      <m:t>𝒘𝒙</m:t>
                                    </m:r>
                                  </m:e>
                                </m:nary>
                                <m:r>
                                  <a:rPr lang="en-IN" sz="1400" b="1" i="1" smtClean="0">
                                    <a:solidFill>
                                      <a:schemeClr val="bg1"/>
                                    </a:solidFill>
                                    <a:latin typeface="Cambria Math" panose="02040503050406030204" pitchFamily="18" charset="0"/>
                                  </a:rPr>
                                  <m:t>+</m:t>
                                </m:r>
                                <m:r>
                                  <a:rPr lang="en-IN" sz="1400" b="1" i="1" smtClean="0">
                                    <a:solidFill>
                                      <a:schemeClr val="bg1"/>
                                    </a:solidFill>
                                    <a:latin typeface="Cambria Math" panose="02040503050406030204" pitchFamily="18" charset="0"/>
                                  </a:rPr>
                                  <m:t>𝒃</m:t>
                                </m:r>
                                <m:r>
                                  <a:rPr lang="en-IN" sz="1400" b="1" i="1" smtClean="0">
                                    <a:solidFill>
                                      <a:schemeClr val="bg1"/>
                                    </a:solidFill>
                                    <a:latin typeface="Cambria Math" panose="02040503050406030204" pitchFamily="18" charset="0"/>
                                    <a:ea typeface="Cambria Math" panose="02040503050406030204" pitchFamily="18" charset="0"/>
                                  </a:rPr>
                                  <m:t>≥</m:t>
                                </m:r>
                                <m:r>
                                  <a:rPr lang="en-IN" sz="1400" b="1" i="1" smtClean="0">
                                    <a:solidFill>
                                      <a:schemeClr val="bg1"/>
                                    </a:solidFill>
                                    <a:latin typeface="Cambria Math" panose="02040503050406030204" pitchFamily="18" charset="0"/>
                                    <a:ea typeface="Cambria Math" panose="02040503050406030204" pitchFamily="18" charset="0"/>
                                  </a:rPr>
                                  <m:t>𝟎</m:t>
                                </m:r>
                              </m:e>
                              <m:e>
                                <m:r>
                                  <a:rPr lang="en-IN" sz="1400" b="1" i="1" smtClean="0">
                                    <a:solidFill>
                                      <a:schemeClr val="bg1"/>
                                    </a:solidFill>
                                    <a:latin typeface="Cambria Math" panose="02040503050406030204" pitchFamily="18" charset="0"/>
                                  </a:rPr>
                                  <m:t>𝟎</m:t>
                                </m:r>
                                <m:r>
                                  <a:rPr lang="en-IN" sz="1400" b="1" i="1" smtClean="0">
                                    <a:solidFill>
                                      <a:schemeClr val="bg1"/>
                                    </a:solidFill>
                                    <a:latin typeface="Cambria Math" panose="02040503050406030204" pitchFamily="18" charset="0"/>
                                  </a:rPr>
                                  <m:t> </m:t>
                                </m:r>
                                <m:r>
                                  <a:rPr lang="en-IN" sz="1400" b="1" i="1" smtClean="0">
                                    <a:solidFill>
                                      <a:schemeClr val="bg1"/>
                                    </a:solidFill>
                                    <a:latin typeface="Cambria Math" panose="02040503050406030204" pitchFamily="18" charset="0"/>
                                  </a:rPr>
                                  <m:t>𝒊𝒇</m:t>
                                </m:r>
                                <m:r>
                                  <a:rPr lang="en-IN" sz="1400" b="1" i="1" smtClean="0">
                                    <a:solidFill>
                                      <a:schemeClr val="bg1"/>
                                    </a:solidFill>
                                    <a:latin typeface="Cambria Math" panose="02040503050406030204" pitchFamily="18" charset="0"/>
                                  </a:rPr>
                                  <m:t> </m:t>
                                </m:r>
                                <m:nary>
                                  <m:naryPr>
                                    <m:chr m:val="∑"/>
                                    <m:subHide m:val="on"/>
                                    <m:supHide m:val="on"/>
                                    <m:ctrlPr>
                                      <a:rPr lang="en-IN" sz="1400" b="1" i="1" smtClean="0">
                                        <a:solidFill>
                                          <a:schemeClr val="bg1"/>
                                        </a:solidFill>
                                        <a:latin typeface="Cambria Math" panose="02040503050406030204" pitchFamily="18" charset="0"/>
                                      </a:rPr>
                                    </m:ctrlPr>
                                  </m:naryPr>
                                  <m:sub/>
                                  <m:sup/>
                                  <m:e>
                                    <m:r>
                                      <a:rPr lang="en-IN" sz="1400" b="1" i="1" smtClean="0">
                                        <a:solidFill>
                                          <a:schemeClr val="bg1"/>
                                        </a:solidFill>
                                        <a:latin typeface="Cambria Math" panose="02040503050406030204" pitchFamily="18" charset="0"/>
                                      </a:rPr>
                                      <m:t>𝒘𝒙</m:t>
                                    </m:r>
                                    <m:r>
                                      <a:rPr lang="en-IN" sz="1400" b="1" i="1" smtClean="0">
                                        <a:solidFill>
                                          <a:schemeClr val="bg1"/>
                                        </a:solidFill>
                                        <a:latin typeface="Cambria Math" panose="02040503050406030204" pitchFamily="18" charset="0"/>
                                      </a:rPr>
                                      <m:t>+</m:t>
                                    </m:r>
                                    <m:r>
                                      <a:rPr lang="en-IN" sz="1400" b="1" i="1" smtClean="0">
                                        <a:solidFill>
                                          <a:schemeClr val="bg1"/>
                                        </a:solidFill>
                                        <a:latin typeface="Cambria Math" panose="02040503050406030204" pitchFamily="18" charset="0"/>
                                      </a:rPr>
                                      <m:t>𝒃</m:t>
                                    </m:r>
                                    <m:r>
                                      <a:rPr lang="en-IN" sz="1400" b="1" i="1" smtClean="0">
                                        <a:solidFill>
                                          <a:schemeClr val="bg1"/>
                                        </a:solidFill>
                                        <a:latin typeface="Cambria Math" panose="02040503050406030204" pitchFamily="18" charset="0"/>
                                        <a:ea typeface="Cambria Math" panose="02040503050406030204" pitchFamily="18" charset="0"/>
                                      </a:rPr>
                                      <m:t>&lt;</m:t>
                                    </m:r>
                                    <m:r>
                                      <a:rPr lang="en-IN" sz="1400" b="1" i="1" smtClean="0">
                                        <a:solidFill>
                                          <a:schemeClr val="bg1"/>
                                        </a:solidFill>
                                        <a:latin typeface="Cambria Math" panose="02040503050406030204" pitchFamily="18" charset="0"/>
                                        <a:ea typeface="Cambria Math" panose="02040503050406030204" pitchFamily="18" charset="0"/>
                                      </a:rPr>
                                      <m:t>𝟎</m:t>
                                    </m:r>
                                  </m:e>
                                </m:nary>
                              </m:e>
                            </m:eqArr>
                          </m:e>
                        </m:d>
                      </m:oMath>
                    </m:oMathPara>
                  </a14:m>
                  <a:endParaRPr lang="en-IN" sz="1400" b="1" dirty="0">
                    <a:solidFill>
                      <a:schemeClr val="bg1"/>
                    </a:solidFill>
                  </a:endParaRPr>
                </a:p>
              </p:txBody>
            </p:sp>
          </mc:Choice>
          <mc:Fallback xmlns="">
            <p:sp>
              <p:nvSpPr>
                <p:cNvPr id="19" name="Rectangle 18"/>
                <p:cNvSpPr>
                  <a:spLocks noRot="1" noChangeAspect="1" noMove="1" noResize="1" noEditPoints="1" noAdjustHandles="1" noChangeArrowheads="1" noChangeShapeType="1" noTextEdit="1"/>
                </p:cNvSpPr>
                <p:nvPr/>
              </p:nvSpPr>
              <p:spPr>
                <a:xfrm>
                  <a:off x="6622624" y="2761968"/>
                  <a:ext cx="2785475" cy="1099007"/>
                </a:xfrm>
                <a:prstGeom prst="rect">
                  <a:avLst/>
                </a:prstGeom>
                <a:blipFill>
                  <a:blip r:embed="rId5"/>
                  <a:stretch>
                    <a:fillRect t="-66292" b="-96629"/>
                  </a:stretch>
                </a:blipFill>
                <a:ln>
                  <a:solidFill>
                    <a:schemeClr val="accent6">
                      <a:lumMod val="50000"/>
                    </a:schemeClr>
                  </a:solidFill>
                </a:ln>
              </p:spPr>
              <p:txBody>
                <a:bodyPr/>
                <a:lstStyle/>
                <a:p>
                  <a:r>
                    <a:rPr lang="en-US">
                      <a:noFill/>
                    </a:rPr>
                    <a:t> </a:t>
                  </a:r>
                </a:p>
              </p:txBody>
            </p:sp>
          </mc:Fallback>
        </mc:AlternateContent>
        <p:cxnSp>
          <p:nvCxnSpPr>
            <p:cNvPr id="21" name="Straight Arrow Connector 20"/>
            <p:cNvCxnSpPr>
              <a:stCxn id="36" idx="6"/>
            </p:cNvCxnSpPr>
            <p:nvPr/>
          </p:nvCxnSpPr>
          <p:spPr>
            <a:xfrm>
              <a:off x="2127797" y="2449378"/>
              <a:ext cx="1393243" cy="4341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6" idx="6"/>
              <a:endCxn id="18" idx="1"/>
            </p:cNvCxnSpPr>
            <p:nvPr/>
          </p:nvCxnSpPr>
          <p:spPr>
            <a:xfrm>
              <a:off x="2127797" y="1502170"/>
              <a:ext cx="1600116" cy="10447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7" idx="6"/>
              <a:endCxn id="18" idx="3"/>
            </p:cNvCxnSpPr>
            <p:nvPr/>
          </p:nvCxnSpPr>
          <p:spPr>
            <a:xfrm flipV="1">
              <a:off x="2127797" y="4074271"/>
              <a:ext cx="1600116" cy="72911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8" idx="6"/>
              <a:endCxn id="19" idx="1"/>
            </p:cNvCxnSpPr>
            <p:nvPr/>
          </p:nvCxnSpPr>
          <p:spPr>
            <a:xfrm>
              <a:off x="5571588" y="3310596"/>
              <a:ext cx="1051036" cy="87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9" idx="3"/>
            </p:cNvCxnSpPr>
            <p:nvPr/>
          </p:nvCxnSpPr>
          <p:spPr>
            <a:xfrm flipV="1">
              <a:off x="9408099" y="3310596"/>
              <a:ext cx="799732" cy="87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7742883" y="4202122"/>
              <a:ext cx="1154268" cy="369332"/>
            </a:xfrm>
            <a:prstGeom prst="rect">
              <a:avLst/>
            </a:prstGeom>
            <a:noFill/>
          </p:spPr>
          <p:txBody>
            <a:bodyPr wrap="square" rtlCol="0">
              <a:spAutoFit/>
            </a:bodyPr>
            <a:lstStyle/>
            <a:p>
              <a:pPr algn="ctr"/>
              <a:r>
                <a:rPr lang="en-IN" dirty="0">
                  <a:solidFill>
                    <a:schemeClr val="accent6"/>
                  </a:solidFill>
                </a:rPr>
                <a:t>Activation </a:t>
              </a:r>
            </a:p>
          </p:txBody>
        </p:sp>
        <p:sp>
          <p:nvSpPr>
            <p:cNvPr id="32" name="TextBox 31"/>
            <p:cNvSpPr txBox="1"/>
            <p:nvPr/>
          </p:nvSpPr>
          <p:spPr>
            <a:xfrm>
              <a:off x="9923934" y="3729114"/>
              <a:ext cx="1070069" cy="400110"/>
            </a:xfrm>
            <a:prstGeom prst="rect">
              <a:avLst/>
            </a:prstGeom>
            <a:noFill/>
          </p:spPr>
          <p:txBody>
            <a:bodyPr wrap="square" rtlCol="0">
              <a:spAutoFit/>
            </a:bodyPr>
            <a:lstStyle/>
            <a:p>
              <a:pPr algn="ctr"/>
              <a:r>
                <a:rPr lang="en-IN" sz="2000" dirty="0">
                  <a:solidFill>
                    <a:schemeClr val="accent5"/>
                  </a:solidFill>
                </a:rPr>
                <a:t>Output  </a:t>
              </a:r>
            </a:p>
          </p:txBody>
        </p:sp>
        <p:cxnSp>
          <p:nvCxnSpPr>
            <p:cNvPr id="33" name="Elbow Connector 32"/>
            <p:cNvCxnSpPr/>
            <p:nvPr/>
          </p:nvCxnSpPr>
          <p:spPr>
            <a:xfrm rot="10800000" flipV="1">
              <a:off x="7488084" y="4133157"/>
              <a:ext cx="432000" cy="432000"/>
            </a:xfrm>
            <a:prstGeom prst="bentConnector3">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Rectangle 33"/>
                <p:cNvSpPr/>
                <p:nvPr/>
              </p:nvSpPr>
              <p:spPr>
                <a:xfrm>
                  <a:off x="2472826" y="1553531"/>
                  <a:ext cx="63184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b="1" i="1">
                                <a:latin typeface="Cambria Math" panose="02040503050406030204" pitchFamily="18" charset="0"/>
                              </a:rPr>
                            </m:ctrlPr>
                          </m:sSubPr>
                          <m:e>
                            <m:r>
                              <a:rPr lang="en-IN" b="1" i="1">
                                <a:latin typeface="Cambria Math" panose="02040503050406030204" pitchFamily="18" charset="0"/>
                              </a:rPr>
                              <m:t>  </m:t>
                            </m:r>
                            <m:r>
                              <a:rPr lang="en-IN" b="1" i="1">
                                <a:latin typeface="Cambria Math" panose="02040503050406030204" pitchFamily="18" charset="0"/>
                              </a:rPr>
                              <m:t>𝒘</m:t>
                            </m:r>
                          </m:e>
                          <m:sub>
                            <m:r>
                              <a:rPr lang="en-IN" b="1" i="1">
                                <a:latin typeface="Cambria Math" panose="02040503050406030204" pitchFamily="18" charset="0"/>
                              </a:rPr>
                              <m:t>𝟏</m:t>
                            </m:r>
                          </m:sub>
                        </m:sSub>
                      </m:oMath>
                    </m:oMathPara>
                  </a14:m>
                  <a:endParaRPr lang="en-IN" dirty="0"/>
                </a:p>
              </p:txBody>
            </p:sp>
          </mc:Choice>
          <mc:Fallback xmlns="">
            <p:sp>
              <p:nvSpPr>
                <p:cNvPr id="34" name="Rectangle 33"/>
                <p:cNvSpPr>
                  <a:spLocks noRot="1" noChangeAspect="1" noMove="1" noResize="1" noEditPoints="1" noAdjustHandles="1" noChangeArrowheads="1" noChangeShapeType="1" noTextEdit="1"/>
                </p:cNvSpPr>
                <p:nvPr/>
              </p:nvSpPr>
              <p:spPr>
                <a:xfrm>
                  <a:off x="2472826" y="1553531"/>
                  <a:ext cx="631840" cy="369332"/>
                </a:xfrm>
                <a:prstGeom prst="rect">
                  <a:avLst/>
                </a:prstGeom>
                <a:blipFill>
                  <a:blip r:embed="rId6"/>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2448645" y="2317206"/>
                  <a:ext cx="63184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b="1" i="1">
                                <a:latin typeface="Cambria Math" panose="02040503050406030204" pitchFamily="18" charset="0"/>
                              </a:rPr>
                            </m:ctrlPr>
                          </m:sSubPr>
                          <m:e>
                            <m:r>
                              <a:rPr lang="en-IN" b="1" i="1">
                                <a:latin typeface="Cambria Math" panose="02040503050406030204" pitchFamily="18" charset="0"/>
                              </a:rPr>
                              <m:t>  </m:t>
                            </m:r>
                            <m:r>
                              <a:rPr lang="en-IN" b="1" i="1">
                                <a:latin typeface="Cambria Math" panose="02040503050406030204" pitchFamily="18" charset="0"/>
                              </a:rPr>
                              <m:t>𝒘</m:t>
                            </m:r>
                          </m:e>
                          <m:sub>
                            <m:r>
                              <a:rPr lang="en-IN" b="1" i="1">
                                <a:latin typeface="Cambria Math" panose="02040503050406030204" pitchFamily="18" charset="0"/>
                              </a:rPr>
                              <m:t>𝟐</m:t>
                            </m:r>
                          </m:sub>
                        </m:sSub>
                      </m:oMath>
                    </m:oMathPara>
                  </a14:m>
                  <a:endParaRPr lang="en-IN" dirty="0"/>
                </a:p>
              </p:txBody>
            </p:sp>
          </mc:Choice>
          <mc:Fallback xmlns="">
            <p:sp>
              <p:nvSpPr>
                <p:cNvPr id="35" name="Rectangle 34"/>
                <p:cNvSpPr>
                  <a:spLocks noRot="1" noChangeAspect="1" noMove="1" noResize="1" noEditPoints="1" noAdjustHandles="1" noChangeArrowheads="1" noChangeShapeType="1" noTextEdit="1"/>
                </p:cNvSpPr>
                <p:nvPr/>
              </p:nvSpPr>
              <p:spPr>
                <a:xfrm>
                  <a:off x="2448645" y="2317206"/>
                  <a:ext cx="631840" cy="369332"/>
                </a:xfrm>
                <a:prstGeom prst="rect">
                  <a:avLst/>
                </a:prstGeom>
                <a:blipFill>
                  <a:blip r:embed="rId7"/>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1587797" y="2179378"/>
                  <a:ext cx="540000" cy="540000"/>
                </a:xfrm>
                <a:prstGeom prst="ellipse">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IN" sz="2000" b="1" i="1" dirty="0" smtClean="0">
                                <a:solidFill>
                                  <a:schemeClr val="bg1"/>
                                </a:solidFill>
                                <a:latin typeface="Cambria Math" panose="02040503050406030204" pitchFamily="18" charset="0"/>
                              </a:rPr>
                            </m:ctrlPr>
                          </m:sSubPr>
                          <m:e>
                            <m:r>
                              <a:rPr lang="en-IN" sz="2000" b="1" i="1" dirty="0">
                                <a:solidFill>
                                  <a:schemeClr val="bg1"/>
                                </a:solidFill>
                                <a:latin typeface="Cambria Math" panose="02040503050406030204" pitchFamily="18" charset="0"/>
                              </a:rPr>
                              <m:t>𝒙</m:t>
                            </m:r>
                          </m:e>
                          <m:sub>
                            <m:r>
                              <a:rPr lang="en-IN" sz="2000" b="1" i="1" dirty="0" smtClean="0">
                                <a:solidFill>
                                  <a:schemeClr val="bg1"/>
                                </a:solidFill>
                                <a:latin typeface="Cambria Math" panose="02040503050406030204" pitchFamily="18" charset="0"/>
                              </a:rPr>
                              <m:t>𝟐</m:t>
                            </m:r>
                          </m:sub>
                        </m:sSub>
                      </m:oMath>
                    </m:oMathPara>
                  </a14:m>
                  <a:endParaRPr lang="en-IN" sz="2000" b="1" dirty="0">
                    <a:solidFill>
                      <a:schemeClr val="bg1"/>
                    </a:solidFill>
                  </a:endParaRPr>
                </a:p>
              </p:txBody>
            </p:sp>
          </mc:Choice>
          <mc:Fallback xmlns="">
            <p:sp>
              <p:nvSpPr>
                <p:cNvPr id="36" name="Oval 35"/>
                <p:cNvSpPr>
                  <a:spLocks noRot="1" noChangeAspect="1" noMove="1" noResize="1" noEditPoints="1" noAdjustHandles="1" noChangeArrowheads="1" noChangeShapeType="1" noTextEdit="1"/>
                </p:cNvSpPr>
                <p:nvPr/>
              </p:nvSpPr>
              <p:spPr>
                <a:xfrm>
                  <a:off x="1587797" y="2179378"/>
                  <a:ext cx="540000" cy="540000"/>
                </a:xfrm>
                <a:prstGeom prst="ellipse">
                  <a:avLst/>
                </a:prstGeom>
                <a:blipFill>
                  <a:blip r:embed="rId8"/>
                  <a:stretch>
                    <a:fillRect/>
                  </a:stretch>
                </a:blipFill>
                <a:ln>
                  <a:solidFill>
                    <a:schemeClr val="accent2">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p:cNvSpPr/>
                <p:nvPr/>
              </p:nvSpPr>
              <p:spPr>
                <a:xfrm>
                  <a:off x="2413123" y="4133157"/>
                  <a:ext cx="63985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b="1" i="1" smtClean="0">
                                <a:latin typeface="Cambria Math" panose="02040503050406030204" pitchFamily="18" charset="0"/>
                              </a:rPr>
                            </m:ctrlPr>
                          </m:sSubPr>
                          <m:e>
                            <m:r>
                              <a:rPr lang="en-IN" b="1" i="1">
                                <a:latin typeface="Cambria Math" panose="02040503050406030204" pitchFamily="18" charset="0"/>
                              </a:rPr>
                              <m:t>  </m:t>
                            </m:r>
                            <m:r>
                              <a:rPr lang="en-IN" b="1" i="1">
                                <a:latin typeface="Cambria Math" panose="02040503050406030204" pitchFamily="18" charset="0"/>
                              </a:rPr>
                              <m:t>𝒘</m:t>
                            </m:r>
                          </m:e>
                          <m:sub>
                            <m:r>
                              <a:rPr lang="en-IN" b="1" i="1" smtClean="0">
                                <a:latin typeface="Cambria Math" panose="02040503050406030204" pitchFamily="18" charset="0"/>
                              </a:rPr>
                              <m:t>𝒏</m:t>
                            </m:r>
                          </m:sub>
                        </m:sSub>
                      </m:oMath>
                    </m:oMathPara>
                  </a14:m>
                  <a:endParaRPr lang="en-IN" dirty="0"/>
                </a:p>
              </p:txBody>
            </p:sp>
          </mc:Choice>
          <mc:Fallback xmlns="">
            <p:sp>
              <p:nvSpPr>
                <p:cNvPr id="41" name="Rectangle 40"/>
                <p:cNvSpPr>
                  <a:spLocks noRot="1" noChangeAspect="1" noMove="1" noResize="1" noEditPoints="1" noAdjustHandles="1" noChangeArrowheads="1" noChangeShapeType="1" noTextEdit="1"/>
                </p:cNvSpPr>
                <p:nvPr/>
              </p:nvSpPr>
              <p:spPr>
                <a:xfrm>
                  <a:off x="2413123" y="4133157"/>
                  <a:ext cx="639855" cy="369332"/>
                </a:xfrm>
                <a:prstGeom prst="rect">
                  <a:avLst/>
                </a:prstGeom>
                <a:blipFill>
                  <a:blip r:embed="rId9"/>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1557270" y="3585746"/>
                  <a:ext cx="601053"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ea typeface="Cambria Math" panose="02040503050406030204" pitchFamily="18" charset="0"/>
                          </a:rPr>
                          <m:t>∙</m:t>
                        </m:r>
                      </m:oMath>
                    </m:oMathPara>
                  </a14:m>
                  <a:endParaRPr lang="en-IN"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ea typeface="Cambria Math" panose="02040503050406030204" pitchFamily="18" charset="0"/>
                          </a:rPr>
                          <m:t>∙</m:t>
                        </m:r>
                      </m:oMath>
                    </m:oMathPara>
                  </a14:m>
                  <a:endParaRPr lang="en-IN" dirty="0">
                    <a:ea typeface="Cambria Math" panose="02040503050406030204" pitchFamily="18" charset="0"/>
                  </a:endParaRPr>
                </a:p>
              </p:txBody>
            </p:sp>
          </mc:Choice>
          <mc:Fallback xmlns="">
            <p:sp>
              <p:nvSpPr>
                <p:cNvPr id="42" name="TextBox 41"/>
                <p:cNvSpPr txBox="1">
                  <a:spLocks noRot="1" noChangeAspect="1" noMove="1" noResize="1" noEditPoints="1" noAdjustHandles="1" noChangeArrowheads="1" noChangeShapeType="1" noTextEdit="1"/>
                </p:cNvSpPr>
                <p:nvPr/>
              </p:nvSpPr>
              <p:spPr>
                <a:xfrm>
                  <a:off x="1557270" y="3585746"/>
                  <a:ext cx="601053" cy="92333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Oval 63"/>
                <p:cNvSpPr/>
                <p:nvPr/>
              </p:nvSpPr>
              <p:spPr>
                <a:xfrm>
                  <a:off x="1587797" y="3034154"/>
                  <a:ext cx="540000" cy="540000"/>
                </a:xfrm>
                <a:prstGeom prst="ellipse">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IN" sz="2000" b="1" i="1" dirty="0" smtClean="0">
                                <a:solidFill>
                                  <a:schemeClr val="bg1"/>
                                </a:solidFill>
                                <a:latin typeface="Cambria Math" panose="02040503050406030204" pitchFamily="18" charset="0"/>
                              </a:rPr>
                            </m:ctrlPr>
                          </m:sSubPr>
                          <m:e>
                            <m:r>
                              <a:rPr lang="en-IN" sz="2000" b="1" i="1" dirty="0">
                                <a:solidFill>
                                  <a:schemeClr val="bg1"/>
                                </a:solidFill>
                                <a:latin typeface="Cambria Math" panose="02040503050406030204" pitchFamily="18" charset="0"/>
                              </a:rPr>
                              <m:t>𝒙</m:t>
                            </m:r>
                          </m:e>
                          <m:sub>
                            <m:r>
                              <a:rPr lang="en-IN" sz="2000" b="1" i="1" dirty="0" smtClean="0">
                                <a:solidFill>
                                  <a:schemeClr val="bg1"/>
                                </a:solidFill>
                                <a:latin typeface="Cambria Math" panose="02040503050406030204" pitchFamily="18" charset="0"/>
                              </a:rPr>
                              <m:t>𝟑</m:t>
                            </m:r>
                          </m:sub>
                        </m:sSub>
                      </m:oMath>
                    </m:oMathPara>
                  </a14:m>
                  <a:endParaRPr lang="en-IN" sz="2000" b="1" dirty="0">
                    <a:solidFill>
                      <a:schemeClr val="bg1"/>
                    </a:solidFill>
                  </a:endParaRPr>
                </a:p>
              </p:txBody>
            </p:sp>
          </mc:Choice>
          <mc:Fallback xmlns="">
            <p:sp>
              <p:nvSpPr>
                <p:cNvPr id="64" name="Oval 63"/>
                <p:cNvSpPr>
                  <a:spLocks noRot="1" noChangeAspect="1" noMove="1" noResize="1" noEditPoints="1" noAdjustHandles="1" noChangeArrowheads="1" noChangeShapeType="1" noTextEdit="1"/>
                </p:cNvSpPr>
                <p:nvPr/>
              </p:nvSpPr>
              <p:spPr>
                <a:xfrm>
                  <a:off x="1587797" y="3034154"/>
                  <a:ext cx="540000" cy="540000"/>
                </a:xfrm>
                <a:prstGeom prst="ellipse">
                  <a:avLst/>
                </a:prstGeom>
                <a:blipFill>
                  <a:blip r:embed="rId11"/>
                  <a:stretch>
                    <a:fillRect/>
                  </a:stretch>
                </a:blipFill>
                <a:ln>
                  <a:solidFill>
                    <a:schemeClr val="accent2">
                      <a:lumMod val="75000"/>
                    </a:schemeClr>
                  </a:solidFill>
                </a:ln>
              </p:spPr>
              <p:txBody>
                <a:bodyPr/>
                <a:lstStyle/>
                <a:p>
                  <a:r>
                    <a:rPr lang="en-US">
                      <a:noFill/>
                    </a:rPr>
                    <a:t> </a:t>
                  </a:r>
                </a:p>
              </p:txBody>
            </p:sp>
          </mc:Fallback>
        </mc:AlternateContent>
        <p:cxnSp>
          <p:nvCxnSpPr>
            <p:cNvPr id="65" name="Straight Arrow Connector 64"/>
            <p:cNvCxnSpPr>
              <a:stCxn id="64" idx="6"/>
              <a:endCxn id="18" idx="2"/>
            </p:cNvCxnSpPr>
            <p:nvPr/>
          </p:nvCxnSpPr>
          <p:spPr>
            <a:xfrm>
              <a:off x="2127797" y="3304154"/>
              <a:ext cx="1283791" cy="644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Rectangle 70"/>
                <p:cNvSpPr/>
                <p:nvPr/>
              </p:nvSpPr>
              <p:spPr>
                <a:xfrm>
                  <a:off x="2439112" y="2968870"/>
                  <a:ext cx="63184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b="1" i="1" smtClean="0">
                                <a:latin typeface="Cambria Math" panose="02040503050406030204" pitchFamily="18" charset="0"/>
                              </a:rPr>
                            </m:ctrlPr>
                          </m:sSubPr>
                          <m:e>
                            <m:r>
                              <a:rPr lang="en-IN" b="1" i="1">
                                <a:latin typeface="Cambria Math" panose="02040503050406030204" pitchFamily="18" charset="0"/>
                              </a:rPr>
                              <m:t>  </m:t>
                            </m:r>
                            <m:r>
                              <a:rPr lang="en-IN" b="1" i="1">
                                <a:latin typeface="Cambria Math" panose="02040503050406030204" pitchFamily="18" charset="0"/>
                              </a:rPr>
                              <m:t>𝒘</m:t>
                            </m:r>
                          </m:e>
                          <m:sub>
                            <m:r>
                              <a:rPr lang="en-IN" b="1" i="1" smtClean="0">
                                <a:latin typeface="Cambria Math" panose="02040503050406030204" pitchFamily="18" charset="0"/>
                              </a:rPr>
                              <m:t>𝟑</m:t>
                            </m:r>
                          </m:sub>
                        </m:sSub>
                      </m:oMath>
                    </m:oMathPara>
                  </a14:m>
                  <a:endParaRPr lang="en-IN" dirty="0"/>
                </a:p>
              </p:txBody>
            </p:sp>
          </mc:Choice>
          <mc:Fallback xmlns="">
            <p:sp>
              <p:nvSpPr>
                <p:cNvPr id="71" name="Rectangle 70"/>
                <p:cNvSpPr>
                  <a:spLocks noRot="1" noChangeAspect="1" noMove="1" noResize="1" noEditPoints="1" noAdjustHandles="1" noChangeArrowheads="1" noChangeShapeType="1" noTextEdit="1"/>
                </p:cNvSpPr>
                <p:nvPr/>
              </p:nvSpPr>
              <p:spPr>
                <a:xfrm>
                  <a:off x="2439112" y="2968870"/>
                  <a:ext cx="631840" cy="369332"/>
                </a:xfrm>
                <a:prstGeom prst="rect">
                  <a:avLst/>
                </a:prstGeom>
                <a:blipFill>
                  <a:blip r:embed="rId12"/>
                  <a:stretch>
                    <a:fillRect b="-129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Oval 78"/>
                <p:cNvSpPr/>
                <p:nvPr/>
              </p:nvSpPr>
              <p:spPr>
                <a:xfrm>
                  <a:off x="10188969" y="3040596"/>
                  <a:ext cx="540000" cy="540000"/>
                </a:xfrm>
                <a:prstGeom prst="ellipse">
                  <a:avLst/>
                </a:prstGeom>
                <a:solidFill>
                  <a:schemeClr val="accent5"/>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acc>
                          <m:accPr>
                            <m:chr m:val="̂"/>
                            <m:ctrlPr>
                              <a:rPr lang="en-IN" sz="2000" b="1" i="1" smtClean="0">
                                <a:solidFill>
                                  <a:schemeClr val="tx1"/>
                                </a:solidFill>
                                <a:latin typeface="Cambria Math" panose="02040503050406030204" pitchFamily="18" charset="0"/>
                              </a:rPr>
                            </m:ctrlPr>
                          </m:accPr>
                          <m:e>
                            <m:r>
                              <a:rPr lang="en-IN" sz="2000" b="1" i="1" smtClean="0">
                                <a:solidFill>
                                  <a:schemeClr val="tx1"/>
                                </a:solidFill>
                                <a:latin typeface="Cambria Math" panose="02040503050406030204" pitchFamily="18" charset="0"/>
                              </a:rPr>
                              <m:t>𝒚</m:t>
                            </m:r>
                          </m:e>
                        </m:acc>
                      </m:oMath>
                    </m:oMathPara>
                  </a14:m>
                  <a:endParaRPr lang="en-IN" sz="2000" b="1" dirty="0">
                    <a:solidFill>
                      <a:schemeClr val="tx1"/>
                    </a:solidFill>
                  </a:endParaRPr>
                </a:p>
              </p:txBody>
            </p:sp>
          </mc:Choice>
          <mc:Fallback xmlns="">
            <p:sp>
              <p:nvSpPr>
                <p:cNvPr id="79" name="Oval 78"/>
                <p:cNvSpPr>
                  <a:spLocks noRot="1" noChangeAspect="1" noMove="1" noResize="1" noEditPoints="1" noAdjustHandles="1" noChangeArrowheads="1" noChangeShapeType="1" noTextEdit="1"/>
                </p:cNvSpPr>
                <p:nvPr/>
              </p:nvSpPr>
              <p:spPr>
                <a:xfrm>
                  <a:off x="10188969" y="3040596"/>
                  <a:ext cx="540000" cy="540000"/>
                </a:xfrm>
                <a:prstGeom prst="ellipse">
                  <a:avLst/>
                </a:prstGeom>
                <a:blipFill>
                  <a:blip r:embed="rId13"/>
                  <a:stretch>
                    <a:fillRect/>
                  </a:stretch>
                </a:blipFill>
                <a:ln>
                  <a:solidFill>
                    <a:schemeClr val="accent5">
                      <a:lumMod val="75000"/>
                    </a:schemeClr>
                  </a:solidFill>
                </a:ln>
              </p:spPr>
              <p:txBody>
                <a:bodyPr/>
                <a:lstStyle/>
                <a:p>
                  <a:r>
                    <a:rPr lang="en-US">
                      <a:noFill/>
                    </a:rPr>
                    <a:t> </a:t>
                  </a:r>
                </a:p>
              </p:txBody>
            </p:sp>
          </mc:Fallback>
        </mc:AlternateContent>
        <p:sp>
          <p:nvSpPr>
            <p:cNvPr id="80" name="TextBox 79"/>
            <p:cNvSpPr txBox="1"/>
            <p:nvPr/>
          </p:nvSpPr>
          <p:spPr>
            <a:xfrm>
              <a:off x="3889842" y="4480224"/>
              <a:ext cx="1397328" cy="646331"/>
            </a:xfrm>
            <a:prstGeom prst="rect">
              <a:avLst/>
            </a:prstGeom>
            <a:noFill/>
          </p:spPr>
          <p:txBody>
            <a:bodyPr wrap="square" rtlCol="0">
              <a:spAutoFit/>
            </a:bodyPr>
            <a:lstStyle/>
            <a:p>
              <a:pPr algn="ctr"/>
              <a:r>
                <a:rPr lang="en-IN" dirty="0">
                  <a:solidFill>
                    <a:schemeClr val="accent3">
                      <a:lumMod val="75000"/>
                    </a:schemeClr>
                  </a:solidFill>
                </a:rPr>
                <a:t>Summation and bias</a:t>
              </a:r>
            </a:p>
          </p:txBody>
        </p:sp>
        <p:sp>
          <p:nvSpPr>
            <p:cNvPr id="81" name="TextBox 80"/>
            <p:cNvSpPr txBox="1"/>
            <p:nvPr/>
          </p:nvSpPr>
          <p:spPr>
            <a:xfrm>
              <a:off x="1434229" y="5210849"/>
              <a:ext cx="847134" cy="400110"/>
            </a:xfrm>
            <a:prstGeom prst="rect">
              <a:avLst/>
            </a:prstGeom>
            <a:noFill/>
          </p:spPr>
          <p:txBody>
            <a:bodyPr wrap="square" rtlCol="0">
              <a:spAutoFit/>
            </a:bodyPr>
            <a:lstStyle/>
            <a:p>
              <a:pPr algn="ctr"/>
              <a:r>
                <a:rPr lang="en-IN" sz="2000" dirty="0">
                  <a:solidFill>
                    <a:schemeClr val="accent2"/>
                  </a:solidFill>
                </a:rPr>
                <a:t>Input </a:t>
              </a:r>
            </a:p>
          </p:txBody>
        </p:sp>
      </p:grpSp>
    </p:spTree>
    <p:extLst>
      <p:ext uri="{BB962C8B-B14F-4D97-AF65-F5344CB8AC3E}">
        <p14:creationId xmlns:p14="http://schemas.microsoft.com/office/powerpoint/2010/main" val="1688500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Basic Components of a Single Layer Perceptron</a:t>
            </a:r>
          </a:p>
        </p:txBody>
      </p:sp>
      <p:pic>
        <p:nvPicPr>
          <p:cNvPr id="4" name="Content Placeholder 3"/>
          <p:cNvPicPr>
            <a:picLocks noGrp="1" noChangeAspect="1"/>
          </p:cNvPicPr>
          <p:nvPr>
            <p:ph idx="1"/>
          </p:nvPr>
        </p:nvPicPr>
        <p:blipFill>
          <a:blip r:embed="rId2"/>
          <a:stretch>
            <a:fillRect/>
          </a:stretch>
        </p:blipFill>
        <p:spPr>
          <a:xfrm>
            <a:off x="2625433" y="1794019"/>
            <a:ext cx="5715000" cy="2857500"/>
          </a:xfrm>
          <a:prstGeom prst="rect">
            <a:avLst/>
          </a:prstGeom>
        </p:spPr>
      </p:pic>
      <p:sp>
        <p:nvSpPr>
          <p:cNvPr id="5" name="Rectangle 4"/>
          <p:cNvSpPr/>
          <p:nvPr/>
        </p:nvSpPr>
        <p:spPr>
          <a:xfrm>
            <a:off x="273627" y="815829"/>
            <a:ext cx="2240972" cy="1754326"/>
          </a:xfrm>
          <a:prstGeom prst="rect">
            <a:avLst/>
          </a:prstGeom>
          <a:solidFill>
            <a:srgbClr val="F6FAF0"/>
          </a:solidFill>
        </p:spPr>
        <p:txBody>
          <a:bodyPr wrap="square">
            <a:spAutoFit/>
          </a:bodyPr>
          <a:lstStyle/>
          <a:p>
            <a:pPr algn="just"/>
            <a:r>
              <a:rPr lang="en-IN" dirty="0"/>
              <a:t>Input layer of the perceptron is made of artificial input neurons and takes the initial data into the system for further processing.</a:t>
            </a:r>
          </a:p>
        </p:txBody>
      </p:sp>
      <p:sp>
        <p:nvSpPr>
          <p:cNvPr id="6" name="Rectangle 5"/>
          <p:cNvSpPr/>
          <p:nvPr/>
        </p:nvSpPr>
        <p:spPr>
          <a:xfrm>
            <a:off x="273627" y="3680891"/>
            <a:ext cx="2240973" cy="1754326"/>
          </a:xfrm>
          <a:prstGeom prst="rect">
            <a:avLst/>
          </a:prstGeom>
          <a:solidFill>
            <a:schemeClr val="bg2">
              <a:lumMod val="95000"/>
            </a:schemeClr>
          </a:solidFill>
        </p:spPr>
        <p:txBody>
          <a:bodyPr wrap="square">
            <a:spAutoFit/>
          </a:bodyPr>
          <a:lstStyle/>
          <a:p>
            <a:pPr algn="just"/>
            <a:r>
              <a:rPr lang="en-IN" dirty="0"/>
              <a:t>Weight represents the strength of the connection between units. Each input neuron is associated with a weight.</a:t>
            </a:r>
          </a:p>
        </p:txBody>
      </p:sp>
      <p:sp>
        <p:nvSpPr>
          <p:cNvPr id="7" name="Rectangle 6"/>
          <p:cNvSpPr/>
          <p:nvPr/>
        </p:nvSpPr>
        <p:spPr>
          <a:xfrm>
            <a:off x="2791691" y="4915734"/>
            <a:ext cx="3456708" cy="1477328"/>
          </a:xfrm>
          <a:prstGeom prst="rect">
            <a:avLst/>
          </a:prstGeom>
          <a:solidFill>
            <a:schemeClr val="accent5">
              <a:lumMod val="20000"/>
              <a:lumOff val="80000"/>
            </a:schemeClr>
          </a:solidFill>
        </p:spPr>
        <p:txBody>
          <a:bodyPr wrap="square">
            <a:spAutoFit/>
          </a:bodyPr>
          <a:lstStyle/>
          <a:p>
            <a:pPr algn="just"/>
            <a:r>
              <a:rPr lang="en-IN" dirty="0"/>
              <a:t>Net sum calculates the total sum. A Bias term is added to the input layer to provide the perceptron with additional flexibility in modelling complex patterns in the input data.</a:t>
            </a:r>
          </a:p>
        </p:txBody>
      </p:sp>
      <p:sp>
        <p:nvSpPr>
          <p:cNvPr id="8" name="Rectangle 7"/>
          <p:cNvSpPr/>
          <p:nvPr/>
        </p:nvSpPr>
        <p:spPr>
          <a:xfrm>
            <a:off x="4048983" y="842359"/>
            <a:ext cx="4402283" cy="1477328"/>
          </a:xfrm>
          <a:prstGeom prst="rect">
            <a:avLst/>
          </a:prstGeom>
          <a:solidFill>
            <a:srgbClr val="EFF9FF"/>
          </a:solidFill>
        </p:spPr>
        <p:txBody>
          <a:bodyPr wrap="square">
            <a:spAutoFit/>
          </a:bodyPr>
          <a:lstStyle/>
          <a:p>
            <a:pPr algn="just"/>
            <a:r>
              <a:rPr lang="en-IN" dirty="0"/>
              <a:t>Activation Function: A neuron can be activated or not, is determined by an activation function. The activation function determines the output of the perceptron based on the weighted sum of the inputs and the bias term.</a:t>
            </a:r>
          </a:p>
        </p:txBody>
      </p:sp>
      <p:sp>
        <p:nvSpPr>
          <p:cNvPr id="9" name="Rectangle 8"/>
          <p:cNvSpPr/>
          <p:nvPr/>
        </p:nvSpPr>
        <p:spPr>
          <a:xfrm>
            <a:off x="6745428" y="4915734"/>
            <a:ext cx="3190009" cy="1477328"/>
          </a:xfrm>
          <a:prstGeom prst="rect">
            <a:avLst/>
          </a:prstGeom>
          <a:solidFill>
            <a:srgbClr val="DBF9F0"/>
          </a:solidFill>
        </p:spPr>
        <p:txBody>
          <a:bodyPr wrap="square">
            <a:spAutoFit/>
          </a:bodyPr>
          <a:lstStyle/>
          <a:p>
            <a:pPr algn="just"/>
            <a:r>
              <a:rPr lang="en-IN" dirty="0"/>
              <a:t>Output: The output of the perceptron is a single binary value, either 0 or 1, which indicates the class or category to which the input data belongs.</a:t>
            </a:r>
          </a:p>
        </p:txBody>
      </p:sp>
      <p:sp>
        <p:nvSpPr>
          <p:cNvPr id="10" name="Rectangle 9"/>
          <p:cNvSpPr/>
          <p:nvPr/>
        </p:nvSpPr>
        <p:spPr>
          <a:xfrm>
            <a:off x="8891155" y="1398819"/>
            <a:ext cx="3124200" cy="3139321"/>
          </a:xfrm>
          <a:prstGeom prst="rect">
            <a:avLst/>
          </a:prstGeom>
          <a:ln>
            <a:solidFill>
              <a:srgbClr val="C00000"/>
            </a:solidFill>
          </a:ln>
        </p:spPr>
        <p:txBody>
          <a:bodyPr wrap="square">
            <a:spAutoFit/>
          </a:bodyPr>
          <a:lstStyle/>
          <a:p>
            <a:pPr algn="just"/>
            <a:r>
              <a:rPr lang="en-IN" dirty="0"/>
              <a:t>The perceptron is typically trained using a supervised learning algorithm such as the perceptron learning algorithm or back-propagation. During training, the weights and biases of the perceptron are adjusted to minimize the error between the predicted output and the true output for a given set of training examples.</a:t>
            </a:r>
          </a:p>
        </p:txBody>
      </p:sp>
    </p:spTree>
    <p:extLst>
      <p:ext uri="{BB962C8B-B14F-4D97-AF65-F5344CB8AC3E}">
        <p14:creationId xmlns:p14="http://schemas.microsoft.com/office/powerpoint/2010/main" val="4287571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78D84-7A5A-FF16-3506-C8002970E48E}"/>
              </a:ext>
            </a:extLst>
          </p:cNvPr>
          <p:cNvSpPr>
            <a:spLocks noGrp="1"/>
          </p:cNvSpPr>
          <p:nvPr>
            <p:ph type="title"/>
          </p:nvPr>
        </p:nvSpPr>
        <p:spPr/>
        <p:txBody>
          <a:bodyPr/>
          <a:lstStyle/>
          <a:p>
            <a:r>
              <a:rPr lang="en-US" dirty="0"/>
              <a:t>Artificial Neural Networks</a:t>
            </a:r>
          </a:p>
        </p:txBody>
      </p:sp>
      <p:sp>
        <p:nvSpPr>
          <p:cNvPr id="3" name="Content Placeholder 2">
            <a:extLst>
              <a:ext uri="{FF2B5EF4-FFF2-40B4-BE49-F238E27FC236}">
                <a16:creationId xmlns:a16="http://schemas.microsoft.com/office/drawing/2014/main" id="{9E3A0B27-9154-485D-E5C1-C3B7FFD0B723}"/>
              </a:ext>
            </a:extLst>
          </p:cNvPr>
          <p:cNvSpPr>
            <a:spLocks noGrp="1"/>
          </p:cNvSpPr>
          <p:nvPr>
            <p:ph idx="1"/>
          </p:nvPr>
        </p:nvSpPr>
        <p:spPr/>
        <p:txBody>
          <a:bodyPr/>
          <a:lstStyle/>
          <a:p>
            <a:r>
              <a:rPr lang="en-US" dirty="0"/>
              <a:t>Computational </a:t>
            </a:r>
            <a:r>
              <a:rPr lang="en-US" dirty="0">
                <a:solidFill>
                  <a:schemeClr val="accent6"/>
                </a:solidFill>
              </a:rPr>
              <a:t>models inspired </a:t>
            </a:r>
            <a:r>
              <a:rPr lang="en-US" dirty="0"/>
              <a:t>by the </a:t>
            </a:r>
            <a:r>
              <a:rPr lang="en-US" dirty="0">
                <a:solidFill>
                  <a:schemeClr val="accent6"/>
                </a:solidFill>
              </a:rPr>
              <a:t>human brain</a:t>
            </a:r>
            <a:r>
              <a:rPr lang="en-US" dirty="0"/>
              <a:t>.</a:t>
            </a:r>
          </a:p>
          <a:p>
            <a:r>
              <a:rPr lang="en-US" dirty="0"/>
              <a:t>Algorithms </a:t>
            </a:r>
            <a:r>
              <a:rPr lang="en-US" dirty="0">
                <a:solidFill>
                  <a:schemeClr val="accent6"/>
                </a:solidFill>
              </a:rPr>
              <a:t>that try to mimic the brain</a:t>
            </a:r>
            <a:r>
              <a:rPr lang="en-US" dirty="0"/>
              <a:t>.</a:t>
            </a:r>
          </a:p>
          <a:p>
            <a:r>
              <a:rPr lang="en-US" dirty="0"/>
              <a:t>Massively </a:t>
            </a:r>
            <a:r>
              <a:rPr lang="en-US" dirty="0">
                <a:solidFill>
                  <a:schemeClr val="accent6"/>
                </a:solidFill>
              </a:rPr>
              <a:t>parallel, distributed system, made up of simple processing units </a:t>
            </a:r>
            <a:r>
              <a:rPr lang="en-US" dirty="0"/>
              <a:t>(neurons)</a:t>
            </a:r>
          </a:p>
          <a:p>
            <a:r>
              <a:rPr lang="en-US" dirty="0"/>
              <a:t>Synaptic </a:t>
            </a:r>
            <a:r>
              <a:rPr lang="en-US" dirty="0">
                <a:solidFill>
                  <a:schemeClr val="accent6"/>
                </a:solidFill>
              </a:rPr>
              <a:t>connection strengths among neurons</a:t>
            </a:r>
            <a:r>
              <a:rPr lang="en-US" dirty="0"/>
              <a:t> are used to </a:t>
            </a:r>
            <a:r>
              <a:rPr lang="en-US" dirty="0">
                <a:solidFill>
                  <a:schemeClr val="accent6"/>
                </a:solidFill>
              </a:rPr>
              <a:t>store the acquired knowledge</a:t>
            </a:r>
            <a:r>
              <a:rPr lang="en-US" dirty="0"/>
              <a:t>.</a:t>
            </a:r>
          </a:p>
          <a:p>
            <a:r>
              <a:rPr lang="en-US" dirty="0"/>
              <a:t>Knowledge is acquired by the </a:t>
            </a:r>
            <a:r>
              <a:rPr lang="en-US" dirty="0">
                <a:solidFill>
                  <a:schemeClr val="accent6"/>
                </a:solidFill>
              </a:rPr>
              <a:t>network from its environment through </a:t>
            </a:r>
            <a:r>
              <a:rPr lang="en-US" dirty="0"/>
              <a:t>a learning process</a:t>
            </a:r>
          </a:p>
          <a:p>
            <a:endParaRPr lang="en-US" dirty="0"/>
          </a:p>
        </p:txBody>
      </p:sp>
    </p:spTree>
    <p:extLst>
      <p:ext uri="{BB962C8B-B14F-4D97-AF65-F5344CB8AC3E}">
        <p14:creationId xmlns:p14="http://schemas.microsoft.com/office/powerpoint/2010/main" val="2522711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58E1A-9D4C-6A51-B3DF-40EECE513C89}"/>
              </a:ext>
            </a:extLst>
          </p:cNvPr>
          <p:cNvSpPr>
            <a:spLocks noGrp="1"/>
          </p:cNvSpPr>
          <p:nvPr>
            <p:ph type="title"/>
          </p:nvPr>
        </p:nvSpPr>
        <p:spPr/>
        <p:txBody>
          <a:bodyPr/>
          <a:lstStyle/>
          <a:p>
            <a:r>
              <a:rPr lang="en-US" dirty="0"/>
              <a:t>History of ANN</a:t>
            </a:r>
          </a:p>
        </p:txBody>
      </p:sp>
      <p:graphicFrame>
        <p:nvGraphicFramePr>
          <p:cNvPr id="4" name="Table 3">
            <a:extLst>
              <a:ext uri="{FF2B5EF4-FFF2-40B4-BE49-F238E27FC236}">
                <a16:creationId xmlns:a16="http://schemas.microsoft.com/office/drawing/2014/main" id="{725414E3-621C-06CF-0432-781A70EFD3BE}"/>
              </a:ext>
            </a:extLst>
          </p:cNvPr>
          <p:cNvGraphicFramePr>
            <a:graphicFrameLocks noGrp="1"/>
          </p:cNvGraphicFramePr>
          <p:nvPr>
            <p:extLst>
              <p:ext uri="{D42A27DB-BD31-4B8C-83A1-F6EECF244321}">
                <p14:modId xmlns:p14="http://schemas.microsoft.com/office/powerpoint/2010/main" val="3733807115"/>
              </p:ext>
            </p:extLst>
          </p:nvPr>
        </p:nvGraphicFramePr>
        <p:xfrm>
          <a:off x="141112" y="818443"/>
          <a:ext cx="11926710" cy="4175760"/>
        </p:xfrm>
        <a:graphic>
          <a:graphicData uri="http://schemas.openxmlformats.org/drawingml/2006/table">
            <a:tbl>
              <a:tblPr firstRow="1" bandRow="1">
                <a:tableStyleId>{69012ECD-51FC-41F1-AA8D-1B2483CD663E}</a:tableStyleId>
              </a:tblPr>
              <a:tblGrid>
                <a:gridCol w="1145821">
                  <a:extLst>
                    <a:ext uri="{9D8B030D-6E8A-4147-A177-3AD203B41FA5}">
                      <a16:colId xmlns:a16="http://schemas.microsoft.com/office/drawing/2014/main" val="20000"/>
                    </a:ext>
                  </a:extLst>
                </a:gridCol>
                <a:gridCol w="3184404">
                  <a:extLst>
                    <a:ext uri="{9D8B030D-6E8A-4147-A177-3AD203B41FA5}">
                      <a16:colId xmlns:a16="http://schemas.microsoft.com/office/drawing/2014/main" val="20001"/>
                    </a:ext>
                  </a:extLst>
                </a:gridCol>
                <a:gridCol w="7596485">
                  <a:extLst>
                    <a:ext uri="{9D8B030D-6E8A-4147-A177-3AD203B41FA5}">
                      <a16:colId xmlns:a16="http://schemas.microsoft.com/office/drawing/2014/main" val="20002"/>
                    </a:ext>
                  </a:extLst>
                </a:gridCol>
              </a:tblGrid>
              <a:tr h="366796">
                <a:tc>
                  <a:txBody>
                    <a:bodyPr/>
                    <a:lstStyle/>
                    <a:p>
                      <a:r>
                        <a:rPr sz="2000">
                          <a:latin typeface="+mn-lt"/>
                        </a:rPr>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Researcher(s)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Contribution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6796">
                <a:tc>
                  <a:txBody>
                    <a:bodyPr/>
                    <a:lstStyle/>
                    <a:p>
                      <a:r>
                        <a:rPr sz="2000" dirty="0">
                          <a:latin typeface="+mn-lt"/>
                        </a:rPr>
                        <a:t>1943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Warren McCulloch &amp; Walter Pitts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a:latin typeface="+mn-lt"/>
                        </a:rPr>
                        <a:t>Modeled neurons using electrical circuits.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6796">
                <a:tc>
                  <a:txBody>
                    <a:bodyPr/>
                    <a:lstStyle/>
                    <a:p>
                      <a:r>
                        <a:rPr sz="2000">
                          <a:latin typeface="+mn-lt"/>
                        </a:rPr>
                        <a:t>1949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Donald Hebb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Introduced Hebbian learning—neural pathways strengthen with use.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6796">
                <a:tc>
                  <a:txBody>
                    <a:bodyPr/>
                    <a:lstStyle/>
                    <a:p>
                      <a:r>
                        <a:rPr sz="2000">
                          <a:latin typeface="+mn-lt"/>
                        </a:rPr>
                        <a:t>1950s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Nathanial Rochester (IBM)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First attempt to simulate a neural network (failed).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41894">
                <a:tc>
                  <a:txBody>
                    <a:bodyPr/>
                    <a:lstStyle/>
                    <a:p>
                      <a:r>
                        <a:rPr sz="2000">
                          <a:latin typeface="+mn-lt"/>
                        </a:rPr>
                        <a:t>1959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a:latin typeface="+mn-lt"/>
                        </a:rPr>
                        <a:t>Bernard Widrow &amp; Marcian Hoff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Developed ADALINE &amp; MADALINE for binary pattern recognition and echo cancellation.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66796">
                <a:tc>
                  <a:txBody>
                    <a:bodyPr/>
                    <a:lstStyle/>
                    <a:p>
                      <a:r>
                        <a:rPr sz="2000">
                          <a:latin typeface="+mn-lt"/>
                        </a:rPr>
                        <a:t>1962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a:latin typeface="+mn-lt"/>
                        </a:rPr>
                        <a:t>Widrow &amp; Hoff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Developed a weight-adjusting learning rule for </a:t>
                      </a:r>
                      <a:r>
                        <a:rPr sz="2000" dirty="0" err="1">
                          <a:latin typeface="+mn-lt"/>
                        </a:rPr>
                        <a:t>perceptrons</a:t>
                      </a:r>
                      <a:r>
                        <a:rPr sz="2000" dirty="0">
                          <a:latin typeface="+mn-lt"/>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66796">
                <a:tc>
                  <a:txBody>
                    <a:bodyPr/>
                    <a:lstStyle/>
                    <a:p>
                      <a:r>
                        <a:rPr sz="2000">
                          <a:latin typeface="+mn-lt"/>
                        </a:rPr>
                        <a:t>1972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a:latin typeface="+mn-lt"/>
                        </a:rPr>
                        <a:t>Kohonen &amp; Anderson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Independently developed similar networks using matrix mathematics.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66796">
                <a:tc>
                  <a:txBody>
                    <a:bodyPr/>
                    <a:lstStyle/>
                    <a:p>
                      <a:r>
                        <a:rPr sz="2000">
                          <a:latin typeface="+mn-lt"/>
                        </a:rPr>
                        <a:t>1975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a:latin typeface="+mn-lt"/>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First multilayered neural network (unsupervised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66796">
                <a:tc>
                  <a:txBody>
                    <a:bodyPr/>
                    <a:lstStyle/>
                    <a:p>
                      <a:r>
                        <a:rPr sz="2000">
                          <a:latin typeface="+mn-lt"/>
                        </a:rPr>
                        <a:t>1982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a:latin typeface="+mn-lt"/>
                        </a:rPr>
                        <a:t>John Hopfield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Introduced bidirectional connections in neural networks.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731106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58E1A-9D4C-6A51-B3DF-40EECE513C89}"/>
              </a:ext>
            </a:extLst>
          </p:cNvPr>
          <p:cNvSpPr>
            <a:spLocks noGrp="1"/>
          </p:cNvSpPr>
          <p:nvPr>
            <p:ph type="title"/>
          </p:nvPr>
        </p:nvSpPr>
        <p:spPr/>
        <p:txBody>
          <a:bodyPr/>
          <a:lstStyle/>
          <a:p>
            <a:r>
              <a:rPr lang="en-US" dirty="0"/>
              <a:t>History of ANN</a:t>
            </a:r>
          </a:p>
        </p:txBody>
      </p:sp>
      <p:graphicFrame>
        <p:nvGraphicFramePr>
          <p:cNvPr id="4" name="Table 3">
            <a:extLst>
              <a:ext uri="{FF2B5EF4-FFF2-40B4-BE49-F238E27FC236}">
                <a16:creationId xmlns:a16="http://schemas.microsoft.com/office/drawing/2014/main" id="{725414E3-621C-06CF-0432-781A70EFD3BE}"/>
              </a:ext>
            </a:extLst>
          </p:cNvPr>
          <p:cNvGraphicFramePr>
            <a:graphicFrameLocks noGrp="1"/>
          </p:cNvGraphicFramePr>
          <p:nvPr>
            <p:extLst>
              <p:ext uri="{D42A27DB-BD31-4B8C-83A1-F6EECF244321}">
                <p14:modId xmlns:p14="http://schemas.microsoft.com/office/powerpoint/2010/main" val="728353942"/>
              </p:ext>
            </p:extLst>
          </p:nvPr>
        </p:nvGraphicFramePr>
        <p:xfrm>
          <a:off x="141112" y="818443"/>
          <a:ext cx="11926710" cy="2895600"/>
        </p:xfrm>
        <a:graphic>
          <a:graphicData uri="http://schemas.openxmlformats.org/drawingml/2006/table">
            <a:tbl>
              <a:tblPr firstRow="1" bandRow="1">
                <a:tableStyleId>{69012ECD-51FC-41F1-AA8D-1B2483CD663E}</a:tableStyleId>
              </a:tblPr>
              <a:tblGrid>
                <a:gridCol w="1179688">
                  <a:extLst>
                    <a:ext uri="{9D8B030D-6E8A-4147-A177-3AD203B41FA5}">
                      <a16:colId xmlns:a16="http://schemas.microsoft.com/office/drawing/2014/main" val="20000"/>
                    </a:ext>
                  </a:extLst>
                </a:gridCol>
                <a:gridCol w="3150537">
                  <a:extLst>
                    <a:ext uri="{9D8B030D-6E8A-4147-A177-3AD203B41FA5}">
                      <a16:colId xmlns:a16="http://schemas.microsoft.com/office/drawing/2014/main" val="20001"/>
                    </a:ext>
                  </a:extLst>
                </a:gridCol>
                <a:gridCol w="7596485">
                  <a:extLst>
                    <a:ext uri="{9D8B030D-6E8A-4147-A177-3AD203B41FA5}">
                      <a16:colId xmlns:a16="http://schemas.microsoft.com/office/drawing/2014/main" val="20002"/>
                    </a:ext>
                  </a:extLst>
                </a:gridCol>
              </a:tblGrid>
              <a:tr h="366796">
                <a:tc>
                  <a:txBody>
                    <a:bodyPr/>
                    <a:lstStyle/>
                    <a:p>
                      <a:r>
                        <a:rPr sz="2000">
                          <a:latin typeface="+mn-lt"/>
                        </a:rPr>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Researcher(s)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Contribution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6796">
                <a:tc>
                  <a:txBody>
                    <a:bodyPr/>
                    <a:lstStyle/>
                    <a:p>
                      <a:r>
                        <a:rPr sz="2000" dirty="0">
                          <a:latin typeface="+mn-lt"/>
                        </a:rPr>
                        <a:t>1982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Reilly &amp; Cooper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Developed a 'Hybrid network' with multiple layers using different strategies.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641894">
                <a:tc>
                  <a:txBody>
                    <a:bodyPr/>
                    <a:lstStyle/>
                    <a:p>
                      <a:r>
                        <a:rPr sz="2000">
                          <a:latin typeface="+mn-lt"/>
                        </a:rPr>
                        <a:t>1982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US-Japan Conference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a:latin typeface="+mn-lt"/>
                        </a:rPr>
                        <a:t>Japan announced its Fifth Generation computing effort, leading to renewed US interest and funding.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366796">
                <a:tc>
                  <a:txBody>
                    <a:bodyPr/>
                    <a:lstStyle/>
                    <a:p>
                      <a:r>
                        <a:rPr sz="2000">
                          <a:latin typeface="+mn-lt"/>
                        </a:rPr>
                        <a:t>1986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David </a:t>
                      </a:r>
                      <a:r>
                        <a:rPr sz="2000" dirty="0" err="1">
                          <a:latin typeface="+mn-lt"/>
                        </a:rPr>
                        <a:t>Rumelhart</a:t>
                      </a:r>
                      <a:r>
                        <a:rPr sz="2000" dirty="0">
                          <a:latin typeface="+mn-lt"/>
                        </a:rPr>
                        <a:t> &amp; others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a:latin typeface="+mn-lt"/>
                        </a:rPr>
                        <a:t>Developed backpropagation networks, enabling multilayered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641894">
                <a:tc>
                  <a:txBody>
                    <a:bodyPr/>
                    <a:lstStyle/>
                    <a:p>
                      <a:r>
                        <a:rPr sz="2000">
                          <a:latin typeface="+mn-lt"/>
                        </a:rPr>
                        <a:t>Present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a:latin typeface="+mn-lt"/>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2000" dirty="0">
                          <a:latin typeface="+mn-lt"/>
                        </a:rPr>
                        <a:t>Neural networks are widely used, with ongoing research into specialized hardware (digital, analog, and optical chips) for efficiency.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3" name="TextBox 2">
            <a:extLst>
              <a:ext uri="{FF2B5EF4-FFF2-40B4-BE49-F238E27FC236}">
                <a16:creationId xmlns:a16="http://schemas.microsoft.com/office/drawing/2014/main" id="{88EA0CA6-444C-FB43-4F68-FB0ACDD33CF1}"/>
              </a:ext>
            </a:extLst>
          </p:cNvPr>
          <p:cNvSpPr txBox="1"/>
          <p:nvPr/>
        </p:nvSpPr>
        <p:spPr>
          <a:xfrm>
            <a:off x="141112" y="3917244"/>
            <a:ext cx="6675225" cy="461665"/>
          </a:xfrm>
          <a:prstGeom prst="rect">
            <a:avLst/>
          </a:prstGeom>
          <a:noFill/>
        </p:spPr>
        <p:txBody>
          <a:bodyPr wrap="none" rtlCol="0">
            <a:spAutoFit/>
          </a:bodyPr>
          <a:lstStyle/>
          <a:p>
            <a:r>
              <a:rPr lang="en-US" sz="1200" dirty="0" err="1"/>
              <a:t>Ref:https</a:t>
            </a:r>
            <a:r>
              <a:rPr lang="en-US" sz="1200" dirty="0"/>
              <a:t>://</a:t>
            </a:r>
            <a:r>
              <a:rPr lang="en-US" sz="1200" dirty="0" err="1"/>
              <a:t>cs.stanford.edu</a:t>
            </a:r>
            <a:r>
              <a:rPr lang="en-US" sz="1200" dirty="0"/>
              <a:t>/people/</a:t>
            </a:r>
            <a:r>
              <a:rPr lang="en-US" sz="1200" dirty="0" err="1"/>
              <a:t>eroberts</a:t>
            </a:r>
            <a:r>
              <a:rPr lang="en-US" sz="1200" dirty="0"/>
              <a:t>/courses/</a:t>
            </a:r>
            <a:r>
              <a:rPr lang="en-US" sz="1200" dirty="0" err="1"/>
              <a:t>soco</a:t>
            </a:r>
            <a:r>
              <a:rPr lang="en-US" sz="1200" dirty="0"/>
              <a:t>/projects/neural-networks/History/history1.html</a:t>
            </a:r>
          </a:p>
          <a:p>
            <a:endParaRPr lang="en-US" sz="1200" dirty="0"/>
          </a:p>
        </p:txBody>
      </p:sp>
    </p:spTree>
    <p:extLst>
      <p:ext uri="{BB962C8B-B14F-4D97-AF65-F5344CB8AC3E}">
        <p14:creationId xmlns:p14="http://schemas.microsoft.com/office/powerpoint/2010/main" val="825529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11F5F-699E-A213-F255-D5B8783890BE}"/>
              </a:ext>
            </a:extLst>
          </p:cNvPr>
          <p:cNvSpPr>
            <a:spLocks noGrp="1"/>
          </p:cNvSpPr>
          <p:nvPr>
            <p:ph type="title"/>
          </p:nvPr>
        </p:nvSpPr>
        <p:spPr/>
        <p:txBody>
          <a:bodyPr/>
          <a:lstStyle/>
          <a:p>
            <a:r>
              <a:rPr lang="en-US" dirty="0"/>
              <a:t>Different Network Topologies</a:t>
            </a:r>
          </a:p>
        </p:txBody>
      </p:sp>
      <p:sp>
        <p:nvSpPr>
          <p:cNvPr id="3" name="Content Placeholder 2">
            <a:extLst>
              <a:ext uri="{FF2B5EF4-FFF2-40B4-BE49-F238E27FC236}">
                <a16:creationId xmlns:a16="http://schemas.microsoft.com/office/drawing/2014/main" id="{902D4951-E571-26ED-92EA-AAAEB7555217}"/>
              </a:ext>
            </a:extLst>
          </p:cNvPr>
          <p:cNvSpPr>
            <a:spLocks noGrp="1"/>
          </p:cNvSpPr>
          <p:nvPr>
            <p:ph idx="1"/>
          </p:nvPr>
        </p:nvSpPr>
        <p:spPr>
          <a:xfrm>
            <a:off x="131180" y="863445"/>
            <a:ext cx="11929641" cy="536378"/>
          </a:xfrm>
        </p:spPr>
        <p:txBody>
          <a:bodyPr/>
          <a:lstStyle/>
          <a:p>
            <a:r>
              <a:rPr lang="en-US" dirty="0"/>
              <a:t>1) </a:t>
            </a:r>
            <a:r>
              <a:rPr lang="en-US" b="1" dirty="0"/>
              <a:t>Single Layer feed-forward networks:</a:t>
            </a:r>
          </a:p>
        </p:txBody>
      </p:sp>
      <p:sp>
        <p:nvSpPr>
          <p:cNvPr id="27" name="Text Box 27">
            <a:extLst>
              <a:ext uri="{FF2B5EF4-FFF2-40B4-BE49-F238E27FC236}">
                <a16:creationId xmlns:a16="http://schemas.microsoft.com/office/drawing/2014/main" id="{8BDA0E66-1700-DA9E-D222-56C122DB7444}"/>
              </a:ext>
            </a:extLst>
          </p:cNvPr>
          <p:cNvSpPr txBox="1">
            <a:spLocks noChangeArrowheads="1"/>
          </p:cNvSpPr>
          <p:nvPr/>
        </p:nvSpPr>
        <p:spPr bwMode="auto">
          <a:xfrm>
            <a:off x="9207229" y="1105427"/>
            <a:ext cx="1710725" cy="830997"/>
          </a:xfrm>
          <a:prstGeom prst="rect">
            <a:avLst/>
          </a:prstGeom>
          <a:ln>
            <a:solidFill>
              <a:schemeClr val="bg1"/>
            </a:solidFill>
          </a:ln>
        </p:spPr>
        <p:style>
          <a:lnRef idx="2">
            <a:schemeClr val="accent6">
              <a:shade val="15000"/>
            </a:schemeClr>
          </a:lnRef>
          <a:fillRef idx="1">
            <a:schemeClr val="accent6"/>
          </a:fillRef>
          <a:effectRef idx="0">
            <a:schemeClr val="accent6"/>
          </a:effectRef>
          <a:fontRef idx="minor">
            <a:schemeClr val="lt1"/>
          </a:fontRef>
        </p:style>
        <p:txBody>
          <a:bodyPr wrap="none">
            <a:spAutoFit/>
          </a:bodyPr>
          <a:lstStyle/>
          <a:p>
            <a:pPr algn="ctr" eaLnBrk="0" hangingPunct="0"/>
            <a:r>
              <a:rPr lang="en-AU" altLang="en-US" sz="2400" b="1" dirty="0">
                <a:solidFill>
                  <a:schemeClr val="bg1"/>
                </a:solidFill>
              </a:rPr>
              <a:t>Single layer </a:t>
            </a:r>
          </a:p>
          <a:p>
            <a:pPr algn="ctr" eaLnBrk="0" hangingPunct="0"/>
            <a:r>
              <a:rPr lang="en-AU" altLang="en-US" sz="2400" b="1" dirty="0">
                <a:solidFill>
                  <a:schemeClr val="bg1"/>
                </a:solidFill>
              </a:rPr>
              <a:t>network</a:t>
            </a:r>
          </a:p>
        </p:txBody>
      </p:sp>
      <p:sp>
        <p:nvSpPr>
          <p:cNvPr id="33" name="Oval 32">
            <a:extLst>
              <a:ext uri="{FF2B5EF4-FFF2-40B4-BE49-F238E27FC236}">
                <a16:creationId xmlns:a16="http://schemas.microsoft.com/office/drawing/2014/main" id="{270FA0DB-9E2C-7F99-5480-DC1B8773C127}"/>
              </a:ext>
            </a:extLst>
          </p:cNvPr>
          <p:cNvSpPr>
            <a:spLocks noChangeArrowheads="1"/>
          </p:cNvSpPr>
          <p:nvPr/>
        </p:nvSpPr>
        <p:spPr bwMode="auto">
          <a:xfrm rot="5400000">
            <a:off x="7812878" y="2374159"/>
            <a:ext cx="539756" cy="501650"/>
          </a:xfrm>
          <a:prstGeom prst="ellipse">
            <a:avLst/>
          </a:prstGeom>
          <a:solidFill>
            <a:schemeClr val="accent5">
              <a:lumMod val="60000"/>
              <a:lumOff val="40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4" name="Oval 33">
            <a:extLst>
              <a:ext uri="{FF2B5EF4-FFF2-40B4-BE49-F238E27FC236}">
                <a16:creationId xmlns:a16="http://schemas.microsoft.com/office/drawing/2014/main" id="{CE4C37F3-347F-D95A-3CE1-792C8F8985F3}"/>
              </a:ext>
            </a:extLst>
          </p:cNvPr>
          <p:cNvSpPr>
            <a:spLocks noChangeArrowheads="1"/>
          </p:cNvSpPr>
          <p:nvPr/>
        </p:nvSpPr>
        <p:spPr bwMode="auto">
          <a:xfrm rot="5400000">
            <a:off x="7785891" y="3485421"/>
            <a:ext cx="539756" cy="501650"/>
          </a:xfrm>
          <a:prstGeom prst="ellipse">
            <a:avLst/>
          </a:prstGeom>
          <a:solidFill>
            <a:schemeClr val="accent5">
              <a:lumMod val="60000"/>
              <a:lumOff val="40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5" name="Oval 34">
            <a:extLst>
              <a:ext uri="{FF2B5EF4-FFF2-40B4-BE49-F238E27FC236}">
                <a16:creationId xmlns:a16="http://schemas.microsoft.com/office/drawing/2014/main" id="{06738278-886B-9EE2-C606-9C4A03634EA0}"/>
              </a:ext>
            </a:extLst>
          </p:cNvPr>
          <p:cNvSpPr>
            <a:spLocks noChangeArrowheads="1"/>
          </p:cNvSpPr>
          <p:nvPr/>
        </p:nvSpPr>
        <p:spPr bwMode="auto">
          <a:xfrm rot="5400000">
            <a:off x="7785891" y="4539532"/>
            <a:ext cx="539756" cy="501650"/>
          </a:xfrm>
          <a:prstGeom prst="ellipse">
            <a:avLst/>
          </a:prstGeom>
          <a:solidFill>
            <a:schemeClr val="accent5">
              <a:lumMod val="60000"/>
              <a:lumOff val="40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9" name="Oval 38">
            <a:extLst>
              <a:ext uri="{FF2B5EF4-FFF2-40B4-BE49-F238E27FC236}">
                <a16:creationId xmlns:a16="http://schemas.microsoft.com/office/drawing/2014/main" id="{CC5501AD-9F0E-AB55-9F52-BD1DE1998E63}"/>
              </a:ext>
            </a:extLst>
          </p:cNvPr>
          <p:cNvSpPr>
            <a:spLocks noChangeArrowheads="1"/>
          </p:cNvSpPr>
          <p:nvPr/>
        </p:nvSpPr>
        <p:spPr bwMode="auto">
          <a:xfrm rot="5400000">
            <a:off x="2141006" y="2858446"/>
            <a:ext cx="538169" cy="501650"/>
          </a:xfrm>
          <a:prstGeom prst="ellipse">
            <a:avLst/>
          </a:prstGeom>
          <a:solidFill>
            <a:schemeClr val="tx2">
              <a:lumMod val="75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0" name="Oval 39">
            <a:extLst>
              <a:ext uri="{FF2B5EF4-FFF2-40B4-BE49-F238E27FC236}">
                <a16:creationId xmlns:a16="http://schemas.microsoft.com/office/drawing/2014/main" id="{2CE2AFF3-F812-9158-C8C1-60988B3EE7A9}"/>
              </a:ext>
            </a:extLst>
          </p:cNvPr>
          <p:cNvSpPr>
            <a:spLocks noChangeArrowheads="1"/>
          </p:cNvSpPr>
          <p:nvPr/>
        </p:nvSpPr>
        <p:spPr bwMode="auto">
          <a:xfrm rot="5400000">
            <a:off x="2171168" y="4195135"/>
            <a:ext cx="538169" cy="501650"/>
          </a:xfrm>
          <a:prstGeom prst="ellipse">
            <a:avLst/>
          </a:prstGeom>
          <a:solidFill>
            <a:schemeClr val="tx2">
              <a:lumMod val="75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1" name="Line 13">
            <a:extLst>
              <a:ext uri="{FF2B5EF4-FFF2-40B4-BE49-F238E27FC236}">
                <a16:creationId xmlns:a16="http://schemas.microsoft.com/office/drawing/2014/main" id="{954F1E3B-BF8D-A96E-98DD-CCF3DA65F2C6}"/>
              </a:ext>
            </a:extLst>
          </p:cNvPr>
          <p:cNvSpPr>
            <a:spLocks noChangeShapeType="1"/>
          </p:cNvSpPr>
          <p:nvPr/>
        </p:nvSpPr>
        <p:spPr bwMode="auto">
          <a:xfrm rot="5400000" flipH="1" flipV="1">
            <a:off x="4998213" y="285392"/>
            <a:ext cx="486111" cy="5148002"/>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Line 14">
            <a:extLst>
              <a:ext uri="{FF2B5EF4-FFF2-40B4-BE49-F238E27FC236}">
                <a16:creationId xmlns:a16="http://schemas.microsoft.com/office/drawing/2014/main" id="{3D1D572F-15B3-9BF2-1571-A3E496845775}"/>
              </a:ext>
            </a:extLst>
          </p:cNvPr>
          <p:cNvSpPr>
            <a:spLocks noChangeShapeType="1"/>
          </p:cNvSpPr>
          <p:nvPr/>
        </p:nvSpPr>
        <p:spPr bwMode="auto">
          <a:xfrm rot="5400000" flipV="1">
            <a:off x="4885061" y="881957"/>
            <a:ext cx="648919" cy="5097204"/>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 name="Line 15">
            <a:extLst>
              <a:ext uri="{FF2B5EF4-FFF2-40B4-BE49-F238E27FC236}">
                <a16:creationId xmlns:a16="http://schemas.microsoft.com/office/drawing/2014/main" id="{EE8FD1A7-B019-E96F-E215-ACE595CC9FB2}"/>
              </a:ext>
            </a:extLst>
          </p:cNvPr>
          <p:cNvSpPr>
            <a:spLocks noChangeShapeType="1"/>
          </p:cNvSpPr>
          <p:nvPr/>
        </p:nvSpPr>
        <p:spPr bwMode="auto">
          <a:xfrm rot="5400000" flipV="1">
            <a:off x="4417936" y="1367999"/>
            <a:ext cx="1646666" cy="5148002"/>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 name="Line 16">
            <a:extLst>
              <a:ext uri="{FF2B5EF4-FFF2-40B4-BE49-F238E27FC236}">
                <a16:creationId xmlns:a16="http://schemas.microsoft.com/office/drawing/2014/main" id="{E9DA7E1F-876C-C7C6-F51C-5F372EB08836}"/>
              </a:ext>
            </a:extLst>
          </p:cNvPr>
          <p:cNvSpPr>
            <a:spLocks noChangeShapeType="1"/>
          </p:cNvSpPr>
          <p:nvPr/>
        </p:nvSpPr>
        <p:spPr bwMode="auto">
          <a:xfrm rot="5400000" flipH="1" flipV="1">
            <a:off x="4386145" y="974776"/>
            <a:ext cx="1734844" cy="5090049"/>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 name="Line 17">
            <a:extLst>
              <a:ext uri="{FF2B5EF4-FFF2-40B4-BE49-F238E27FC236}">
                <a16:creationId xmlns:a16="http://schemas.microsoft.com/office/drawing/2014/main" id="{F1A2643C-5B6A-3163-480C-833E19B0807E}"/>
              </a:ext>
            </a:extLst>
          </p:cNvPr>
          <p:cNvSpPr>
            <a:spLocks noChangeShapeType="1"/>
          </p:cNvSpPr>
          <p:nvPr/>
        </p:nvSpPr>
        <p:spPr bwMode="auto">
          <a:xfrm rot="5400000" flipH="1" flipV="1">
            <a:off x="4942621" y="1555749"/>
            <a:ext cx="594124" cy="5097204"/>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 name="Line 18">
            <a:extLst>
              <a:ext uri="{FF2B5EF4-FFF2-40B4-BE49-F238E27FC236}">
                <a16:creationId xmlns:a16="http://schemas.microsoft.com/office/drawing/2014/main" id="{9CCCE667-7B5F-15D0-8E20-5ECA52B89DF1}"/>
              </a:ext>
            </a:extLst>
          </p:cNvPr>
          <p:cNvSpPr>
            <a:spLocks noChangeShapeType="1"/>
          </p:cNvSpPr>
          <p:nvPr/>
        </p:nvSpPr>
        <p:spPr bwMode="auto">
          <a:xfrm rot="5400000" flipV="1">
            <a:off x="5066573" y="2083959"/>
            <a:ext cx="316055" cy="5067047"/>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 name="Line 28">
            <a:extLst>
              <a:ext uri="{FF2B5EF4-FFF2-40B4-BE49-F238E27FC236}">
                <a16:creationId xmlns:a16="http://schemas.microsoft.com/office/drawing/2014/main" id="{6ACBC169-4476-61F4-A9A8-46DC48660919}"/>
              </a:ext>
            </a:extLst>
          </p:cNvPr>
          <p:cNvSpPr>
            <a:spLocks noChangeShapeType="1"/>
          </p:cNvSpPr>
          <p:nvPr/>
        </p:nvSpPr>
        <p:spPr bwMode="auto">
          <a:xfrm rot="5400000" flipV="1">
            <a:off x="1707621" y="2585395"/>
            <a:ext cx="0" cy="903288"/>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 name="Line 29">
            <a:extLst>
              <a:ext uri="{FF2B5EF4-FFF2-40B4-BE49-F238E27FC236}">
                <a16:creationId xmlns:a16="http://schemas.microsoft.com/office/drawing/2014/main" id="{8C16FE0C-29AB-0B04-9C05-CD655DBF20B7}"/>
              </a:ext>
            </a:extLst>
          </p:cNvPr>
          <p:cNvSpPr>
            <a:spLocks noChangeShapeType="1"/>
          </p:cNvSpPr>
          <p:nvPr/>
        </p:nvSpPr>
        <p:spPr bwMode="auto">
          <a:xfrm rot="5400000" flipV="1">
            <a:off x="1681428" y="4008604"/>
            <a:ext cx="0" cy="9017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 name="Line 30">
            <a:extLst>
              <a:ext uri="{FF2B5EF4-FFF2-40B4-BE49-F238E27FC236}">
                <a16:creationId xmlns:a16="http://schemas.microsoft.com/office/drawing/2014/main" id="{A5B5717D-04F4-DB82-6463-5C6372F8869B}"/>
              </a:ext>
            </a:extLst>
          </p:cNvPr>
          <p:cNvSpPr>
            <a:spLocks noChangeShapeType="1"/>
          </p:cNvSpPr>
          <p:nvPr/>
        </p:nvSpPr>
        <p:spPr bwMode="auto">
          <a:xfrm rot="5400000" flipV="1">
            <a:off x="8784431" y="3276553"/>
            <a:ext cx="0" cy="9017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 name="Line 31">
            <a:extLst>
              <a:ext uri="{FF2B5EF4-FFF2-40B4-BE49-F238E27FC236}">
                <a16:creationId xmlns:a16="http://schemas.microsoft.com/office/drawing/2014/main" id="{86207166-538C-B8BC-5AE0-BEFDDB03D661}"/>
              </a:ext>
            </a:extLst>
          </p:cNvPr>
          <p:cNvSpPr>
            <a:spLocks noChangeShapeType="1"/>
          </p:cNvSpPr>
          <p:nvPr/>
        </p:nvSpPr>
        <p:spPr bwMode="auto">
          <a:xfrm rot="5400000" flipV="1">
            <a:off x="8784431" y="4299192"/>
            <a:ext cx="0" cy="9017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 name="Line 30">
            <a:extLst>
              <a:ext uri="{FF2B5EF4-FFF2-40B4-BE49-F238E27FC236}">
                <a16:creationId xmlns:a16="http://schemas.microsoft.com/office/drawing/2014/main" id="{BC81FAD6-312F-27E6-B7F1-407D370ECB06}"/>
              </a:ext>
            </a:extLst>
          </p:cNvPr>
          <p:cNvSpPr>
            <a:spLocks noChangeShapeType="1"/>
          </p:cNvSpPr>
          <p:nvPr/>
        </p:nvSpPr>
        <p:spPr bwMode="auto">
          <a:xfrm rot="5400000" flipV="1">
            <a:off x="8784431" y="2201806"/>
            <a:ext cx="0" cy="9017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 name="Text Box 26">
            <a:extLst>
              <a:ext uri="{FF2B5EF4-FFF2-40B4-BE49-F238E27FC236}">
                <a16:creationId xmlns:a16="http://schemas.microsoft.com/office/drawing/2014/main" id="{16E88F3D-6CD6-7AE1-C223-5B7093B6D7CB}"/>
              </a:ext>
            </a:extLst>
          </p:cNvPr>
          <p:cNvSpPr txBox="1">
            <a:spLocks noChangeArrowheads="1"/>
          </p:cNvSpPr>
          <p:nvPr/>
        </p:nvSpPr>
        <p:spPr bwMode="auto">
          <a:xfrm>
            <a:off x="1643857" y="5785822"/>
            <a:ext cx="153246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AU" altLang="en-US" sz="2400" dirty="0"/>
              <a:t>Input Layer</a:t>
            </a:r>
          </a:p>
        </p:txBody>
      </p:sp>
      <p:sp>
        <p:nvSpPr>
          <p:cNvPr id="63" name="Text Box 26">
            <a:extLst>
              <a:ext uri="{FF2B5EF4-FFF2-40B4-BE49-F238E27FC236}">
                <a16:creationId xmlns:a16="http://schemas.microsoft.com/office/drawing/2014/main" id="{817F7A33-A5D2-11E7-8A81-19CEB356AD05}"/>
              </a:ext>
            </a:extLst>
          </p:cNvPr>
          <p:cNvSpPr txBox="1">
            <a:spLocks noChangeArrowheads="1"/>
          </p:cNvSpPr>
          <p:nvPr/>
        </p:nvSpPr>
        <p:spPr bwMode="auto">
          <a:xfrm>
            <a:off x="7223391" y="5814957"/>
            <a:ext cx="17922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AU" altLang="en-US" sz="2400" dirty="0"/>
              <a:t>Output Layer</a:t>
            </a:r>
          </a:p>
        </p:txBody>
      </p:sp>
      <p:sp>
        <p:nvSpPr>
          <p:cNvPr id="64" name="Rectangle 63">
            <a:extLst>
              <a:ext uri="{FF2B5EF4-FFF2-40B4-BE49-F238E27FC236}">
                <a16:creationId xmlns:a16="http://schemas.microsoft.com/office/drawing/2014/main" id="{B2805ECE-6275-B6AC-B313-070D9A8F48A1}"/>
              </a:ext>
            </a:extLst>
          </p:cNvPr>
          <p:cNvSpPr>
            <a:spLocks noChangeArrowheads="1"/>
          </p:cNvSpPr>
          <p:nvPr/>
        </p:nvSpPr>
        <p:spPr bwMode="auto">
          <a:xfrm>
            <a:off x="752565" y="2124861"/>
            <a:ext cx="2423758" cy="83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2400" b="1" dirty="0">
                <a:latin typeface="+mn-lt"/>
              </a:rPr>
              <a:t>Input  Record :      x</a:t>
            </a:r>
            <a:r>
              <a:rPr lang="en-US" altLang="en-US" sz="2400" b="1" i="1" baseline="-25000" dirty="0">
                <a:latin typeface="+mn-lt"/>
              </a:rPr>
              <a:t>i </a:t>
            </a:r>
          </a:p>
        </p:txBody>
      </p:sp>
      <p:sp>
        <p:nvSpPr>
          <p:cNvPr id="65" name="Rectangle 64">
            <a:extLst>
              <a:ext uri="{FF2B5EF4-FFF2-40B4-BE49-F238E27FC236}">
                <a16:creationId xmlns:a16="http://schemas.microsoft.com/office/drawing/2014/main" id="{D2C51895-7D86-19F8-07C2-B83DC063FE64}"/>
              </a:ext>
            </a:extLst>
          </p:cNvPr>
          <p:cNvSpPr>
            <a:spLocks noChangeArrowheads="1"/>
          </p:cNvSpPr>
          <p:nvPr/>
        </p:nvSpPr>
        <p:spPr bwMode="auto">
          <a:xfrm>
            <a:off x="1682661" y="2981189"/>
            <a:ext cx="501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i="1" dirty="0" err="1">
                <a:latin typeface="Times New Roman" panose="02020603050405020304" pitchFamily="18" charset="0"/>
              </a:rPr>
              <a:t>w</a:t>
            </a:r>
            <a:r>
              <a:rPr lang="en-US" altLang="en-US" sz="2400" i="1" baseline="-25000" dirty="0" err="1">
                <a:latin typeface="Times New Roman" panose="02020603050405020304" pitchFamily="18" charset="0"/>
              </a:rPr>
              <a:t>ij</a:t>
            </a:r>
            <a:endParaRPr lang="en-US" altLang="en-US" sz="2400" i="1" baseline="-25000" dirty="0">
              <a:latin typeface="Times New Roman" panose="02020603050405020304" pitchFamily="18" charset="0"/>
            </a:endParaRPr>
          </a:p>
        </p:txBody>
      </p:sp>
    </p:spTree>
    <p:extLst>
      <p:ext uri="{BB962C8B-B14F-4D97-AF65-F5344CB8AC3E}">
        <p14:creationId xmlns:p14="http://schemas.microsoft.com/office/powerpoint/2010/main" val="1792162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7" grpId="0" animBg="1"/>
      <p:bldP spid="33" grpId="0" animBg="1"/>
      <p:bldP spid="34" grpId="0" animBg="1"/>
      <p:bldP spid="35" grpId="0" animBg="1"/>
      <p:bldP spid="39" grpId="0" animBg="1"/>
      <p:bldP spid="40" grpId="0" animBg="1"/>
      <p:bldP spid="41" grpId="0" animBg="1"/>
      <p:bldP spid="42" grpId="0" animBg="1"/>
      <p:bldP spid="43" grpId="0" animBg="1"/>
      <p:bldP spid="44" grpId="0" animBg="1"/>
      <p:bldP spid="45" grpId="0" animBg="1"/>
      <p:bldP spid="46" grpId="0" animBg="1"/>
      <p:bldP spid="56" grpId="0" animBg="1"/>
      <p:bldP spid="57" grpId="0" animBg="1"/>
      <p:bldP spid="58" grpId="0" animBg="1"/>
      <p:bldP spid="59" grpId="0" animBg="1"/>
      <p:bldP spid="60" grpId="0" animBg="1"/>
      <p:bldP spid="61" grpId="0"/>
      <p:bldP spid="63" grpId="0"/>
      <p:bldP spid="64" grpId="0"/>
      <p:bldP spid="6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82A82-40FE-3A74-EEB0-EC5A8B6DF6CD}"/>
              </a:ext>
            </a:extLst>
          </p:cNvPr>
          <p:cNvSpPr>
            <a:spLocks noGrp="1"/>
          </p:cNvSpPr>
          <p:nvPr>
            <p:ph type="title"/>
          </p:nvPr>
        </p:nvSpPr>
        <p:spPr/>
        <p:txBody>
          <a:bodyPr/>
          <a:lstStyle/>
          <a:p>
            <a:r>
              <a:rPr lang="en-US" dirty="0"/>
              <a:t>Different Network Topologies</a:t>
            </a:r>
          </a:p>
        </p:txBody>
      </p:sp>
      <p:sp>
        <p:nvSpPr>
          <p:cNvPr id="4" name="Content Placeholder 2">
            <a:extLst>
              <a:ext uri="{FF2B5EF4-FFF2-40B4-BE49-F238E27FC236}">
                <a16:creationId xmlns:a16="http://schemas.microsoft.com/office/drawing/2014/main" id="{F0B0F20A-658F-6A94-9164-817131759919}"/>
              </a:ext>
            </a:extLst>
          </p:cNvPr>
          <p:cNvSpPr txBox="1">
            <a:spLocks/>
          </p:cNvSpPr>
          <p:nvPr/>
        </p:nvSpPr>
        <p:spPr>
          <a:xfrm>
            <a:off x="131180" y="863445"/>
            <a:ext cx="11929641" cy="536378"/>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2) </a:t>
            </a:r>
            <a:r>
              <a:rPr lang="en-US" b="1" dirty="0"/>
              <a:t>Multi-layer feed-forward networks(Multilayer Perceptron):</a:t>
            </a:r>
          </a:p>
        </p:txBody>
      </p:sp>
      <p:grpSp>
        <p:nvGrpSpPr>
          <p:cNvPr id="3" name="Group 2">
            <a:extLst>
              <a:ext uri="{FF2B5EF4-FFF2-40B4-BE49-F238E27FC236}">
                <a16:creationId xmlns:a16="http://schemas.microsoft.com/office/drawing/2014/main" id="{5412831C-F359-465F-BE8F-3EEA45641743}"/>
              </a:ext>
            </a:extLst>
          </p:cNvPr>
          <p:cNvGrpSpPr/>
          <p:nvPr/>
        </p:nvGrpSpPr>
        <p:grpSpPr>
          <a:xfrm>
            <a:off x="752565" y="1395162"/>
            <a:ext cx="10299257" cy="5114519"/>
            <a:chOff x="752565" y="1370448"/>
            <a:chExt cx="10299257" cy="5114519"/>
          </a:xfrm>
        </p:grpSpPr>
        <p:sp>
          <p:nvSpPr>
            <p:cNvPr id="6" name="Oval 5">
              <a:extLst>
                <a:ext uri="{FF2B5EF4-FFF2-40B4-BE49-F238E27FC236}">
                  <a16:creationId xmlns:a16="http://schemas.microsoft.com/office/drawing/2014/main" id="{D50A4B3D-1B0E-7AB0-F9F6-61AB69CACC92}"/>
                </a:ext>
              </a:extLst>
            </p:cNvPr>
            <p:cNvSpPr>
              <a:spLocks noChangeArrowheads="1"/>
            </p:cNvSpPr>
            <p:nvPr/>
          </p:nvSpPr>
          <p:spPr bwMode="auto">
            <a:xfrm rot="5400000">
              <a:off x="7812878" y="2374159"/>
              <a:ext cx="539756" cy="501650"/>
            </a:xfrm>
            <a:prstGeom prst="ellipse">
              <a:avLst/>
            </a:prstGeom>
            <a:solidFill>
              <a:schemeClr val="accent5">
                <a:lumMod val="60000"/>
                <a:lumOff val="40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 name="Oval 6">
              <a:extLst>
                <a:ext uri="{FF2B5EF4-FFF2-40B4-BE49-F238E27FC236}">
                  <a16:creationId xmlns:a16="http://schemas.microsoft.com/office/drawing/2014/main" id="{29D2C16B-735C-4118-109D-204C90E85877}"/>
                </a:ext>
              </a:extLst>
            </p:cNvPr>
            <p:cNvSpPr>
              <a:spLocks noChangeArrowheads="1"/>
            </p:cNvSpPr>
            <p:nvPr/>
          </p:nvSpPr>
          <p:spPr bwMode="auto">
            <a:xfrm rot="5400000">
              <a:off x="7785891" y="3485421"/>
              <a:ext cx="539756" cy="501650"/>
            </a:xfrm>
            <a:prstGeom prst="ellipse">
              <a:avLst/>
            </a:prstGeom>
            <a:solidFill>
              <a:schemeClr val="accent5">
                <a:lumMod val="60000"/>
                <a:lumOff val="40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 name="Oval 7">
              <a:extLst>
                <a:ext uri="{FF2B5EF4-FFF2-40B4-BE49-F238E27FC236}">
                  <a16:creationId xmlns:a16="http://schemas.microsoft.com/office/drawing/2014/main" id="{AEF1DCFA-0698-9312-DBB2-FED788E31622}"/>
                </a:ext>
              </a:extLst>
            </p:cNvPr>
            <p:cNvSpPr>
              <a:spLocks noChangeArrowheads="1"/>
            </p:cNvSpPr>
            <p:nvPr/>
          </p:nvSpPr>
          <p:spPr bwMode="auto">
            <a:xfrm rot="5400000">
              <a:off x="7785891" y="4539532"/>
              <a:ext cx="539756" cy="501650"/>
            </a:xfrm>
            <a:prstGeom prst="ellipse">
              <a:avLst/>
            </a:prstGeom>
            <a:solidFill>
              <a:schemeClr val="accent5">
                <a:lumMod val="60000"/>
                <a:lumOff val="40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 name="Oval 8">
              <a:extLst>
                <a:ext uri="{FF2B5EF4-FFF2-40B4-BE49-F238E27FC236}">
                  <a16:creationId xmlns:a16="http://schemas.microsoft.com/office/drawing/2014/main" id="{F42C642A-C5E2-7D53-7CF1-2E611E426A9A}"/>
                </a:ext>
              </a:extLst>
            </p:cNvPr>
            <p:cNvSpPr>
              <a:spLocks noChangeArrowheads="1"/>
            </p:cNvSpPr>
            <p:nvPr/>
          </p:nvSpPr>
          <p:spPr bwMode="auto">
            <a:xfrm rot="5400000">
              <a:off x="4956173" y="3440273"/>
              <a:ext cx="538169" cy="501650"/>
            </a:xfrm>
            <a:prstGeom prst="ellipse">
              <a:avLst/>
            </a:prstGeom>
            <a:solidFill>
              <a:schemeClr val="accent3">
                <a:lumMod val="75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 name="Oval 9">
              <a:extLst>
                <a:ext uri="{FF2B5EF4-FFF2-40B4-BE49-F238E27FC236}">
                  <a16:creationId xmlns:a16="http://schemas.microsoft.com/office/drawing/2014/main" id="{EBF1CF0C-5B75-E87C-399D-97F02D853D24}"/>
                </a:ext>
              </a:extLst>
            </p:cNvPr>
            <p:cNvSpPr>
              <a:spLocks noChangeArrowheads="1"/>
            </p:cNvSpPr>
            <p:nvPr/>
          </p:nvSpPr>
          <p:spPr bwMode="auto">
            <a:xfrm rot="5400000">
              <a:off x="4955379" y="4861893"/>
              <a:ext cx="539756" cy="501650"/>
            </a:xfrm>
            <a:prstGeom prst="ellipse">
              <a:avLst/>
            </a:prstGeom>
            <a:solidFill>
              <a:schemeClr val="accent3">
                <a:lumMod val="75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 name="Oval 10">
              <a:extLst>
                <a:ext uri="{FF2B5EF4-FFF2-40B4-BE49-F238E27FC236}">
                  <a16:creationId xmlns:a16="http://schemas.microsoft.com/office/drawing/2014/main" id="{FDC15A04-DB00-7C41-1A3D-D4D0E84C3B8F}"/>
                </a:ext>
              </a:extLst>
            </p:cNvPr>
            <p:cNvSpPr>
              <a:spLocks noChangeArrowheads="1"/>
            </p:cNvSpPr>
            <p:nvPr/>
          </p:nvSpPr>
          <p:spPr bwMode="auto">
            <a:xfrm rot="5400000">
              <a:off x="4929979" y="1991663"/>
              <a:ext cx="539756" cy="501650"/>
            </a:xfrm>
            <a:prstGeom prst="ellipse">
              <a:avLst/>
            </a:prstGeom>
            <a:solidFill>
              <a:schemeClr val="accent3">
                <a:lumMod val="75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2" name="Oval 11">
              <a:extLst>
                <a:ext uri="{FF2B5EF4-FFF2-40B4-BE49-F238E27FC236}">
                  <a16:creationId xmlns:a16="http://schemas.microsoft.com/office/drawing/2014/main" id="{E45DB211-9D8A-9CCA-5C5C-CDD129522BEB}"/>
                </a:ext>
              </a:extLst>
            </p:cNvPr>
            <p:cNvSpPr>
              <a:spLocks noChangeArrowheads="1"/>
            </p:cNvSpPr>
            <p:nvPr/>
          </p:nvSpPr>
          <p:spPr bwMode="auto">
            <a:xfrm rot="5400000">
              <a:off x="2141006" y="2858446"/>
              <a:ext cx="538169" cy="501650"/>
            </a:xfrm>
            <a:prstGeom prst="ellipse">
              <a:avLst/>
            </a:prstGeom>
            <a:solidFill>
              <a:schemeClr val="tx2">
                <a:lumMod val="75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3" name="Oval 12">
              <a:extLst>
                <a:ext uri="{FF2B5EF4-FFF2-40B4-BE49-F238E27FC236}">
                  <a16:creationId xmlns:a16="http://schemas.microsoft.com/office/drawing/2014/main" id="{8BAA89A0-AA18-366A-CCCC-B39CA247951F}"/>
                </a:ext>
              </a:extLst>
            </p:cNvPr>
            <p:cNvSpPr>
              <a:spLocks noChangeArrowheads="1"/>
            </p:cNvSpPr>
            <p:nvPr/>
          </p:nvSpPr>
          <p:spPr bwMode="auto">
            <a:xfrm rot="5400000">
              <a:off x="2171168" y="4195135"/>
              <a:ext cx="538169" cy="501650"/>
            </a:xfrm>
            <a:prstGeom prst="ellipse">
              <a:avLst/>
            </a:prstGeom>
            <a:solidFill>
              <a:schemeClr val="tx2">
                <a:lumMod val="75000"/>
              </a:schemeClr>
            </a:solidFill>
            <a:ln w="12700">
              <a:solidFill>
                <a:srgbClr val="000000"/>
              </a:solidFill>
              <a:round/>
              <a:headEnd/>
              <a:tailEnd/>
            </a:ln>
            <a:effec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4" name="Line 13">
              <a:extLst>
                <a:ext uri="{FF2B5EF4-FFF2-40B4-BE49-F238E27FC236}">
                  <a16:creationId xmlns:a16="http://schemas.microsoft.com/office/drawing/2014/main" id="{C5648DE7-3430-A174-9084-A2782A64E858}"/>
                </a:ext>
              </a:extLst>
            </p:cNvPr>
            <p:cNvSpPr>
              <a:spLocks noChangeShapeType="1"/>
            </p:cNvSpPr>
            <p:nvPr/>
          </p:nvSpPr>
          <p:spPr bwMode="auto">
            <a:xfrm rot="5400000" flipH="1" flipV="1">
              <a:off x="3397776" y="1581826"/>
              <a:ext cx="765181" cy="2283356"/>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Line 14">
              <a:extLst>
                <a:ext uri="{FF2B5EF4-FFF2-40B4-BE49-F238E27FC236}">
                  <a16:creationId xmlns:a16="http://schemas.microsoft.com/office/drawing/2014/main" id="{9246F3D3-7018-0064-B447-CC388960B76B}"/>
                </a:ext>
              </a:extLst>
            </p:cNvPr>
            <p:cNvSpPr>
              <a:spLocks noChangeShapeType="1"/>
            </p:cNvSpPr>
            <p:nvPr/>
          </p:nvSpPr>
          <p:spPr bwMode="auto">
            <a:xfrm rot="5400000" flipV="1">
              <a:off x="3495913" y="2271105"/>
              <a:ext cx="621305" cy="2291293"/>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Line 15">
              <a:extLst>
                <a:ext uri="{FF2B5EF4-FFF2-40B4-BE49-F238E27FC236}">
                  <a16:creationId xmlns:a16="http://schemas.microsoft.com/office/drawing/2014/main" id="{19E3D64D-E219-6B01-D959-83D003ECCB95}"/>
                </a:ext>
              </a:extLst>
            </p:cNvPr>
            <p:cNvSpPr>
              <a:spLocks noChangeShapeType="1"/>
            </p:cNvSpPr>
            <p:nvPr/>
          </p:nvSpPr>
          <p:spPr bwMode="auto">
            <a:xfrm rot="5400000" flipV="1">
              <a:off x="2817589" y="2931966"/>
              <a:ext cx="1954138" cy="2302404"/>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Line 16">
              <a:extLst>
                <a:ext uri="{FF2B5EF4-FFF2-40B4-BE49-F238E27FC236}">
                  <a16:creationId xmlns:a16="http://schemas.microsoft.com/office/drawing/2014/main" id="{32F8BF2E-D2B1-B710-C463-E45B5CFA3ECA}"/>
                </a:ext>
              </a:extLst>
            </p:cNvPr>
            <p:cNvSpPr>
              <a:spLocks noChangeShapeType="1"/>
            </p:cNvSpPr>
            <p:nvPr/>
          </p:nvSpPr>
          <p:spPr bwMode="auto">
            <a:xfrm rot="5400000" flipH="1" flipV="1">
              <a:off x="2807570" y="2256078"/>
              <a:ext cx="2032118" cy="2230172"/>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Line 17">
              <a:extLst>
                <a:ext uri="{FF2B5EF4-FFF2-40B4-BE49-F238E27FC236}">
                  <a16:creationId xmlns:a16="http://schemas.microsoft.com/office/drawing/2014/main" id="{6DC9C16C-4C40-D714-7681-BB3EDD022FB3}"/>
                </a:ext>
              </a:extLst>
            </p:cNvPr>
            <p:cNvSpPr>
              <a:spLocks noChangeShapeType="1"/>
            </p:cNvSpPr>
            <p:nvPr/>
          </p:nvSpPr>
          <p:spPr bwMode="auto">
            <a:xfrm rot="5400000" flipH="1" flipV="1">
              <a:off x="3506966" y="2932356"/>
              <a:ext cx="653172" cy="2284943"/>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Line 18">
              <a:extLst>
                <a:ext uri="{FF2B5EF4-FFF2-40B4-BE49-F238E27FC236}">
                  <a16:creationId xmlns:a16="http://schemas.microsoft.com/office/drawing/2014/main" id="{AF134CEE-DD50-71B2-3867-D307429B4244}"/>
                </a:ext>
              </a:extLst>
            </p:cNvPr>
            <p:cNvSpPr>
              <a:spLocks noChangeShapeType="1"/>
            </p:cNvSpPr>
            <p:nvPr/>
          </p:nvSpPr>
          <p:spPr bwMode="auto">
            <a:xfrm rot="5400000" flipV="1">
              <a:off x="3471991" y="3678541"/>
              <a:ext cx="640565" cy="2202392"/>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19">
              <a:extLst>
                <a:ext uri="{FF2B5EF4-FFF2-40B4-BE49-F238E27FC236}">
                  <a16:creationId xmlns:a16="http://schemas.microsoft.com/office/drawing/2014/main" id="{651190B3-A5A9-ECE4-16F9-8C929AE89686}"/>
                </a:ext>
              </a:extLst>
            </p:cNvPr>
            <p:cNvSpPr>
              <a:spLocks noChangeShapeType="1"/>
            </p:cNvSpPr>
            <p:nvPr/>
          </p:nvSpPr>
          <p:spPr bwMode="auto">
            <a:xfrm rot="5400000" flipV="1">
              <a:off x="6449600" y="1220523"/>
              <a:ext cx="372303" cy="2392363"/>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20">
              <a:extLst>
                <a:ext uri="{FF2B5EF4-FFF2-40B4-BE49-F238E27FC236}">
                  <a16:creationId xmlns:a16="http://schemas.microsoft.com/office/drawing/2014/main" id="{B4C51BA7-169C-6420-1DCA-78A3AFD5A997}"/>
                </a:ext>
              </a:extLst>
            </p:cNvPr>
            <p:cNvSpPr>
              <a:spLocks noChangeShapeType="1"/>
            </p:cNvSpPr>
            <p:nvPr/>
          </p:nvSpPr>
          <p:spPr bwMode="auto">
            <a:xfrm rot="5400000" flipV="1">
              <a:off x="5902701" y="1805524"/>
              <a:ext cx="1477214" cy="2327272"/>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Line 21">
              <a:extLst>
                <a:ext uri="{FF2B5EF4-FFF2-40B4-BE49-F238E27FC236}">
                  <a16:creationId xmlns:a16="http://schemas.microsoft.com/office/drawing/2014/main" id="{D4B0DBAF-C6E5-8EB9-CA4F-0A8857A56AD5}"/>
                </a:ext>
              </a:extLst>
            </p:cNvPr>
            <p:cNvSpPr>
              <a:spLocks noChangeShapeType="1"/>
            </p:cNvSpPr>
            <p:nvPr/>
          </p:nvSpPr>
          <p:spPr bwMode="auto">
            <a:xfrm rot="5400000" flipV="1">
              <a:off x="5318495" y="2378617"/>
              <a:ext cx="2607528" cy="2311395"/>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Line 22">
              <a:extLst>
                <a:ext uri="{FF2B5EF4-FFF2-40B4-BE49-F238E27FC236}">
                  <a16:creationId xmlns:a16="http://schemas.microsoft.com/office/drawing/2014/main" id="{CB428ADD-EC96-13C9-AB07-C4E24428FD9F}"/>
                </a:ext>
              </a:extLst>
            </p:cNvPr>
            <p:cNvSpPr>
              <a:spLocks noChangeShapeType="1"/>
            </p:cNvSpPr>
            <p:nvPr/>
          </p:nvSpPr>
          <p:spPr bwMode="auto">
            <a:xfrm rot="5400000" flipH="1" flipV="1">
              <a:off x="5466548" y="2680651"/>
              <a:ext cx="2354286" cy="2357436"/>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Line 23">
              <a:extLst>
                <a:ext uri="{FF2B5EF4-FFF2-40B4-BE49-F238E27FC236}">
                  <a16:creationId xmlns:a16="http://schemas.microsoft.com/office/drawing/2014/main" id="{ABC8BC35-0EBF-AB67-1910-E24D13247303}"/>
                </a:ext>
              </a:extLst>
            </p:cNvPr>
            <p:cNvSpPr>
              <a:spLocks noChangeShapeType="1"/>
            </p:cNvSpPr>
            <p:nvPr/>
          </p:nvSpPr>
          <p:spPr bwMode="auto">
            <a:xfrm rot="5400000" flipH="1" flipV="1">
              <a:off x="6550823" y="3791913"/>
              <a:ext cx="169859" cy="2319341"/>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Line 24">
              <a:extLst>
                <a:ext uri="{FF2B5EF4-FFF2-40B4-BE49-F238E27FC236}">
                  <a16:creationId xmlns:a16="http://schemas.microsoft.com/office/drawing/2014/main" id="{8E862C91-C9E1-4231-D958-978503E38B7E}"/>
                </a:ext>
              </a:extLst>
            </p:cNvPr>
            <p:cNvSpPr>
              <a:spLocks noChangeShapeType="1"/>
            </p:cNvSpPr>
            <p:nvPr/>
          </p:nvSpPr>
          <p:spPr bwMode="auto">
            <a:xfrm rot="5400000" flipH="1" flipV="1">
              <a:off x="5973760" y="3251359"/>
              <a:ext cx="1314458" cy="2290768"/>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Line 25">
              <a:extLst>
                <a:ext uri="{FF2B5EF4-FFF2-40B4-BE49-F238E27FC236}">
                  <a16:creationId xmlns:a16="http://schemas.microsoft.com/office/drawing/2014/main" id="{9A96F5DC-DADA-8EDD-7C59-7F65BFEA956E}"/>
                </a:ext>
              </a:extLst>
            </p:cNvPr>
            <p:cNvSpPr>
              <a:spLocks noChangeShapeType="1"/>
            </p:cNvSpPr>
            <p:nvPr/>
          </p:nvSpPr>
          <p:spPr bwMode="auto">
            <a:xfrm rot="5400000" flipH="1" flipV="1">
              <a:off x="6161082" y="1998816"/>
              <a:ext cx="1009664" cy="2312987"/>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Line 26">
              <a:extLst>
                <a:ext uri="{FF2B5EF4-FFF2-40B4-BE49-F238E27FC236}">
                  <a16:creationId xmlns:a16="http://schemas.microsoft.com/office/drawing/2014/main" id="{647E0207-2956-717D-08F2-474CBCC80FF6}"/>
                </a:ext>
              </a:extLst>
            </p:cNvPr>
            <p:cNvSpPr>
              <a:spLocks noChangeShapeType="1"/>
            </p:cNvSpPr>
            <p:nvPr/>
          </p:nvSpPr>
          <p:spPr bwMode="auto">
            <a:xfrm rot="5400000" flipV="1">
              <a:off x="6628606" y="2558417"/>
              <a:ext cx="30166" cy="2268537"/>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Line 27">
              <a:extLst>
                <a:ext uri="{FF2B5EF4-FFF2-40B4-BE49-F238E27FC236}">
                  <a16:creationId xmlns:a16="http://schemas.microsoft.com/office/drawing/2014/main" id="{93091D50-CAE2-23F1-0A51-42605DD0163C}"/>
                </a:ext>
              </a:extLst>
            </p:cNvPr>
            <p:cNvSpPr>
              <a:spLocks noChangeShapeType="1"/>
            </p:cNvSpPr>
            <p:nvPr/>
          </p:nvSpPr>
          <p:spPr bwMode="auto">
            <a:xfrm rot="5400000" flipV="1">
              <a:off x="6061067" y="3151353"/>
              <a:ext cx="1158891" cy="2271716"/>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Line 28">
              <a:extLst>
                <a:ext uri="{FF2B5EF4-FFF2-40B4-BE49-F238E27FC236}">
                  <a16:creationId xmlns:a16="http://schemas.microsoft.com/office/drawing/2014/main" id="{7628AC16-50ED-D35B-A7A8-A3B6C68017B8}"/>
                </a:ext>
              </a:extLst>
            </p:cNvPr>
            <p:cNvSpPr>
              <a:spLocks noChangeShapeType="1"/>
            </p:cNvSpPr>
            <p:nvPr/>
          </p:nvSpPr>
          <p:spPr bwMode="auto">
            <a:xfrm rot="5400000" flipV="1">
              <a:off x="1707621" y="2585395"/>
              <a:ext cx="0" cy="903288"/>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29">
              <a:extLst>
                <a:ext uri="{FF2B5EF4-FFF2-40B4-BE49-F238E27FC236}">
                  <a16:creationId xmlns:a16="http://schemas.microsoft.com/office/drawing/2014/main" id="{DC0810E1-3C7D-B155-8F2F-9A5D5055ABE1}"/>
                </a:ext>
              </a:extLst>
            </p:cNvPr>
            <p:cNvSpPr>
              <a:spLocks noChangeShapeType="1"/>
            </p:cNvSpPr>
            <p:nvPr/>
          </p:nvSpPr>
          <p:spPr bwMode="auto">
            <a:xfrm rot="5400000" flipV="1">
              <a:off x="1681428" y="4008604"/>
              <a:ext cx="0" cy="9017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30">
              <a:extLst>
                <a:ext uri="{FF2B5EF4-FFF2-40B4-BE49-F238E27FC236}">
                  <a16:creationId xmlns:a16="http://schemas.microsoft.com/office/drawing/2014/main" id="{E65E0B9D-76C9-CC75-C52A-6892E286000E}"/>
                </a:ext>
              </a:extLst>
            </p:cNvPr>
            <p:cNvSpPr>
              <a:spLocks noChangeShapeType="1"/>
            </p:cNvSpPr>
            <p:nvPr/>
          </p:nvSpPr>
          <p:spPr bwMode="auto">
            <a:xfrm rot="5400000" flipV="1">
              <a:off x="8784431" y="3276553"/>
              <a:ext cx="0" cy="9017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Line 31">
              <a:extLst>
                <a:ext uri="{FF2B5EF4-FFF2-40B4-BE49-F238E27FC236}">
                  <a16:creationId xmlns:a16="http://schemas.microsoft.com/office/drawing/2014/main" id="{A4839CA3-07AB-6486-27BC-E17EA22C25F8}"/>
                </a:ext>
              </a:extLst>
            </p:cNvPr>
            <p:cNvSpPr>
              <a:spLocks noChangeShapeType="1"/>
            </p:cNvSpPr>
            <p:nvPr/>
          </p:nvSpPr>
          <p:spPr bwMode="auto">
            <a:xfrm rot="5400000" flipV="1">
              <a:off x="8784431" y="4299192"/>
              <a:ext cx="0" cy="9017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Line 30">
              <a:extLst>
                <a:ext uri="{FF2B5EF4-FFF2-40B4-BE49-F238E27FC236}">
                  <a16:creationId xmlns:a16="http://schemas.microsoft.com/office/drawing/2014/main" id="{5655C1F6-25DD-25DB-4223-D70B1200698C}"/>
                </a:ext>
              </a:extLst>
            </p:cNvPr>
            <p:cNvSpPr>
              <a:spLocks noChangeShapeType="1"/>
            </p:cNvSpPr>
            <p:nvPr/>
          </p:nvSpPr>
          <p:spPr bwMode="auto">
            <a:xfrm rot="5400000" flipV="1">
              <a:off x="8784431" y="2201806"/>
              <a:ext cx="0" cy="90170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Text Box 26">
              <a:extLst>
                <a:ext uri="{FF2B5EF4-FFF2-40B4-BE49-F238E27FC236}">
                  <a16:creationId xmlns:a16="http://schemas.microsoft.com/office/drawing/2014/main" id="{D556777B-B791-D7E6-3C67-006F39D91DD7}"/>
                </a:ext>
              </a:extLst>
            </p:cNvPr>
            <p:cNvSpPr txBox="1">
              <a:spLocks noChangeArrowheads="1"/>
            </p:cNvSpPr>
            <p:nvPr/>
          </p:nvSpPr>
          <p:spPr bwMode="auto">
            <a:xfrm>
              <a:off x="1643857" y="5785822"/>
              <a:ext cx="153246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AU" altLang="en-US" sz="2400" dirty="0"/>
                <a:t>Input Layer</a:t>
              </a:r>
            </a:p>
          </p:txBody>
        </p:sp>
        <p:sp>
          <p:nvSpPr>
            <p:cNvPr id="36" name="Text Box 26">
              <a:extLst>
                <a:ext uri="{FF2B5EF4-FFF2-40B4-BE49-F238E27FC236}">
                  <a16:creationId xmlns:a16="http://schemas.microsoft.com/office/drawing/2014/main" id="{43B7E8FC-BB4D-2E4C-2E65-0D1A9A09447D}"/>
                </a:ext>
              </a:extLst>
            </p:cNvPr>
            <p:cNvSpPr txBox="1">
              <a:spLocks noChangeArrowheads="1"/>
            </p:cNvSpPr>
            <p:nvPr/>
          </p:nvSpPr>
          <p:spPr bwMode="auto">
            <a:xfrm>
              <a:off x="4738421" y="5653970"/>
              <a:ext cx="153246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en-US" sz="2400" dirty="0"/>
                <a:t>Hidden</a:t>
              </a:r>
              <a:r>
                <a:rPr lang="en-AU" altLang="en-US" sz="2400" b="1" dirty="0">
                  <a:latin typeface="Times New Roman" panose="02020603050405020304" pitchFamily="18" charset="0"/>
                </a:rPr>
                <a:t> </a:t>
              </a:r>
              <a:r>
                <a:rPr lang="en-AU" altLang="en-US" sz="2400" dirty="0"/>
                <a:t>Layer</a:t>
              </a:r>
            </a:p>
          </p:txBody>
        </p:sp>
        <p:sp>
          <p:nvSpPr>
            <p:cNvPr id="37" name="Text Box 26">
              <a:extLst>
                <a:ext uri="{FF2B5EF4-FFF2-40B4-BE49-F238E27FC236}">
                  <a16:creationId xmlns:a16="http://schemas.microsoft.com/office/drawing/2014/main" id="{81F041AE-9402-B3AB-F8DA-B19F95E98098}"/>
                </a:ext>
              </a:extLst>
            </p:cNvPr>
            <p:cNvSpPr txBox="1">
              <a:spLocks noChangeArrowheads="1"/>
            </p:cNvSpPr>
            <p:nvPr/>
          </p:nvSpPr>
          <p:spPr bwMode="auto">
            <a:xfrm>
              <a:off x="7223391" y="5814957"/>
              <a:ext cx="17922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AU" altLang="en-US" sz="2400" dirty="0"/>
                <a:t>Output Layer</a:t>
              </a:r>
            </a:p>
          </p:txBody>
        </p:sp>
        <p:sp>
          <p:nvSpPr>
            <p:cNvPr id="38" name="Rectangle 37">
              <a:extLst>
                <a:ext uri="{FF2B5EF4-FFF2-40B4-BE49-F238E27FC236}">
                  <a16:creationId xmlns:a16="http://schemas.microsoft.com/office/drawing/2014/main" id="{4D781FDF-E682-8ED7-07C7-5D6D48171BF7}"/>
                </a:ext>
              </a:extLst>
            </p:cNvPr>
            <p:cNvSpPr>
              <a:spLocks noChangeArrowheads="1"/>
            </p:cNvSpPr>
            <p:nvPr/>
          </p:nvSpPr>
          <p:spPr bwMode="auto">
            <a:xfrm>
              <a:off x="752565" y="2124861"/>
              <a:ext cx="2423758" cy="83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2400" b="1" dirty="0">
                  <a:latin typeface="+mn-lt"/>
                </a:rPr>
                <a:t>Input  Record :      x</a:t>
              </a:r>
              <a:r>
                <a:rPr lang="en-US" altLang="en-US" sz="2400" b="1" i="1" baseline="-25000" dirty="0">
                  <a:latin typeface="+mn-lt"/>
                </a:rPr>
                <a:t>i </a:t>
              </a:r>
            </a:p>
          </p:txBody>
        </p:sp>
        <p:sp>
          <p:nvSpPr>
            <p:cNvPr id="39" name="Rectangle 38">
              <a:extLst>
                <a:ext uri="{FF2B5EF4-FFF2-40B4-BE49-F238E27FC236}">
                  <a16:creationId xmlns:a16="http://schemas.microsoft.com/office/drawing/2014/main" id="{89E134B4-1E46-836F-E4A4-38F4AB6EED66}"/>
                </a:ext>
              </a:extLst>
            </p:cNvPr>
            <p:cNvSpPr>
              <a:spLocks noChangeArrowheads="1"/>
            </p:cNvSpPr>
            <p:nvPr/>
          </p:nvSpPr>
          <p:spPr bwMode="auto">
            <a:xfrm>
              <a:off x="1682661" y="2981189"/>
              <a:ext cx="501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i="1" dirty="0" err="1">
                  <a:latin typeface="Times New Roman" panose="02020603050405020304" pitchFamily="18" charset="0"/>
                </a:rPr>
                <a:t>w</a:t>
              </a:r>
              <a:r>
                <a:rPr lang="en-US" altLang="en-US" sz="2400" i="1" baseline="-25000" dirty="0" err="1">
                  <a:latin typeface="Times New Roman" panose="02020603050405020304" pitchFamily="18" charset="0"/>
                </a:rPr>
                <a:t>ij</a:t>
              </a:r>
              <a:endParaRPr lang="en-US" altLang="en-US" sz="2400" i="1" baseline="-25000" dirty="0">
                <a:latin typeface="Times New Roman" panose="02020603050405020304" pitchFamily="18" charset="0"/>
              </a:endParaRPr>
            </a:p>
          </p:txBody>
        </p:sp>
        <p:sp>
          <p:nvSpPr>
            <p:cNvPr id="40" name="Text Box 27">
              <a:extLst>
                <a:ext uri="{FF2B5EF4-FFF2-40B4-BE49-F238E27FC236}">
                  <a16:creationId xmlns:a16="http://schemas.microsoft.com/office/drawing/2014/main" id="{A779F317-2ADE-B917-CCB7-01F69C435FAE}"/>
                </a:ext>
              </a:extLst>
            </p:cNvPr>
            <p:cNvSpPr txBox="1">
              <a:spLocks noChangeArrowheads="1"/>
            </p:cNvSpPr>
            <p:nvPr/>
          </p:nvSpPr>
          <p:spPr bwMode="auto">
            <a:xfrm>
              <a:off x="9316296" y="1370448"/>
              <a:ext cx="1735526" cy="830997"/>
            </a:xfrm>
            <a:prstGeom prst="rect">
              <a:avLst/>
            </a:prstGeom>
            <a:ln/>
          </p:spPr>
          <p:style>
            <a:lnRef idx="2">
              <a:schemeClr val="accent6">
                <a:shade val="15000"/>
              </a:schemeClr>
            </a:lnRef>
            <a:fillRef idx="1">
              <a:schemeClr val="accent6"/>
            </a:fillRef>
            <a:effectRef idx="0">
              <a:schemeClr val="accent6"/>
            </a:effectRef>
            <a:fontRef idx="minor">
              <a:schemeClr val="lt1"/>
            </a:fontRef>
          </p:style>
          <p:txBody>
            <a:bodyPr wrap="square">
              <a:spAutoFit/>
            </a:bodyPr>
            <a:lstStyle/>
            <a:p>
              <a:pPr algn="ctr" eaLnBrk="0" hangingPunct="0"/>
              <a:r>
                <a:rPr lang="en-US" sz="2400" b="1" dirty="0"/>
                <a:t>Multilayer Perceptron</a:t>
              </a:r>
              <a:endParaRPr lang="en-AU" altLang="en-US" sz="2400" dirty="0">
                <a:solidFill>
                  <a:schemeClr val="accent6"/>
                </a:solidFill>
              </a:endParaRPr>
            </a:p>
          </p:txBody>
        </p:sp>
      </p:grpSp>
    </p:spTree>
    <p:extLst>
      <p:ext uri="{BB962C8B-B14F-4D97-AF65-F5344CB8AC3E}">
        <p14:creationId xmlns:p14="http://schemas.microsoft.com/office/powerpoint/2010/main" val="3850511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D245D-E793-F084-6EAB-BF2F846664CA}"/>
              </a:ext>
            </a:extLst>
          </p:cNvPr>
          <p:cNvSpPr>
            <a:spLocks noGrp="1"/>
          </p:cNvSpPr>
          <p:nvPr>
            <p:ph type="title"/>
          </p:nvPr>
        </p:nvSpPr>
        <p:spPr/>
        <p:txBody>
          <a:bodyPr/>
          <a:lstStyle/>
          <a:p>
            <a:r>
              <a:rPr lang="en-US" b="1" dirty="0"/>
              <a:t>Multi-layer feed-forward networks</a:t>
            </a:r>
            <a:endParaRPr lang="en-US" dirty="0"/>
          </a:p>
        </p:txBody>
      </p:sp>
      <p:sp>
        <p:nvSpPr>
          <p:cNvPr id="4" name="Content Placeholder 2">
            <a:extLst>
              <a:ext uri="{FF2B5EF4-FFF2-40B4-BE49-F238E27FC236}">
                <a16:creationId xmlns:a16="http://schemas.microsoft.com/office/drawing/2014/main" id="{41E8DAAA-B69D-2B26-2147-CDACE0DB627F}"/>
              </a:ext>
            </a:extLst>
          </p:cNvPr>
          <p:cNvSpPr>
            <a:spLocks noGrp="1"/>
          </p:cNvSpPr>
          <p:nvPr>
            <p:ph idx="1"/>
          </p:nvPr>
        </p:nvSpPr>
        <p:spPr>
          <a:xfrm>
            <a:off x="131180" y="863444"/>
            <a:ext cx="11929641" cy="5578501"/>
          </a:xfrm>
        </p:spPr>
        <p:txBody>
          <a:bodyPr/>
          <a:lstStyle/>
          <a:p>
            <a:r>
              <a:rPr lang="en-US" dirty="0"/>
              <a:t>The inputs </a:t>
            </a:r>
            <a:r>
              <a:rPr lang="en-US" dirty="0">
                <a:solidFill>
                  <a:srgbClr val="C00000"/>
                </a:solidFill>
              </a:rPr>
              <a:t>are fed simultaneously into the input layer</a:t>
            </a:r>
            <a:r>
              <a:rPr lang="en-US" dirty="0"/>
              <a:t>.</a:t>
            </a:r>
          </a:p>
          <a:p>
            <a:r>
              <a:rPr lang="en-US" dirty="0"/>
              <a:t>The </a:t>
            </a:r>
            <a:r>
              <a:rPr lang="en-US" dirty="0">
                <a:solidFill>
                  <a:srgbClr val="C00000"/>
                </a:solidFill>
              </a:rPr>
              <a:t>weighted outputs of these units </a:t>
            </a:r>
            <a:r>
              <a:rPr lang="en-US" dirty="0"/>
              <a:t>are fed  </a:t>
            </a:r>
            <a:r>
              <a:rPr lang="en-US" dirty="0">
                <a:solidFill>
                  <a:srgbClr val="C00000"/>
                </a:solidFill>
              </a:rPr>
              <a:t>into hidden layer</a:t>
            </a:r>
            <a:r>
              <a:rPr lang="en-US" dirty="0"/>
              <a:t>.</a:t>
            </a:r>
          </a:p>
          <a:p>
            <a:r>
              <a:rPr lang="en-US" dirty="0"/>
              <a:t>The </a:t>
            </a:r>
            <a:r>
              <a:rPr lang="en-US" dirty="0">
                <a:solidFill>
                  <a:srgbClr val="C00000"/>
                </a:solidFill>
              </a:rPr>
              <a:t>weighted outputs of the last hidden layer </a:t>
            </a:r>
            <a:r>
              <a:rPr lang="en-US" dirty="0"/>
              <a:t>are inputs to </a:t>
            </a:r>
            <a:r>
              <a:rPr lang="en-US" dirty="0">
                <a:solidFill>
                  <a:srgbClr val="C00000"/>
                </a:solidFill>
              </a:rPr>
              <a:t>units making up the output layer</a:t>
            </a:r>
            <a:r>
              <a:rPr lang="en-US" dirty="0"/>
              <a:t>.</a:t>
            </a:r>
          </a:p>
          <a:p>
            <a:r>
              <a:rPr lang="en-US" dirty="0"/>
              <a:t>A network containing two hidden </a:t>
            </a:r>
            <a:r>
              <a:rPr lang="en-US" dirty="0">
                <a:solidFill>
                  <a:srgbClr val="C00000"/>
                </a:solidFill>
              </a:rPr>
              <a:t>layers is called a three-layer </a:t>
            </a:r>
            <a:r>
              <a:rPr lang="en-US" dirty="0"/>
              <a:t>neural network, </a:t>
            </a:r>
            <a:r>
              <a:rPr lang="en-US" dirty="0">
                <a:solidFill>
                  <a:srgbClr val="C00000"/>
                </a:solidFill>
              </a:rPr>
              <a:t>and so on</a:t>
            </a:r>
            <a:r>
              <a:rPr lang="en-US" dirty="0"/>
              <a:t>.</a:t>
            </a:r>
          </a:p>
          <a:p>
            <a:r>
              <a:rPr lang="en-US" dirty="0"/>
              <a:t>The network is </a:t>
            </a:r>
            <a:r>
              <a:rPr lang="en-US" dirty="0">
                <a:solidFill>
                  <a:srgbClr val="C00000"/>
                </a:solidFill>
              </a:rPr>
              <a:t>feed-forward</a:t>
            </a:r>
            <a:r>
              <a:rPr lang="en-US" dirty="0"/>
              <a:t> in that none of the weights </a:t>
            </a:r>
            <a:r>
              <a:rPr lang="en-US" dirty="0">
                <a:solidFill>
                  <a:srgbClr val="C00000"/>
                </a:solidFill>
              </a:rPr>
              <a:t>cycles back to an input unit or to an output unit of a previous layer.</a:t>
            </a:r>
          </a:p>
          <a:p>
            <a:r>
              <a:rPr lang="en-US" b="1" dirty="0">
                <a:solidFill>
                  <a:srgbClr val="C00000"/>
                </a:solidFill>
              </a:rPr>
              <a:t>INPUT</a:t>
            </a:r>
            <a:r>
              <a:rPr lang="en-US" b="1" dirty="0"/>
              <a:t> </a:t>
            </a:r>
            <a:r>
              <a:rPr lang="en-US" dirty="0"/>
              <a:t>– Records without class attribute with </a:t>
            </a:r>
            <a:r>
              <a:rPr lang="en-US" dirty="0">
                <a:solidFill>
                  <a:srgbClr val="C00000"/>
                </a:solidFill>
              </a:rPr>
              <a:t>normalized attributes values</a:t>
            </a:r>
            <a:r>
              <a:rPr lang="en-US" dirty="0"/>
              <a:t>. </a:t>
            </a:r>
          </a:p>
          <a:p>
            <a:r>
              <a:rPr lang="en-US" b="1" dirty="0">
                <a:solidFill>
                  <a:srgbClr val="C00000"/>
                </a:solidFill>
              </a:rPr>
              <a:t>INPUT VECTOR</a:t>
            </a:r>
            <a:r>
              <a:rPr lang="en-US" b="1" dirty="0"/>
              <a:t> </a:t>
            </a:r>
            <a:r>
              <a:rPr lang="en-US" dirty="0"/>
              <a:t>–</a:t>
            </a:r>
            <a:r>
              <a:rPr lang="en-US" b="1" dirty="0"/>
              <a:t>  </a:t>
            </a:r>
            <a:r>
              <a:rPr lang="en-US" dirty="0"/>
              <a:t>X = { x1, x2, …. </a:t>
            </a:r>
            <a:r>
              <a:rPr lang="en-US" dirty="0" err="1"/>
              <a:t>xn</a:t>
            </a:r>
            <a:r>
              <a:rPr lang="en-US" dirty="0"/>
              <a:t>} where n is the number of </a:t>
            </a:r>
            <a:r>
              <a:rPr lang="en-US" dirty="0">
                <a:solidFill>
                  <a:srgbClr val="C00000"/>
                </a:solidFill>
              </a:rPr>
              <a:t>(non class) attributes</a:t>
            </a:r>
            <a:r>
              <a:rPr lang="en-US" dirty="0"/>
              <a:t>. </a:t>
            </a:r>
          </a:p>
          <a:p>
            <a:r>
              <a:rPr lang="en-US" b="1" dirty="0">
                <a:solidFill>
                  <a:srgbClr val="C00000"/>
                </a:solidFill>
              </a:rPr>
              <a:t>INPUT LAYER </a:t>
            </a:r>
            <a:r>
              <a:rPr lang="en-US" dirty="0"/>
              <a:t>– There are as </a:t>
            </a:r>
            <a:r>
              <a:rPr lang="en-US" dirty="0">
                <a:solidFill>
                  <a:srgbClr val="C00000"/>
                </a:solidFill>
              </a:rPr>
              <a:t>many nodes as non-class attributes</a:t>
            </a:r>
            <a:r>
              <a:rPr lang="en-US" dirty="0"/>
              <a:t> i.e. as the length of the input vector.</a:t>
            </a:r>
          </a:p>
          <a:p>
            <a:r>
              <a:rPr lang="en-US" b="1" dirty="0">
                <a:solidFill>
                  <a:srgbClr val="C00000"/>
                </a:solidFill>
              </a:rPr>
              <a:t>HIDDEN LAYER </a:t>
            </a:r>
            <a:r>
              <a:rPr lang="en-US" dirty="0"/>
              <a:t>– the number of </a:t>
            </a:r>
            <a:r>
              <a:rPr lang="en-US" b="1" dirty="0">
                <a:solidFill>
                  <a:srgbClr val="C00000"/>
                </a:solidFill>
              </a:rPr>
              <a:t>nodes in the hidden layer and the number of hidden layers depends on implementation.</a:t>
            </a:r>
          </a:p>
          <a:p>
            <a:r>
              <a:rPr lang="en-US" b="1" dirty="0">
                <a:solidFill>
                  <a:srgbClr val="C00000"/>
                </a:solidFill>
              </a:rPr>
              <a:t>OUTPUT LAYER </a:t>
            </a:r>
            <a:r>
              <a:rPr lang="en-US" dirty="0"/>
              <a:t>– corresponds to the </a:t>
            </a:r>
            <a:r>
              <a:rPr lang="en-US" dirty="0">
                <a:solidFill>
                  <a:srgbClr val="C00000"/>
                </a:solidFill>
              </a:rPr>
              <a:t>class attribute</a:t>
            </a:r>
            <a:r>
              <a:rPr lang="en-US" dirty="0"/>
              <a:t>.(</a:t>
            </a:r>
            <a:r>
              <a:rPr lang="en-US" altLang="ko-KR" sz="2400" dirty="0">
                <a:ea typeface="굴림" panose="020B0600000101010101" pitchFamily="34" charset="-127"/>
              </a:rPr>
              <a:t>There are </a:t>
            </a:r>
            <a:r>
              <a:rPr lang="en-US" altLang="ko-KR" sz="2400" dirty="0">
                <a:solidFill>
                  <a:srgbClr val="C00000"/>
                </a:solidFill>
                <a:ea typeface="굴림" panose="020B0600000101010101" pitchFamily="34" charset="-127"/>
              </a:rPr>
              <a:t>as many nodes as classes </a:t>
            </a:r>
            <a:r>
              <a:rPr lang="en-US" dirty="0"/>
              <a:t>)</a:t>
            </a:r>
          </a:p>
        </p:txBody>
      </p:sp>
    </p:spTree>
    <p:extLst>
      <p:ext uri="{BB962C8B-B14F-4D97-AF65-F5344CB8AC3E}">
        <p14:creationId xmlns:p14="http://schemas.microsoft.com/office/powerpoint/2010/main" val="2530885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208DE-5CBC-4717-145F-3D15A87B1E07}"/>
              </a:ext>
            </a:extLst>
          </p:cNvPr>
          <p:cNvSpPr>
            <a:spLocks noGrp="1"/>
          </p:cNvSpPr>
          <p:nvPr>
            <p:ph type="title"/>
          </p:nvPr>
        </p:nvSpPr>
        <p:spPr/>
        <p:txBody>
          <a:bodyPr/>
          <a:lstStyle/>
          <a:p>
            <a:r>
              <a:rPr lang="en-US" dirty="0"/>
              <a:t>How ANN Works ? – Learning in ANN</a:t>
            </a:r>
          </a:p>
        </p:txBody>
      </p:sp>
      <p:sp>
        <p:nvSpPr>
          <p:cNvPr id="3" name="Content Placeholder 2">
            <a:extLst>
              <a:ext uri="{FF2B5EF4-FFF2-40B4-BE49-F238E27FC236}">
                <a16:creationId xmlns:a16="http://schemas.microsoft.com/office/drawing/2014/main" id="{429C81A1-62E6-ABE6-C195-B40A34436AE5}"/>
              </a:ext>
            </a:extLst>
          </p:cNvPr>
          <p:cNvSpPr>
            <a:spLocks noGrp="1"/>
          </p:cNvSpPr>
          <p:nvPr>
            <p:ph idx="1"/>
          </p:nvPr>
        </p:nvSpPr>
        <p:spPr>
          <a:xfrm>
            <a:off x="131180" y="863445"/>
            <a:ext cx="11929641" cy="3200555"/>
          </a:xfrm>
        </p:spPr>
        <p:txBody>
          <a:bodyPr/>
          <a:lstStyle/>
          <a:p>
            <a:r>
              <a:rPr lang="en-US" dirty="0"/>
              <a:t>Learn values of </a:t>
            </a:r>
            <a:r>
              <a:rPr lang="en-US" dirty="0">
                <a:solidFill>
                  <a:srgbClr val="C00000"/>
                </a:solidFill>
              </a:rPr>
              <a:t>weights from input and output pairs.</a:t>
            </a:r>
          </a:p>
          <a:p>
            <a:r>
              <a:rPr lang="en-US" dirty="0"/>
              <a:t>Start with </a:t>
            </a:r>
            <a:r>
              <a:rPr lang="en-US" dirty="0">
                <a:solidFill>
                  <a:srgbClr val="C00000"/>
                </a:solidFill>
              </a:rPr>
              <a:t>random weights.</a:t>
            </a:r>
          </a:p>
          <a:p>
            <a:r>
              <a:rPr lang="en-US" dirty="0"/>
              <a:t>Load </a:t>
            </a:r>
            <a:r>
              <a:rPr lang="en-US" dirty="0">
                <a:solidFill>
                  <a:srgbClr val="C00000"/>
                </a:solidFill>
              </a:rPr>
              <a:t>training example's input</a:t>
            </a:r>
          </a:p>
          <a:p>
            <a:r>
              <a:rPr lang="en-US" dirty="0"/>
              <a:t>Observe </a:t>
            </a:r>
            <a:r>
              <a:rPr lang="en-US" dirty="0">
                <a:solidFill>
                  <a:srgbClr val="C00000"/>
                </a:solidFill>
              </a:rPr>
              <a:t>computed input</a:t>
            </a:r>
          </a:p>
          <a:p>
            <a:r>
              <a:rPr lang="en-US" dirty="0"/>
              <a:t>Modify weights to </a:t>
            </a:r>
            <a:r>
              <a:rPr lang="en-US" dirty="0">
                <a:solidFill>
                  <a:srgbClr val="C00000"/>
                </a:solidFill>
              </a:rPr>
              <a:t>reduce difference</a:t>
            </a:r>
          </a:p>
          <a:p>
            <a:r>
              <a:rPr lang="en-US" dirty="0"/>
              <a:t>Iterate over </a:t>
            </a:r>
            <a:r>
              <a:rPr lang="en-US" dirty="0">
                <a:solidFill>
                  <a:srgbClr val="C00000"/>
                </a:solidFill>
              </a:rPr>
              <a:t>all training examples</a:t>
            </a:r>
          </a:p>
          <a:p>
            <a:r>
              <a:rPr lang="en-US" dirty="0"/>
              <a:t>Terminate when </a:t>
            </a:r>
            <a:r>
              <a:rPr lang="en-US" dirty="0">
                <a:solidFill>
                  <a:srgbClr val="C00000"/>
                </a:solidFill>
              </a:rPr>
              <a:t>weights stop changing OR when error is very small</a:t>
            </a:r>
          </a:p>
          <a:p>
            <a:endParaRPr lang="en-US" dirty="0">
              <a:solidFill>
                <a:srgbClr val="C00000"/>
              </a:solidFill>
            </a:endParaRPr>
          </a:p>
          <a:p>
            <a:endParaRPr lang="en-US" dirty="0">
              <a:solidFill>
                <a:srgbClr val="C00000"/>
              </a:solidFill>
            </a:endParaRPr>
          </a:p>
          <a:p>
            <a:endParaRPr lang="en-US" dirty="0">
              <a:solidFill>
                <a:srgbClr val="C0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16265D4-58C7-737B-0513-0F04DAF23051}"/>
                  </a:ext>
                </a:extLst>
              </p:cNvPr>
              <p:cNvSpPr txBox="1"/>
              <p:nvPr/>
            </p:nvSpPr>
            <p:spPr>
              <a:xfrm>
                <a:off x="3939822" y="4451328"/>
                <a:ext cx="2769733" cy="895630"/>
              </a:xfrm>
              <a:prstGeom prst="rect">
                <a:avLst/>
              </a:prstGeom>
            </p:spPr>
            <p:style>
              <a:lnRef idx="3">
                <a:schemeClr val="lt1"/>
              </a:lnRef>
              <a:fillRef idx="1">
                <a:schemeClr val="accent4"/>
              </a:fillRef>
              <a:effectRef idx="1">
                <a:schemeClr val="accent4"/>
              </a:effectRef>
              <a:fontRef idx="minor">
                <a:schemeClr val="lt1"/>
              </a:fontRef>
            </p:style>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 </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𝑌</m:t>
                                  </m:r>
                                </m:e>
                                <m:sub>
                                  <m:r>
                                    <a:rPr lang="en-US" b="0" i="1" smtClean="0">
                                      <a:latin typeface="Cambria Math" panose="02040503050406030204" pitchFamily="18" charset="0"/>
                                    </a:rPr>
                                    <m:t>𝑖</m:t>
                                  </m:r>
                                </m:sub>
                                <m:sup/>
                              </m:sSubSup>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e>
                            <m:sup>
                              <m:r>
                                <a:rPr lang="en-US" b="0" i="1" smtClean="0">
                                  <a:latin typeface="Cambria Math" panose="02040503050406030204" pitchFamily="18" charset="0"/>
                                </a:rPr>
                                <m:t>2</m:t>
                              </m:r>
                            </m:sup>
                          </m:sSup>
                        </m:e>
                      </m:nary>
                    </m:oMath>
                  </m:oMathPara>
                </a14:m>
                <a:endParaRPr lang="en-US" dirty="0"/>
              </a:p>
            </p:txBody>
          </p:sp>
        </mc:Choice>
        <mc:Fallback xmlns="">
          <p:sp>
            <p:nvSpPr>
              <p:cNvPr id="4" name="TextBox 3">
                <a:extLst>
                  <a:ext uri="{FF2B5EF4-FFF2-40B4-BE49-F238E27FC236}">
                    <a16:creationId xmlns:a16="http://schemas.microsoft.com/office/drawing/2014/main" id="{516265D4-58C7-737B-0513-0F04DAF23051}"/>
                  </a:ext>
                </a:extLst>
              </p:cNvPr>
              <p:cNvSpPr txBox="1">
                <a:spLocks noRot="1" noChangeAspect="1" noMove="1" noResize="1" noEditPoints="1" noAdjustHandles="1" noChangeArrowheads="1" noChangeShapeType="1" noTextEdit="1"/>
              </p:cNvSpPr>
              <p:nvPr/>
            </p:nvSpPr>
            <p:spPr>
              <a:xfrm>
                <a:off x="3939822" y="4451328"/>
                <a:ext cx="2769733" cy="895630"/>
              </a:xfrm>
              <a:prstGeom prst="rect">
                <a:avLst/>
              </a:prstGeom>
              <a:blipFill>
                <a:blip r:embed="rId2"/>
                <a:stretch>
                  <a:fillRect l="-8145" t="-84932" b="-142466"/>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141A0441-CBFC-5778-B124-A2C1C7B0109B}"/>
              </a:ext>
            </a:extLst>
          </p:cNvPr>
          <p:cNvSpPr txBox="1"/>
          <p:nvPr/>
        </p:nvSpPr>
        <p:spPr>
          <a:xfrm>
            <a:off x="2156177" y="4714477"/>
            <a:ext cx="1435008" cy="369332"/>
          </a:xfrm>
          <a:prstGeom prst="rect">
            <a:avLst/>
          </a:prstGeom>
          <a:noFill/>
        </p:spPr>
        <p:txBody>
          <a:bodyPr wrap="none" rtlCol="0">
            <a:spAutoFit/>
          </a:bodyPr>
          <a:lstStyle/>
          <a:p>
            <a:r>
              <a:rPr lang="en-US" altLang="en-US" dirty="0"/>
              <a:t>Error function</a:t>
            </a:r>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92961D4-B341-4AB2-CC8E-DAEF35331D62}"/>
                  </a:ext>
                </a:extLst>
              </p:cNvPr>
              <p:cNvSpPr txBox="1"/>
              <p:nvPr/>
            </p:nvSpPr>
            <p:spPr>
              <a:xfrm>
                <a:off x="2156177" y="5425511"/>
                <a:ext cx="5762731" cy="923330"/>
              </a:xfrm>
              <a:prstGeom prst="rect">
                <a:avLst/>
              </a:prstGeom>
              <a:noFill/>
            </p:spPr>
            <p:txBody>
              <a:bodyPr wrap="none" rtlCol="0">
                <a:spAutoFit/>
              </a:bodyPr>
              <a:lstStyle/>
              <a:p>
                <a:r>
                  <a:rPr lang="en-US" dirty="0">
                    <a:solidFill>
                      <a:schemeClr val="tx1"/>
                    </a:solidFill>
                    <a:latin typeface="+mj-lt"/>
                  </a:rPr>
                  <a:t>Find the weights</a:t>
                </a:r>
                <a:r>
                  <a:rPr lang="en-US" b="0" dirty="0">
                    <a:solidFill>
                      <a:schemeClr val="tx1"/>
                    </a:solidFill>
                    <a:latin typeface="+mj-lt"/>
                  </a:rPr>
                  <a:t> </a:t>
                </a:r>
                <a14:m>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𝑤</m:t>
                        </m:r>
                      </m:e>
                      <m:sub>
                        <m:r>
                          <a:rPr lang="en-US" b="0" i="1" smtClean="0">
                            <a:solidFill>
                              <a:srgbClr val="C00000"/>
                            </a:solidFill>
                            <a:latin typeface="Cambria Math" panose="02040503050406030204" pitchFamily="18" charset="0"/>
                          </a:rPr>
                          <m:t>𝑖</m:t>
                        </m:r>
                      </m:sub>
                    </m:sSub>
                  </m:oMath>
                </a14:m>
                <a:r>
                  <a:rPr lang="en-US" dirty="0">
                    <a:solidFill>
                      <a:srgbClr val="C00000"/>
                    </a:solidFill>
                    <a:latin typeface="+mj-lt"/>
                  </a:rPr>
                  <a:t> ’s </a:t>
                </a:r>
                <a:r>
                  <a:rPr lang="en-US" dirty="0">
                    <a:solidFill>
                      <a:schemeClr val="tx1"/>
                    </a:solidFill>
                    <a:latin typeface="+mj-lt"/>
                  </a:rPr>
                  <a:t>that minimize the above error function.</a:t>
                </a:r>
              </a:p>
              <a:p>
                <a:r>
                  <a:rPr lang="en-US" dirty="0">
                    <a:solidFill>
                      <a:schemeClr val="tx1"/>
                    </a:solidFill>
                    <a:latin typeface="+mj-lt"/>
                  </a:rPr>
                  <a:t> e.g., gradient descent, backpropagation algorithm</a:t>
                </a:r>
              </a:p>
              <a:p>
                <a:endParaRPr lang="en-US" dirty="0"/>
              </a:p>
            </p:txBody>
          </p:sp>
        </mc:Choice>
        <mc:Fallback xmlns="">
          <p:sp>
            <p:nvSpPr>
              <p:cNvPr id="5" name="TextBox 4">
                <a:extLst>
                  <a:ext uri="{FF2B5EF4-FFF2-40B4-BE49-F238E27FC236}">
                    <a16:creationId xmlns:a16="http://schemas.microsoft.com/office/drawing/2014/main" id="{292961D4-B341-4AB2-CC8E-DAEF35331D62}"/>
                  </a:ext>
                </a:extLst>
              </p:cNvPr>
              <p:cNvSpPr txBox="1">
                <a:spLocks noRot="1" noChangeAspect="1" noMove="1" noResize="1" noEditPoints="1" noAdjustHandles="1" noChangeArrowheads="1" noChangeShapeType="1" noTextEdit="1"/>
              </p:cNvSpPr>
              <p:nvPr/>
            </p:nvSpPr>
            <p:spPr>
              <a:xfrm>
                <a:off x="2156177" y="5425511"/>
                <a:ext cx="5762731" cy="923330"/>
              </a:xfrm>
              <a:prstGeom prst="rect">
                <a:avLst/>
              </a:prstGeom>
              <a:blipFill>
                <a:blip r:embed="rId3"/>
                <a:stretch>
                  <a:fillRect l="-879" t="-2740"/>
                </a:stretch>
              </a:blipFill>
            </p:spPr>
            <p:txBody>
              <a:bodyPr/>
              <a:lstStyle/>
              <a:p>
                <a:r>
                  <a:rPr lang="en-US">
                    <a:noFill/>
                  </a:rPr>
                  <a:t> </a:t>
                </a:r>
              </a:p>
            </p:txBody>
          </p:sp>
        </mc:Fallback>
      </mc:AlternateContent>
    </p:spTree>
    <p:extLst>
      <p:ext uri="{BB962C8B-B14F-4D97-AF65-F5344CB8AC3E}">
        <p14:creationId xmlns:p14="http://schemas.microsoft.com/office/powerpoint/2010/main" val="3852758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B1B12-ECCB-23B9-6BA3-D229A18C9881}"/>
              </a:ext>
            </a:extLst>
          </p:cNvPr>
          <p:cNvSpPr>
            <a:spLocks noGrp="1"/>
          </p:cNvSpPr>
          <p:nvPr>
            <p:ph type="title"/>
          </p:nvPr>
        </p:nvSpPr>
        <p:spPr/>
        <p:txBody>
          <a:bodyPr/>
          <a:lstStyle/>
          <a:p>
            <a:r>
              <a:rPr lang="en-US" dirty="0">
                <a:latin typeface="+mn-lt"/>
              </a:rPr>
              <a:t>Delta Rule</a:t>
            </a:r>
          </a:p>
        </p:txBody>
      </p:sp>
      <p:sp>
        <p:nvSpPr>
          <p:cNvPr id="3" name="Content Placeholder 2">
            <a:extLst>
              <a:ext uri="{FF2B5EF4-FFF2-40B4-BE49-F238E27FC236}">
                <a16:creationId xmlns:a16="http://schemas.microsoft.com/office/drawing/2014/main" id="{55B8BA02-E6B4-15D1-6589-6A43B970ACE4}"/>
              </a:ext>
            </a:extLst>
          </p:cNvPr>
          <p:cNvSpPr>
            <a:spLocks noGrp="1"/>
          </p:cNvSpPr>
          <p:nvPr>
            <p:ph idx="1"/>
          </p:nvPr>
        </p:nvSpPr>
        <p:spPr>
          <a:xfrm>
            <a:off x="131180" y="863444"/>
            <a:ext cx="11929641" cy="874090"/>
          </a:xfrm>
        </p:spPr>
        <p:txBody>
          <a:bodyPr/>
          <a:lstStyle/>
          <a:p>
            <a:r>
              <a:rPr lang="en-US" dirty="0"/>
              <a:t>It is </a:t>
            </a:r>
            <a:r>
              <a:rPr lang="en-US" dirty="0">
                <a:solidFill>
                  <a:srgbClr val="C00000"/>
                </a:solidFill>
              </a:rPr>
              <a:t>fundamental learning rule </a:t>
            </a:r>
            <a:r>
              <a:rPr lang="en-US" dirty="0"/>
              <a:t>in neural networks, particularly in </a:t>
            </a:r>
            <a:r>
              <a:rPr lang="en-US" dirty="0">
                <a:solidFill>
                  <a:srgbClr val="C00000"/>
                </a:solidFill>
              </a:rPr>
              <a:t>single-layer </a:t>
            </a:r>
            <a:r>
              <a:rPr lang="en-US" dirty="0" err="1">
                <a:solidFill>
                  <a:srgbClr val="C00000"/>
                </a:solidFill>
              </a:rPr>
              <a:t>perceptrons</a:t>
            </a:r>
            <a:r>
              <a:rPr lang="en-US" dirty="0"/>
              <a:t>.</a:t>
            </a:r>
          </a:p>
          <a:p>
            <a:r>
              <a:rPr lang="en-US" dirty="0"/>
              <a:t>The </a:t>
            </a:r>
            <a:r>
              <a:rPr lang="en-US" dirty="0">
                <a:solidFill>
                  <a:srgbClr val="C00000"/>
                </a:solidFill>
              </a:rPr>
              <a:t>error for a perceptron </a:t>
            </a:r>
            <a:r>
              <a:rPr lang="en-US" dirty="0"/>
              <a:t>with </a:t>
            </a:r>
            <a:r>
              <a:rPr lang="en-US" dirty="0" err="1"/>
              <a:t>i</a:t>
            </a:r>
            <a:r>
              <a:rPr lang="en-US" dirty="0"/>
              <a:t> </a:t>
            </a:r>
            <a:r>
              <a:rPr lang="en-US" dirty="0">
                <a:solidFill>
                  <a:srgbClr val="C00000"/>
                </a:solidFill>
              </a:rPr>
              <a:t>outputs can be measured as</a:t>
            </a:r>
            <a:r>
              <a:rPr lang="en-US" dirty="0"/>
              <a:t>:</a:t>
            </a:r>
          </a:p>
        </p:txBody>
      </p:sp>
      <p:sp>
        <p:nvSpPr>
          <p:cNvPr id="4" name="TextBox 3">
            <a:extLst>
              <a:ext uri="{FF2B5EF4-FFF2-40B4-BE49-F238E27FC236}">
                <a16:creationId xmlns:a16="http://schemas.microsoft.com/office/drawing/2014/main" id="{5A0FD6AE-362A-2699-18CB-8A18C2B85551}"/>
              </a:ext>
            </a:extLst>
          </p:cNvPr>
          <p:cNvSpPr txBox="1"/>
          <p:nvPr/>
        </p:nvSpPr>
        <p:spPr>
          <a:xfrm>
            <a:off x="372532" y="2236746"/>
            <a:ext cx="1856598" cy="369332"/>
          </a:xfrm>
          <a:prstGeom prst="rect">
            <a:avLst/>
          </a:prstGeom>
          <a:noFill/>
        </p:spPr>
        <p:txBody>
          <a:bodyPr wrap="square" rtlCol="0">
            <a:spAutoFit/>
          </a:bodyPr>
          <a:lstStyle/>
          <a:p>
            <a:r>
              <a:rPr lang="en-IN" b="0" i="0" u="none" strike="noStrike" dirty="0">
                <a:solidFill>
                  <a:srgbClr val="000000"/>
                </a:solidFill>
                <a:effectLst/>
              </a:rPr>
              <a:t>Error Function E = </a:t>
            </a:r>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85EF353-0110-81F9-B70C-4BFC5B0B8E2D}"/>
                  </a:ext>
                </a:extLst>
              </p:cNvPr>
              <p:cNvSpPr txBox="1"/>
              <p:nvPr/>
            </p:nvSpPr>
            <p:spPr>
              <a:xfrm>
                <a:off x="2229130" y="2037124"/>
                <a:ext cx="1487138" cy="80175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𝐼</m:t>
                          </m:r>
                        </m:sub>
                        <m:sup/>
                        <m:e>
                          <m:sSup>
                            <m:sSupPr>
                              <m:ctrlPr>
                                <a:rPr lang="en-US" i="1" smtClean="0">
                                  <a:latin typeface="Cambria Math" panose="02040503050406030204" pitchFamily="18" charset="0"/>
                                </a:rPr>
                              </m:ctrlPr>
                            </m:sSupPr>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𝑖</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𝑖</m:t>
                                  </m:r>
                                </m:sub>
                              </m:sSub>
                              <m:r>
                                <a:rPr lang="en-US" i="1">
                                  <a:latin typeface="Cambria Math" panose="02040503050406030204" pitchFamily="18" charset="0"/>
                                </a:rPr>
                                <m:t>)</m:t>
                              </m:r>
                            </m:e>
                            <m:sup>
                              <m:r>
                                <a:rPr lang="en-US" b="0" i="1" smtClean="0">
                                  <a:latin typeface="Cambria Math" panose="02040503050406030204" pitchFamily="18" charset="0"/>
                                </a:rPr>
                                <m:t>2</m:t>
                              </m:r>
                            </m:sup>
                          </m:sSup>
                        </m:e>
                      </m:nary>
                    </m:oMath>
                  </m:oMathPara>
                </a14:m>
                <a:endParaRPr lang="en-US" dirty="0"/>
              </a:p>
            </p:txBody>
          </p:sp>
        </mc:Choice>
        <mc:Fallback xmlns="">
          <p:sp>
            <p:nvSpPr>
              <p:cNvPr id="5" name="TextBox 4">
                <a:extLst>
                  <a:ext uri="{FF2B5EF4-FFF2-40B4-BE49-F238E27FC236}">
                    <a16:creationId xmlns:a16="http://schemas.microsoft.com/office/drawing/2014/main" id="{385EF353-0110-81F9-B70C-4BFC5B0B8E2D}"/>
                  </a:ext>
                </a:extLst>
              </p:cNvPr>
              <p:cNvSpPr txBox="1">
                <a:spLocks noRot="1" noChangeAspect="1" noMove="1" noResize="1" noEditPoints="1" noAdjustHandles="1" noChangeArrowheads="1" noChangeShapeType="1" noTextEdit="1"/>
              </p:cNvSpPr>
              <p:nvPr/>
            </p:nvSpPr>
            <p:spPr>
              <a:xfrm>
                <a:off x="2229130" y="2037124"/>
                <a:ext cx="1487138" cy="801758"/>
              </a:xfrm>
              <a:prstGeom prst="rect">
                <a:avLst/>
              </a:prstGeom>
              <a:blipFill>
                <a:blip r:embed="rId2"/>
                <a:stretch>
                  <a:fillRect l="-44538" t="-100000" b="-1621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9CC4966-96C0-46AE-FE2B-701951A2FA25}"/>
                  </a:ext>
                </a:extLst>
              </p:cNvPr>
              <p:cNvSpPr txBox="1"/>
              <p:nvPr/>
            </p:nvSpPr>
            <p:spPr>
              <a:xfrm>
                <a:off x="372532" y="2991661"/>
                <a:ext cx="4323645" cy="1747979"/>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sSub>
                      <m:sSubPr>
                        <m:ctrlPr>
                          <a:rPr lang="en-US" b="1" i="1" smtClean="0">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𝒕</m:t>
                        </m:r>
                      </m:e>
                      <m:sub>
                        <m:r>
                          <a:rPr lang="en-US" b="1" i="1">
                            <a:solidFill>
                              <a:srgbClr val="C00000"/>
                            </a:solidFill>
                            <a:latin typeface="Cambria Math" panose="02040503050406030204" pitchFamily="18" charset="0"/>
                          </a:rPr>
                          <m:t>𝒊</m:t>
                        </m:r>
                        <m:r>
                          <a:rPr lang="en-US" b="1" i="1" smtClean="0">
                            <a:solidFill>
                              <a:srgbClr val="C00000"/>
                            </a:solidFill>
                            <a:latin typeface="Cambria Math" panose="02040503050406030204" pitchFamily="18" charset="0"/>
                          </a:rPr>
                          <m:t> </m:t>
                        </m:r>
                      </m:sub>
                    </m:sSub>
                    <m:r>
                      <m:rPr>
                        <m:sty m:val="p"/>
                      </m:rPr>
                      <a:rPr lang="en-US" b="0" i="0">
                        <a:latin typeface="Cambria Math" panose="02040503050406030204" pitchFamily="18" charset="0"/>
                      </a:rPr>
                      <m:t>is</m:t>
                    </m:r>
                    <m:r>
                      <a:rPr lang="en-US" b="0" i="0">
                        <a:latin typeface="Cambria Math" panose="02040503050406030204" pitchFamily="18" charset="0"/>
                      </a:rPr>
                      <m:t> </m:t>
                    </m:r>
                    <m:r>
                      <m:rPr>
                        <m:sty m:val="p"/>
                      </m:rPr>
                      <a:rPr lang="en-US" b="0" i="0">
                        <a:latin typeface="Cambria Math" panose="02040503050406030204" pitchFamily="18" charset="0"/>
                      </a:rPr>
                      <m:t>the</m:t>
                    </m:r>
                    <m:r>
                      <a:rPr lang="en-US" b="0" i="0">
                        <a:latin typeface="Cambria Math" panose="02040503050406030204" pitchFamily="18" charset="0"/>
                      </a:rPr>
                      <m:t> </m:t>
                    </m:r>
                    <m:r>
                      <m:rPr>
                        <m:sty m:val="p"/>
                      </m:rPr>
                      <a:rPr lang="en-US" b="0" i="0">
                        <a:latin typeface="Cambria Math" panose="02040503050406030204" pitchFamily="18" charset="0"/>
                      </a:rPr>
                      <m:t>target</m:t>
                    </m:r>
                    <m:r>
                      <a:rPr lang="en-US" b="0" i="0">
                        <a:latin typeface="Cambria Math" panose="02040503050406030204" pitchFamily="18" charset="0"/>
                      </a:rPr>
                      <m:t> </m:t>
                    </m:r>
                    <m:r>
                      <m:rPr>
                        <m:sty m:val="p"/>
                      </m:rPr>
                      <a:rPr lang="en-US" b="0" i="0" smtClean="0">
                        <a:solidFill>
                          <a:srgbClr val="C00000"/>
                        </a:solidFill>
                        <a:latin typeface="Cambria Math" panose="02040503050406030204" pitchFamily="18" charset="0"/>
                      </a:rPr>
                      <m:t>output</m:t>
                    </m:r>
                    <m:r>
                      <a:rPr lang="en-US" b="0" i="0" smtClean="0">
                        <a:solidFill>
                          <a:srgbClr val="C00000"/>
                        </a:solidFill>
                        <a:latin typeface="Cambria Math" panose="02040503050406030204" pitchFamily="18" charset="0"/>
                      </a:rPr>
                      <m:t> </m:t>
                    </m:r>
                    <m:r>
                      <m:rPr>
                        <m:sty m:val="p"/>
                      </m:rPr>
                      <a:rPr lang="en-US" b="0" i="0" smtClean="0">
                        <a:solidFill>
                          <a:srgbClr val="C00000"/>
                        </a:solidFill>
                        <a:latin typeface="Cambria Math" panose="02040503050406030204" pitchFamily="18" charset="0"/>
                      </a:rPr>
                      <m:t>for</m:t>
                    </m:r>
                    <m:r>
                      <a:rPr lang="en-US" b="0" i="0" smtClean="0">
                        <a:solidFill>
                          <a:srgbClr val="C00000"/>
                        </a:solidFill>
                        <a:latin typeface="Cambria Math" panose="02040503050406030204" pitchFamily="18" charset="0"/>
                      </a:rPr>
                      <m:t> </m:t>
                    </m:r>
                    <m:r>
                      <m:rPr>
                        <m:sty m:val="p"/>
                      </m:rPr>
                      <a:rPr lang="en-US" b="0" i="0" smtClean="0">
                        <a:solidFill>
                          <a:srgbClr val="C00000"/>
                        </a:solidFill>
                        <a:latin typeface="Cambria Math" panose="02040503050406030204" pitchFamily="18" charset="0"/>
                      </a:rPr>
                      <m:t>the</m:t>
                    </m:r>
                    <m:r>
                      <a:rPr lang="en-US" b="0" i="0" smtClean="0">
                        <a:solidFill>
                          <a:srgbClr val="C00000"/>
                        </a:solidFill>
                        <a:latin typeface="Cambria Math" panose="02040503050406030204" pitchFamily="18" charset="0"/>
                      </a:rPr>
                      <m:t> </m:t>
                    </m:r>
                    <m:r>
                      <m:rPr>
                        <m:sty m:val="p"/>
                      </m:rPr>
                      <a:rPr lang="en-US" b="0" i="0" smtClean="0">
                        <a:solidFill>
                          <a:srgbClr val="C00000"/>
                        </a:solidFill>
                        <a:latin typeface="Cambria Math" panose="02040503050406030204" pitchFamily="18" charset="0"/>
                      </a:rPr>
                      <m:t>i</m:t>
                    </m:r>
                    <m:r>
                      <a:rPr lang="en-US" b="0" i="0">
                        <a:latin typeface="Cambria Math" panose="02040503050406030204" pitchFamily="18" charset="0"/>
                      </a:rPr>
                      <m:t>−</m:t>
                    </m:r>
                    <m:r>
                      <m:rPr>
                        <m:sty m:val="p"/>
                      </m:rPr>
                      <a:rPr lang="en-US" b="0" i="0">
                        <a:latin typeface="Cambria Math" panose="02040503050406030204" pitchFamily="18" charset="0"/>
                      </a:rPr>
                      <m:t>th</m:t>
                    </m:r>
                    <m:r>
                      <a:rPr lang="en-US" b="0" i="0">
                        <a:latin typeface="Cambria Math" panose="02040503050406030204" pitchFamily="18" charset="0"/>
                      </a:rPr>
                      <m:t> </m:t>
                    </m:r>
                    <m:r>
                      <m:rPr>
                        <m:sty m:val="p"/>
                      </m:rPr>
                      <a:rPr lang="en-US" b="0" i="0">
                        <a:latin typeface="Cambria Math" panose="02040503050406030204" pitchFamily="18" charset="0"/>
                      </a:rPr>
                      <m:t>training</m:t>
                    </m:r>
                    <m:r>
                      <a:rPr lang="en-US" b="0" i="0">
                        <a:latin typeface="Cambria Math" panose="02040503050406030204" pitchFamily="18" charset="0"/>
                      </a:rPr>
                      <m:t> </m:t>
                    </m:r>
                    <m:r>
                      <m:rPr>
                        <m:sty m:val="p"/>
                      </m:rPr>
                      <a:rPr lang="en-US" b="0" i="0">
                        <a:latin typeface="Cambria Math" panose="02040503050406030204" pitchFamily="18" charset="0"/>
                      </a:rPr>
                      <m:t>example</m:t>
                    </m:r>
                    <m:r>
                      <a:rPr lang="en-US" b="0" i="0">
                        <a:latin typeface="Cambria Math" panose="02040503050406030204" pitchFamily="18" charset="0"/>
                      </a:rPr>
                      <m:t>.</m:t>
                    </m:r>
                  </m:oMath>
                </a14:m>
                <a:endParaRPr lang="en-US" i="1" dirty="0"/>
              </a:p>
              <a:p>
                <a:pPr marL="285750" indent="-285750">
                  <a:buFont typeface="Arial" panose="020B0604020202020204" pitchFamily="34" charset="0"/>
                  <a:buChar char="•"/>
                </a:pPr>
                <a14:m>
                  <m:oMath xmlns:m="http://schemas.openxmlformats.org/officeDocument/2006/math">
                    <m:sSub>
                      <m:sSubPr>
                        <m:ctrlPr>
                          <a:rPr lang="en-US" b="1" i="1" smtClean="0">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𝒐</m:t>
                        </m:r>
                      </m:e>
                      <m:sub>
                        <m:r>
                          <a:rPr lang="en-US" b="1" i="1">
                            <a:solidFill>
                              <a:srgbClr val="C00000"/>
                            </a:solidFill>
                            <a:latin typeface="Cambria Math" panose="02040503050406030204" pitchFamily="18" charset="0"/>
                          </a:rPr>
                          <m:t>𝒊</m:t>
                        </m:r>
                      </m:sub>
                    </m:sSub>
                  </m:oMath>
                </a14:m>
                <a:r>
                  <a:rPr lang="en-US" dirty="0">
                    <a:solidFill>
                      <a:srgbClr val="C00000"/>
                    </a:solidFill>
                  </a:rPr>
                  <a:t> </a:t>
                </a:r>
                <a:r>
                  <a:rPr lang="en-US" dirty="0"/>
                  <a:t>is the </a:t>
                </a:r>
                <a:r>
                  <a:rPr lang="en-US" dirty="0">
                    <a:solidFill>
                      <a:srgbClr val="C00000"/>
                    </a:solidFill>
                  </a:rPr>
                  <a:t>actual output of the neuron</a:t>
                </a:r>
                <a:r>
                  <a:rPr lang="en-US" dirty="0"/>
                  <a:t>.</a:t>
                </a:r>
              </a:p>
              <a:p>
                <a:pPr marL="285750" indent="-285750">
                  <a:buFont typeface="Arial" panose="020B0604020202020204" pitchFamily="34" charset="0"/>
                  <a:buChar char="•"/>
                </a:pPr>
                <a:r>
                  <a:rPr lang="en-US" dirty="0"/>
                  <a:t>The summation runs </a:t>
                </a:r>
                <a:r>
                  <a:rPr lang="en-US" dirty="0">
                    <a:solidFill>
                      <a:srgbClr val="C00000"/>
                    </a:solidFill>
                  </a:rPr>
                  <a:t>over all training examples.</a:t>
                </a:r>
              </a:p>
              <a:p>
                <a:pPr marL="285750" indent="-285750">
                  <a:buFont typeface="Arial" panose="020B0604020202020204" pitchFamily="34" charset="0"/>
                  <a:buChar char="•"/>
                </a:pPr>
                <a:endParaRPr lang="en-US" dirty="0"/>
              </a:p>
            </p:txBody>
          </p:sp>
        </mc:Choice>
        <mc:Fallback xmlns="">
          <p:sp>
            <p:nvSpPr>
              <p:cNvPr id="7" name="TextBox 6">
                <a:extLst>
                  <a:ext uri="{FF2B5EF4-FFF2-40B4-BE49-F238E27FC236}">
                    <a16:creationId xmlns:a16="http://schemas.microsoft.com/office/drawing/2014/main" id="{49CC4966-96C0-46AE-FE2B-701951A2FA25}"/>
                  </a:ext>
                </a:extLst>
              </p:cNvPr>
              <p:cNvSpPr txBox="1">
                <a:spLocks noRot="1" noChangeAspect="1" noMove="1" noResize="1" noEditPoints="1" noAdjustHandles="1" noChangeArrowheads="1" noChangeShapeType="1" noTextEdit="1"/>
              </p:cNvSpPr>
              <p:nvPr/>
            </p:nvSpPr>
            <p:spPr>
              <a:xfrm>
                <a:off x="372532" y="2991661"/>
                <a:ext cx="4323645" cy="1747979"/>
              </a:xfrm>
              <a:prstGeom prst="rect">
                <a:avLst/>
              </a:prstGeom>
              <a:blipFill>
                <a:blip r:embed="rId3"/>
                <a:stretch>
                  <a:fillRect l="-880" t="-719"/>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8C3C5AB8-6DD1-8470-D2F8-1C43EE195E84}"/>
              </a:ext>
            </a:extLst>
          </p:cNvPr>
          <p:cNvSpPr txBox="1"/>
          <p:nvPr/>
        </p:nvSpPr>
        <p:spPr>
          <a:xfrm>
            <a:off x="7241309" y="1737534"/>
            <a:ext cx="3199915" cy="369332"/>
          </a:xfrm>
          <a:prstGeom prst="rect">
            <a:avLst/>
          </a:prstGeom>
          <a:noFill/>
        </p:spPr>
        <p:txBody>
          <a:bodyPr wrap="none" rtlCol="0">
            <a:spAutoFit/>
          </a:bodyPr>
          <a:lstStyle/>
          <a:p>
            <a:r>
              <a:rPr lang="en-IN" b="1" i="0" u="none" strike="noStrike" dirty="0">
                <a:solidFill>
                  <a:srgbClr val="C00000"/>
                </a:solidFill>
                <a:effectLst/>
              </a:rPr>
              <a:t>Weight Update Rule (Delta Rule):</a:t>
            </a:r>
            <a:endParaRPr lang="en-US" b="1" dirty="0">
              <a:solidFill>
                <a:srgbClr val="C00000"/>
              </a:solidFil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DFF5DDF-04E2-CE0C-1E38-AB4193FB547C}"/>
                  </a:ext>
                </a:extLst>
              </p:cNvPr>
              <p:cNvSpPr txBox="1"/>
              <p:nvPr/>
            </p:nvSpPr>
            <p:spPr>
              <a:xfrm>
                <a:off x="7234599" y="2236746"/>
                <a:ext cx="1470724" cy="369332"/>
              </a:xfrm>
              <a:prstGeom prst="rect">
                <a:avLst/>
              </a:prstGeom>
            </p:spPr>
            <p:style>
              <a:lnRef idx="3">
                <a:schemeClr val="lt1"/>
              </a:lnRef>
              <a:fillRef idx="1">
                <a:schemeClr val="accent4"/>
              </a:fillRef>
              <a:effectRef idx="1">
                <a:schemeClr val="accent4"/>
              </a:effectRef>
              <a:fontRef idx="minor">
                <a:schemeClr val="lt1"/>
              </a:fontRef>
            </p:style>
            <p:txBody>
              <a:bodyPr wrap="none" rtlCol="0">
                <a:spAutoFit/>
              </a:bodyPr>
              <a:lstStyle/>
              <a:p>
                <a14:m>
                  <m:oMath xmlns:m="http://schemas.openxmlformats.org/officeDocument/2006/math">
                    <m:sSub>
                      <m:sSubPr>
                        <m:ctrlPr>
                          <a:rPr lang="en-IN" b="0" i="1" u="none" strike="noStrike" smtClean="0">
                            <a:solidFill>
                              <a:schemeClr val="bg1"/>
                            </a:solidFill>
                            <a:effectLst/>
                            <a:latin typeface="Cambria Math" panose="02040503050406030204" pitchFamily="18" charset="0"/>
                          </a:rPr>
                        </m:ctrlPr>
                      </m:sSubPr>
                      <m:e>
                        <m:r>
                          <a:rPr lang="en-US" b="0" i="1" u="none" strike="noStrike" smtClean="0">
                            <a:solidFill>
                              <a:schemeClr val="bg1"/>
                            </a:solidFill>
                            <a:effectLst/>
                            <a:latin typeface="Cambria Math" panose="02040503050406030204" pitchFamily="18" charset="0"/>
                          </a:rPr>
                          <m:t>𝑤</m:t>
                        </m:r>
                      </m:e>
                      <m:sub>
                        <m:r>
                          <a:rPr lang="en-US" b="0" i="1" u="none" strike="noStrike" smtClean="0">
                            <a:solidFill>
                              <a:schemeClr val="bg1"/>
                            </a:solidFill>
                            <a:effectLst/>
                            <a:latin typeface="Cambria Math" panose="02040503050406030204" pitchFamily="18" charset="0"/>
                          </a:rPr>
                          <m:t>𝑖</m:t>
                        </m:r>
                      </m:sub>
                    </m:sSub>
                  </m:oMath>
                </a14:m>
                <a:r>
                  <a:rPr lang="en-IN" b="0" i="0" u="none" strike="noStrike" dirty="0">
                    <a:solidFill>
                      <a:schemeClr val="bg1"/>
                    </a:solidFill>
                    <a:effectLst/>
                  </a:rPr>
                  <a:t>​=</a:t>
                </a:r>
                <a:r>
                  <a:rPr lang="en-IN" dirty="0">
                    <a:solidFill>
                      <a:schemeClr val="bg1"/>
                    </a:solidFill>
                  </a:rPr>
                  <a:t> </a:t>
                </a:r>
                <a14:m>
                  <m:oMath xmlns:m="http://schemas.openxmlformats.org/officeDocument/2006/math">
                    <m:sSub>
                      <m:sSubPr>
                        <m:ctrlPr>
                          <a:rPr lang="en-IN"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𝑤</m:t>
                        </m:r>
                      </m:e>
                      <m:sub>
                        <m:r>
                          <a:rPr lang="en-US" i="1">
                            <a:solidFill>
                              <a:schemeClr val="bg1"/>
                            </a:solidFill>
                            <a:latin typeface="Cambria Math" panose="02040503050406030204" pitchFamily="18" charset="0"/>
                          </a:rPr>
                          <m:t>𝑖</m:t>
                        </m:r>
                      </m:sub>
                    </m:sSub>
                    <m:r>
                      <a:rPr lang="en-US" i="1">
                        <a:solidFill>
                          <a:schemeClr val="bg1"/>
                        </a:solidFill>
                        <a:latin typeface="Cambria Math" panose="02040503050406030204" pitchFamily="18" charset="0"/>
                      </a:rPr>
                      <m:t> </m:t>
                    </m:r>
                  </m:oMath>
                </a14:m>
                <a:r>
                  <a:rPr lang="en-IN" b="0" i="0" u="none" strike="noStrike" dirty="0">
                    <a:solidFill>
                      <a:schemeClr val="bg1"/>
                    </a:solidFill>
                    <a:effectLst/>
                  </a:rPr>
                  <a:t>​+</a:t>
                </a:r>
                <a:r>
                  <a:rPr lang="el-GR" b="0" i="0" u="none" strike="noStrike" dirty="0">
                    <a:solidFill>
                      <a:schemeClr val="bg1"/>
                    </a:solidFill>
                    <a:effectLst/>
                  </a:rPr>
                  <a:t>Δ</a:t>
                </a:r>
                <a:r>
                  <a:rPr lang="en-IN" dirty="0">
                    <a:solidFill>
                      <a:schemeClr val="bg1"/>
                    </a:solidFill>
                  </a:rPr>
                  <a:t> </a:t>
                </a:r>
                <a14:m>
                  <m:oMath xmlns:m="http://schemas.openxmlformats.org/officeDocument/2006/math">
                    <m:sSub>
                      <m:sSubPr>
                        <m:ctrlPr>
                          <a:rPr lang="en-IN"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𝑤</m:t>
                        </m:r>
                      </m:e>
                      <m:sub>
                        <m:r>
                          <a:rPr lang="en-US" i="1">
                            <a:solidFill>
                              <a:schemeClr val="bg1"/>
                            </a:solidFill>
                            <a:latin typeface="Cambria Math" panose="02040503050406030204" pitchFamily="18" charset="0"/>
                          </a:rPr>
                          <m:t>𝑖</m:t>
                        </m:r>
                      </m:sub>
                    </m:sSub>
                    <m:r>
                      <a:rPr lang="en-US" i="1">
                        <a:solidFill>
                          <a:schemeClr val="bg1"/>
                        </a:solidFill>
                        <a:latin typeface="Cambria Math" panose="02040503050406030204" pitchFamily="18" charset="0"/>
                      </a:rPr>
                      <m:t> </m:t>
                    </m:r>
                  </m:oMath>
                </a14:m>
                <a:r>
                  <a:rPr lang="en-IN" b="0" i="0" u="none" strike="noStrike" dirty="0">
                    <a:solidFill>
                      <a:schemeClr val="bg1"/>
                    </a:solidFill>
                    <a:effectLst/>
                  </a:rPr>
                  <a:t>​</a:t>
                </a:r>
                <a:endParaRPr lang="en-US" dirty="0">
                  <a:solidFill>
                    <a:schemeClr val="bg1"/>
                  </a:solidFill>
                </a:endParaRPr>
              </a:p>
            </p:txBody>
          </p:sp>
        </mc:Choice>
        <mc:Fallback xmlns="">
          <p:sp>
            <p:nvSpPr>
              <p:cNvPr id="9" name="TextBox 8">
                <a:extLst>
                  <a:ext uri="{FF2B5EF4-FFF2-40B4-BE49-F238E27FC236}">
                    <a16:creationId xmlns:a16="http://schemas.microsoft.com/office/drawing/2014/main" id="{FDFF5DDF-04E2-CE0C-1E38-AB4193FB547C}"/>
                  </a:ext>
                </a:extLst>
              </p:cNvPr>
              <p:cNvSpPr txBox="1">
                <a:spLocks noRot="1" noChangeAspect="1" noMove="1" noResize="1" noEditPoints="1" noAdjustHandles="1" noChangeArrowheads="1" noChangeShapeType="1" noTextEdit="1"/>
              </p:cNvSpPr>
              <p:nvPr/>
            </p:nvSpPr>
            <p:spPr>
              <a:xfrm>
                <a:off x="7234599" y="2236746"/>
                <a:ext cx="1470724" cy="369332"/>
              </a:xfrm>
              <a:prstGeom prst="rect">
                <a:avLst/>
              </a:prstGeom>
              <a:blipFill>
                <a:blip r:embed="rId4"/>
                <a:stretch>
                  <a:fillRect t="-6250"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3B0D19F-4EF1-0DC1-FE19-CDC13A8C0203}"/>
                  </a:ext>
                </a:extLst>
              </p:cNvPr>
              <p:cNvSpPr txBox="1"/>
              <p:nvPr/>
            </p:nvSpPr>
            <p:spPr>
              <a:xfrm>
                <a:off x="7234599" y="2757498"/>
                <a:ext cx="1487138" cy="535788"/>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r>
                  <a:rPr lang="el-GR" b="0" i="0" u="none" strike="noStrike" dirty="0">
                    <a:solidFill>
                      <a:schemeClr val="bg1"/>
                    </a:solidFill>
                    <a:effectLst/>
                  </a:rPr>
                  <a:t>Δ</a:t>
                </a:r>
                <a:r>
                  <a:rPr lang="en-IN" dirty="0">
                    <a:solidFill>
                      <a:schemeClr val="bg1"/>
                    </a:solidFill>
                  </a:rPr>
                  <a:t> </a:t>
                </a:r>
                <a14:m>
                  <m:oMath xmlns:m="http://schemas.openxmlformats.org/officeDocument/2006/math">
                    <m:sSub>
                      <m:sSubPr>
                        <m:ctrlPr>
                          <a:rPr lang="en-IN"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𝑤</m:t>
                        </m:r>
                      </m:e>
                      <m:sub>
                        <m:r>
                          <a:rPr lang="en-US" i="1">
                            <a:solidFill>
                              <a:schemeClr val="bg1"/>
                            </a:solidFill>
                            <a:latin typeface="Cambria Math" panose="02040503050406030204" pitchFamily="18" charset="0"/>
                          </a:rPr>
                          <m:t>𝑖</m:t>
                        </m:r>
                      </m:sub>
                    </m:sSub>
                    <m:r>
                      <a:rPr lang="en-US" i="1">
                        <a:solidFill>
                          <a:schemeClr val="bg1"/>
                        </a:solidFill>
                        <a:latin typeface="Cambria Math" panose="02040503050406030204" pitchFamily="18" charset="0"/>
                      </a:rPr>
                      <m:t> </m:t>
                    </m:r>
                  </m:oMath>
                </a14:m>
                <a:r>
                  <a:rPr lang="en-IN" b="0" i="0" u="none" strike="noStrike" dirty="0">
                    <a:solidFill>
                      <a:schemeClr val="bg1"/>
                    </a:solidFill>
                    <a:effectLst/>
                  </a:rPr>
                  <a:t>​ = -</a:t>
                </a:r>
                <a14:m>
                  <m:oMath xmlns:m="http://schemas.openxmlformats.org/officeDocument/2006/math">
                    <m:r>
                      <a:rPr lang="en-IN" b="0" i="1" u="none" strike="noStrike" smtClean="0">
                        <a:solidFill>
                          <a:schemeClr val="bg1"/>
                        </a:solidFill>
                        <a:effectLst/>
                        <a:latin typeface="Cambria Math" panose="02040503050406030204" pitchFamily="18" charset="0"/>
                        <a:ea typeface="Cambria Math" panose="02040503050406030204" pitchFamily="18" charset="0"/>
                      </a:rPr>
                      <m:t>𝜂</m:t>
                    </m:r>
                    <m:f>
                      <m:fPr>
                        <m:ctrlPr>
                          <a:rPr lang="en-IN" b="0" i="1" u="none" strike="noStrike" smtClean="0">
                            <a:solidFill>
                              <a:schemeClr val="bg1"/>
                            </a:solidFill>
                            <a:effectLst/>
                            <a:latin typeface="Cambria Math" panose="02040503050406030204" pitchFamily="18" charset="0"/>
                            <a:ea typeface="Cambria Math" panose="02040503050406030204" pitchFamily="18" charset="0"/>
                          </a:rPr>
                        </m:ctrlPr>
                      </m:fPr>
                      <m:num>
                        <m:r>
                          <a:rPr lang="en-IN" b="0" i="1" u="none" strike="noStrike" smtClean="0">
                            <a:solidFill>
                              <a:schemeClr val="bg1"/>
                            </a:solidFill>
                            <a:effectLst/>
                            <a:latin typeface="Cambria Math" panose="02040503050406030204" pitchFamily="18" charset="0"/>
                            <a:ea typeface="Cambria Math" panose="02040503050406030204" pitchFamily="18" charset="0"/>
                          </a:rPr>
                          <m:t>𝛿</m:t>
                        </m:r>
                        <m:r>
                          <a:rPr lang="en-US" b="0" i="1" u="none" strike="noStrike" smtClean="0">
                            <a:solidFill>
                              <a:schemeClr val="bg1"/>
                            </a:solidFill>
                            <a:effectLst/>
                            <a:latin typeface="Cambria Math" panose="02040503050406030204" pitchFamily="18" charset="0"/>
                            <a:ea typeface="Cambria Math" panose="02040503050406030204" pitchFamily="18" charset="0"/>
                          </a:rPr>
                          <m:t>𝐸</m:t>
                        </m:r>
                      </m:num>
                      <m:den>
                        <m:r>
                          <a:rPr lang="en-IN" i="1">
                            <a:solidFill>
                              <a:schemeClr val="bg1"/>
                            </a:solidFill>
                            <a:latin typeface="Cambria Math" panose="02040503050406030204" pitchFamily="18" charset="0"/>
                            <a:ea typeface="Cambria Math" panose="02040503050406030204" pitchFamily="18" charset="0"/>
                          </a:rPr>
                          <m:t>𝛿</m:t>
                        </m:r>
                        <m:sSub>
                          <m:sSubPr>
                            <m:ctrlPr>
                              <a:rPr lang="en-US" i="1">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i="1">
                                <a:solidFill>
                                  <a:schemeClr val="bg1"/>
                                </a:solidFill>
                                <a:latin typeface="Cambria Math" panose="02040503050406030204" pitchFamily="18" charset="0"/>
                              </a:rPr>
                              <m:t>𝑖</m:t>
                            </m:r>
                          </m:sub>
                        </m:sSub>
                      </m:den>
                    </m:f>
                  </m:oMath>
                </a14:m>
                <a:endParaRPr lang="en-US" dirty="0">
                  <a:solidFill>
                    <a:schemeClr val="bg1"/>
                  </a:solidFill>
                </a:endParaRPr>
              </a:p>
            </p:txBody>
          </p:sp>
        </mc:Choice>
        <mc:Fallback xmlns="">
          <p:sp>
            <p:nvSpPr>
              <p:cNvPr id="10" name="TextBox 9">
                <a:extLst>
                  <a:ext uri="{FF2B5EF4-FFF2-40B4-BE49-F238E27FC236}">
                    <a16:creationId xmlns:a16="http://schemas.microsoft.com/office/drawing/2014/main" id="{03B0D19F-4EF1-0DC1-FE19-CDC13A8C0203}"/>
                  </a:ext>
                </a:extLst>
              </p:cNvPr>
              <p:cNvSpPr txBox="1">
                <a:spLocks noRot="1" noChangeAspect="1" noMove="1" noResize="1" noEditPoints="1" noAdjustHandles="1" noChangeArrowheads="1" noChangeShapeType="1" noTextEdit="1"/>
              </p:cNvSpPr>
              <p:nvPr/>
            </p:nvSpPr>
            <p:spPr>
              <a:xfrm>
                <a:off x="7234599" y="2757498"/>
                <a:ext cx="1487138" cy="535788"/>
              </a:xfrm>
              <a:prstGeom prst="rect">
                <a:avLst/>
              </a:prstGeom>
              <a:blipFill>
                <a:blip r:embed="rId5"/>
                <a:stretch>
                  <a:fillRect l="-33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D4CE962-7CB2-CCFB-34C6-ECEE8E04AB3E}"/>
                  </a:ext>
                </a:extLst>
              </p:cNvPr>
              <p:cNvSpPr txBox="1"/>
              <p:nvPr/>
            </p:nvSpPr>
            <p:spPr>
              <a:xfrm>
                <a:off x="7100712" y="3488267"/>
                <a:ext cx="4718756" cy="1643783"/>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r>
                      <a:rPr lang="en-IN" b="1" i="1" u="none" strike="noStrike" smtClean="0">
                        <a:solidFill>
                          <a:srgbClr val="C00000"/>
                        </a:solidFill>
                        <a:effectLst/>
                        <a:latin typeface="Cambria Math" panose="02040503050406030204" pitchFamily="18" charset="0"/>
                        <a:ea typeface="Cambria Math" panose="02040503050406030204" pitchFamily="18" charset="0"/>
                      </a:rPr>
                      <m:t>𝜼</m:t>
                    </m:r>
                  </m:oMath>
                </a14:m>
                <a:r>
                  <a:rPr lang="en-US" dirty="0"/>
                  <a:t> is the </a:t>
                </a:r>
                <a:r>
                  <a:rPr lang="en-US" dirty="0">
                    <a:solidFill>
                      <a:srgbClr val="C00000"/>
                    </a:solidFill>
                  </a:rPr>
                  <a:t>learning rate</a:t>
                </a:r>
                <a:r>
                  <a:rPr lang="en-US" dirty="0"/>
                  <a:t>, which </a:t>
                </a:r>
                <a:r>
                  <a:rPr lang="en-US" dirty="0">
                    <a:solidFill>
                      <a:srgbClr val="C00000"/>
                    </a:solidFill>
                  </a:rPr>
                  <a:t>controls how much the weights change.</a:t>
                </a:r>
              </a:p>
              <a:p>
                <a:pPr marL="285750" indent="-285750">
                  <a:buFont typeface="Arial" panose="020B0604020202020204" pitchFamily="34" charset="0"/>
                  <a:buChar char="•"/>
                </a:pPr>
                <a14:m>
                  <m:oMath xmlns:m="http://schemas.openxmlformats.org/officeDocument/2006/math">
                    <m:f>
                      <m:fPr>
                        <m:ctrlPr>
                          <a:rPr lang="en-IN" b="1" i="1" u="none" strike="noStrike" smtClean="0">
                            <a:solidFill>
                              <a:srgbClr val="C00000"/>
                            </a:solidFill>
                            <a:effectLst/>
                            <a:latin typeface="Cambria Math" panose="02040503050406030204" pitchFamily="18" charset="0"/>
                            <a:ea typeface="Cambria Math" panose="02040503050406030204" pitchFamily="18" charset="0"/>
                          </a:rPr>
                        </m:ctrlPr>
                      </m:fPr>
                      <m:num>
                        <m:r>
                          <a:rPr lang="en-IN" b="1" i="1" u="none" strike="noStrike" smtClean="0">
                            <a:solidFill>
                              <a:srgbClr val="C00000"/>
                            </a:solidFill>
                            <a:effectLst/>
                            <a:latin typeface="Cambria Math" panose="02040503050406030204" pitchFamily="18" charset="0"/>
                            <a:ea typeface="Cambria Math" panose="02040503050406030204" pitchFamily="18" charset="0"/>
                          </a:rPr>
                          <m:t>𝜹</m:t>
                        </m:r>
                        <m:r>
                          <a:rPr lang="en-US" b="1" i="1" u="none" strike="noStrike" smtClean="0">
                            <a:solidFill>
                              <a:srgbClr val="C00000"/>
                            </a:solidFill>
                            <a:effectLst/>
                            <a:latin typeface="Cambria Math" panose="02040503050406030204" pitchFamily="18" charset="0"/>
                            <a:ea typeface="Cambria Math" panose="02040503050406030204" pitchFamily="18" charset="0"/>
                          </a:rPr>
                          <m:t>𝑬</m:t>
                        </m:r>
                      </m:num>
                      <m:den>
                        <m:r>
                          <a:rPr lang="en-IN" b="1" i="1">
                            <a:solidFill>
                              <a:srgbClr val="C00000"/>
                            </a:solidFill>
                            <a:latin typeface="Cambria Math" panose="02040503050406030204" pitchFamily="18" charset="0"/>
                            <a:ea typeface="Cambria Math" panose="02040503050406030204" pitchFamily="18" charset="0"/>
                          </a:rPr>
                          <m:t>𝜹</m:t>
                        </m:r>
                        <m:sSub>
                          <m:sSubPr>
                            <m:ctrlPr>
                              <a:rPr lang="en-US" b="1" i="1">
                                <a:solidFill>
                                  <a:srgbClr val="C00000"/>
                                </a:solidFill>
                                <a:latin typeface="Cambria Math" panose="02040503050406030204" pitchFamily="18" charset="0"/>
                              </a:rPr>
                            </m:ctrlPr>
                          </m:sSubPr>
                          <m:e>
                            <m:r>
                              <a:rPr lang="en-US" b="1" i="1" smtClean="0">
                                <a:solidFill>
                                  <a:srgbClr val="C00000"/>
                                </a:solidFill>
                                <a:latin typeface="Cambria Math" panose="02040503050406030204" pitchFamily="18" charset="0"/>
                              </a:rPr>
                              <m:t>𝒘</m:t>
                            </m:r>
                          </m:e>
                          <m:sub>
                            <m:r>
                              <a:rPr lang="en-US" b="1" i="1">
                                <a:solidFill>
                                  <a:srgbClr val="C00000"/>
                                </a:solidFill>
                                <a:latin typeface="Cambria Math" panose="02040503050406030204" pitchFamily="18" charset="0"/>
                              </a:rPr>
                              <m:t>𝒊</m:t>
                            </m:r>
                          </m:sub>
                        </m:sSub>
                      </m:den>
                    </m:f>
                  </m:oMath>
                </a14:m>
                <a:r>
                  <a:rPr lang="en-US" b="1" dirty="0">
                    <a:solidFill>
                      <a:srgbClr val="C00000"/>
                    </a:solidFill>
                  </a:rPr>
                  <a:t> </a:t>
                </a:r>
                <a:r>
                  <a:rPr lang="en-US" dirty="0"/>
                  <a:t>is the </a:t>
                </a:r>
                <a:r>
                  <a:rPr lang="en-US" dirty="0">
                    <a:solidFill>
                      <a:srgbClr val="C00000"/>
                    </a:solidFill>
                  </a:rPr>
                  <a:t>gradient of the error function </a:t>
                </a:r>
                <a:r>
                  <a:rPr lang="en-US" dirty="0"/>
                  <a:t>with respect to </a:t>
                </a:r>
                <a:r>
                  <a:rPr lang="en-US" dirty="0" err="1">
                    <a:solidFill>
                      <a:srgbClr val="C00000"/>
                    </a:solidFill>
                  </a:rPr>
                  <a:t>wi</a:t>
                </a:r>
                <a:r>
                  <a:rPr lang="en-US" dirty="0"/>
                  <a:t>​, guiding </a:t>
                </a:r>
                <a:r>
                  <a:rPr lang="en-US" dirty="0">
                    <a:solidFill>
                      <a:srgbClr val="C00000"/>
                    </a:solidFill>
                  </a:rPr>
                  <a:t>the weight adjustment</a:t>
                </a:r>
                <a:r>
                  <a:rPr lang="en-US" dirty="0"/>
                  <a:t>.</a:t>
                </a:r>
              </a:p>
              <a:p>
                <a:pPr marL="285750" indent="-285750">
                  <a:buFont typeface="Arial" panose="020B0604020202020204" pitchFamily="34" charset="0"/>
                  <a:buChar char="•"/>
                </a:pPr>
                <a:endParaRPr lang="en-US" dirty="0"/>
              </a:p>
            </p:txBody>
          </p:sp>
        </mc:Choice>
        <mc:Fallback xmlns="">
          <p:sp>
            <p:nvSpPr>
              <p:cNvPr id="11" name="TextBox 10">
                <a:extLst>
                  <a:ext uri="{FF2B5EF4-FFF2-40B4-BE49-F238E27FC236}">
                    <a16:creationId xmlns:a16="http://schemas.microsoft.com/office/drawing/2014/main" id="{1D4CE962-7CB2-CCFB-34C6-ECEE8E04AB3E}"/>
                  </a:ext>
                </a:extLst>
              </p:cNvPr>
              <p:cNvSpPr txBox="1">
                <a:spLocks noRot="1" noChangeAspect="1" noMove="1" noResize="1" noEditPoints="1" noAdjustHandles="1" noChangeArrowheads="1" noChangeShapeType="1" noTextEdit="1"/>
              </p:cNvSpPr>
              <p:nvPr/>
            </p:nvSpPr>
            <p:spPr>
              <a:xfrm>
                <a:off x="7100712" y="3488267"/>
                <a:ext cx="4718756" cy="1643783"/>
              </a:xfrm>
              <a:prstGeom prst="rect">
                <a:avLst/>
              </a:prstGeom>
              <a:blipFill>
                <a:blip r:embed="rId6"/>
                <a:stretch>
                  <a:fillRect l="-1075" t="-15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C2984EE-38AA-DF77-5E53-1B0D570DFFD3}"/>
                  </a:ext>
                </a:extLst>
              </p:cNvPr>
              <p:cNvSpPr txBox="1"/>
              <p:nvPr/>
            </p:nvSpPr>
            <p:spPr>
              <a:xfrm>
                <a:off x="3093155" y="5378397"/>
                <a:ext cx="5073248" cy="58464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none" rtlCol="0">
                <a:spAutoFit/>
              </a:bodyPr>
              <a:lstStyle/>
              <a:p>
                <a14:m>
                  <m:oMath xmlns:m="http://schemas.openxmlformats.org/officeDocument/2006/math">
                    <m:sSub>
                      <m:sSubPr>
                        <m:ctrlPr>
                          <a:rPr lang="en-IN" sz="2800" i="1" smtClean="0">
                            <a:solidFill>
                              <a:schemeClr val="bg1"/>
                            </a:solidFill>
                            <a:latin typeface="Cambria Math" panose="02040503050406030204" pitchFamily="18" charset="0"/>
                          </a:rPr>
                        </m:ctrlPr>
                      </m:sSubPr>
                      <m:e>
                        <m:r>
                          <a:rPr lang="en-US" sz="2800" i="1">
                            <a:solidFill>
                              <a:schemeClr val="bg1"/>
                            </a:solidFill>
                            <a:latin typeface="Cambria Math" panose="02040503050406030204" pitchFamily="18" charset="0"/>
                          </a:rPr>
                          <m:t>𝑤</m:t>
                        </m:r>
                      </m:e>
                      <m:sub>
                        <m:r>
                          <a:rPr lang="en-US" sz="2800" i="1">
                            <a:solidFill>
                              <a:schemeClr val="bg1"/>
                            </a:solidFill>
                            <a:latin typeface="Cambria Math" panose="02040503050406030204" pitchFamily="18" charset="0"/>
                          </a:rPr>
                          <m:t>𝑖</m:t>
                        </m:r>
                      </m:sub>
                    </m:sSub>
                    <m:r>
                      <a:rPr lang="en-US" sz="2800" i="1">
                        <a:solidFill>
                          <a:schemeClr val="bg1"/>
                        </a:solidFill>
                        <a:latin typeface="Cambria Math" panose="02040503050406030204" pitchFamily="18" charset="0"/>
                      </a:rPr>
                      <m:t> </m:t>
                    </m:r>
                  </m:oMath>
                </a14:m>
                <a:r>
                  <a:rPr lang="en-IN" sz="2800" b="0" i="0" u="none" strike="noStrike" dirty="0">
                    <a:solidFill>
                      <a:schemeClr val="bg1"/>
                    </a:solidFill>
                    <a:effectLst/>
                    <a:cs typeface="Consolas" panose="020B0609020204030204" pitchFamily="49" charset="0"/>
                  </a:rPr>
                  <a:t>​ = </a:t>
                </a:r>
                <a14:m>
                  <m:oMath xmlns:m="http://schemas.openxmlformats.org/officeDocument/2006/math">
                    <m:sSub>
                      <m:sSubPr>
                        <m:ctrlPr>
                          <a:rPr lang="en-IN" sz="2800" i="1">
                            <a:solidFill>
                              <a:schemeClr val="bg1"/>
                            </a:solidFill>
                            <a:latin typeface="Cambria Math" panose="02040503050406030204" pitchFamily="18" charset="0"/>
                          </a:rPr>
                        </m:ctrlPr>
                      </m:sSubPr>
                      <m:e>
                        <m:r>
                          <a:rPr lang="en-US" sz="2800" i="1">
                            <a:solidFill>
                              <a:schemeClr val="bg1"/>
                            </a:solidFill>
                            <a:latin typeface="Cambria Math" panose="02040503050406030204" pitchFamily="18" charset="0"/>
                          </a:rPr>
                          <m:t>𝑤</m:t>
                        </m:r>
                      </m:e>
                      <m:sub>
                        <m:r>
                          <a:rPr lang="en-US" sz="2800" i="1">
                            <a:solidFill>
                              <a:schemeClr val="bg1"/>
                            </a:solidFill>
                            <a:latin typeface="Cambria Math" panose="02040503050406030204" pitchFamily="18" charset="0"/>
                          </a:rPr>
                          <m:t>𝑖</m:t>
                        </m:r>
                      </m:sub>
                    </m:sSub>
                    <m:r>
                      <a:rPr lang="en-US" sz="2800" i="1">
                        <a:solidFill>
                          <a:schemeClr val="bg1"/>
                        </a:solidFill>
                        <a:latin typeface="Cambria Math" panose="02040503050406030204" pitchFamily="18" charset="0"/>
                      </a:rPr>
                      <m:t> </m:t>
                    </m:r>
                  </m:oMath>
                </a14:m>
                <a:r>
                  <a:rPr lang="en-IN" sz="2800" dirty="0">
                    <a:solidFill>
                      <a:schemeClr val="bg1"/>
                    </a:solidFill>
                    <a:cs typeface="Consolas" panose="020B0609020204030204" pitchFamily="49" charset="0"/>
                  </a:rPr>
                  <a:t>​+</a:t>
                </a:r>
                <a:r>
                  <a:rPr lang="en-IN" sz="2800" b="0" i="0" u="none" strike="noStrike" dirty="0">
                    <a:solidFill>
                      <a:schemeClr val="bg1"/>
                    </a:solidFill>
                    <a:effectLst/>
                    <a:cs typeface="Consolas" panose="020B0609020204030204" pitchFamily="49" charset="0"/>
                  </a:rPr>
                  <a:t> </a:t>
                </a:r>
                <a14:m>
                  <m:oMath xmlns:m="http://schemas.openxmlformats.org/officeDocument/2006/math">
                    <m:r>
                      <a:rPr lang="en-IN" sz="2800" i="1">
                        <a:solidFill>
                          <a:schemeClr val="bg1"/>
                        </a:solidFill>
                        <a:latin typeface="Cambria Math" panose="02040503050406030204" pitchFamily="18" charset="0"/>
                        <a:ea typeface="Cambria Math" panose="02040503050406030204" pitchFamily="18" charset="0"/>
                      </a:rPr>
                      <m:t>𝜂</m:t>
                    </m:r>
                    <m:r>
                      <a:rPr lang="en-US" sz="2800" b="0" i="1" smtClean="0">
                        <a:solidFill>
                          <a:schemeClr val="bg1"/>
                        </a:solidFill>
                        <a:latin typeface="Cambria Math" panose="02040503050406030204" pitchFamily="18" charset="0"/>
                        <a:ea typeface="Cambria Math" panose="02040503050406030204" pitchFamily="18" charset="0"/>
                      </a:rPr>
                      <m:t> ∗ </m:t>
                    </m:r>
                    <m:nary>
                      <m:naryPr>
                        <m:chr m:val="∑"/>
                        <m:ctrlPr>
                          <a:rPr lang="en-US" sz="2800" i="1">
                            <a:solidFill>
                              <a:schemeClr val="bg1"/>
                            </a:solidFill>
                            <a:latin typeface="Cambria Math" panose="02040503050406030204" pitchFamily="18" charset="0"/>
                          </a:rPr>
                        </m:ctrlPr>
                      </m:naryPr>
                      <m:sub>
                        <m:r>
                          <m:rPr>
                            <m:brk m:alnAt="23"/>
                          </m:rPr>
                          <a:rPr lang="en-US" sz="2800" b="0" i="1" smtClean="0">
                            <a:solidFill>
                              <a:schemeClr val="bg1"/>
                            </a:solidFill>
                            <a:latin typeface="Cambria Math" panose="02040503050406030204" pitchFamily="18" charset="0"/>
                          </a:rPr>
                          <m:t>𝑖</m:t>
                        </m:r>
                      </m:sub>
                      <m:sup/>
                      <m:e>
                        <m:sSup>
                          <m:sSupPr>
                            <m:ctrlPr>
                              <a:rPr lang="en-US" sz="2800" i="1">
                                <a:solidFill>
                                  <a:schemeClr val="bg1"/>
                                </a:solidFill>
                                <a:latin typeface="Cambria Math" panose="02040503050406030204" pitchFamily="18" charset="0"/>
                              </a:rPr>
                            </m:ctrlPr>
                          </m:sSupPr>
                          <m:e>
                            <m:r>
                              <a:rPr lang="en-US" sz="2800" i="1">
                                <a:solidFill>
                                  <a:schemeClr val="bg1"/>
                                </a:solidFill>
                                <a:latin typeface="Cambria Math" panose="02040503050406030204" pitchFamily="18" charset="0"/>
                              </a:rPr>
                              <m:t>(</m:t>
                            </m:r>
                            <m:sSub>
                              <m:sSubPr>
                                <m:ctrlPr>
                                  <a:rPr lang="en-US" sz="2800" i="1">
                                    <a:solidFill>
                                      <a:schemeClr val="bg1"/>
                                    </a:solidFill>
                                    <a:latin typeface="Cambria Math" panose="02040503050406030204" pitchFamily="18" charset="0"/>
                                  </a:rPr>
                                </m:ctrlPr>
                              </m:sSubPr>
                              <m:e>
                                <m:r>
                                  <a:rPr lang="en-US" sz="2800" i="1">
                                    <a:solidFill>
                                      <a:schemeClr val="bg1"/>
                                    </a:solidFill>
                                    <a:latin typeface="Cambria Math" panose="02040503050406030204" pitchFamily="18" charset="0"/>
                                  </a:rPr>
                                  <m:t>𝑡</m:t>
                                </m:r>
                              </m:e>
                              <m:sub>
                                <m:r>
                                  <a:rPr lang="en-US" sz="2800" i="1">
                                    <a:solidFill>
                                      <a:schemeClr val="bg1"/>
                                    </a:solidFill>
                                    <a:latin typeface="Cambria Math" panose="02040503050406030204" pitchFamily="18" charset="0"/>
                                  </a:rPr>
                                  <m:t>𝑖</m:t>
                                </m:r>
                              </m:sub>
                            </m:sSub>
                            <m:r>
                              <a:rPr lang="en-US" sz="2800" i="1">
                                <a:solidFill>
                                  <a:schemeClr val="bg1"/>
                                </a:solidFill>
                                <a:latin typeface="Cambria Math" panose="02040503050406030204" pitchFamily="18" charset="0"/>
                              </a:rPr>
                              <m:t> −</m:t>
                            </m:r>
                            <m:sSub>
                              <m:sSubPr>
                                <m:ctrlPr>
                                  <a:rPr lang="en-US" sz="2800" i="1">
                                    <a:solidFill>
                                      <a:schemeClr val="bg1"/>
                                    </a:solidFill>
                                    <a:latin typeface="Cambria Math" panose="02040503050406030204" pitchFamily="18" charset="0"/>
                                  </a:rPr>
                                </m:ctrlPr>
                              </m:sSubPr>
                              <m:e>
                                <m:r>
                                  <a:rPr lang="en-US" sz="2800" i="1">
                                    <a:solidFill>
                                      <a:schemeClr val="bg1"/>
                                    </a:solidFill>
                                    <a:latin typeface="Cambria Math" panose="02040503050406030204" pitchFamily="18" charset="0"/>
                                  </a:rPr>
                                  <m:t>𝑜</m:t>
                                </m:r>
                              </m:e>
                              <m:sub>
                                <m:r>
                                  <a:rPr lang="en-US" sz="2800" i="1">
                                    <a:solidFill>
                                      <a:schemeClr val="bg1"/>
                                    </a:solidFill>
                                    <a:latin typeface="Cambria Math" panose="02040503050406030204" pitchFamily="18" charset="0"/>
                                  </a:rPr>
                                  <m:t>𝑖</m:t>
                                </m:r>
                              </m:sub>
                            </m:sSub>
                            <m:r>
                              <a:rPr lang="en-US" sz="2800" i="1">
                                <a:solidFill>
                                  <a:schemeClr val="bg1"/>
                                </a:solidFill>
                                <a:latin typeface="Cambria Math" panose="02040503050406030204" pitchFamily="18" charset="0"/>
                              </a:rPr>
                              <m:t>)</m:t>
                            </m:r>
                          </m:e>
                          <m:sup/>
                        </m:sSup>
                        <m:r>
                          <a:rPr lang="en-US" sz="2800" b="0" i="1" smtClean="0">
                            <a:solidFill>
                              <a:schemeClr val="bg1"/>
                            </a:solidFill>
                            <a:latin typeface="Cambria Math" panose="02040503050406030204" pitchFamily="18" charset="0"/>
                          </a:rPr>
                          <m:t>∗ </m:t>
                        </m:r>
                      </m:e>
                    </m:nary>
                    <m:sSub>
                      <m:sSubPr>
                        <m:ctrlPr>
                          <a:rPr lang="en-US" sz="2800" i="1" smtClean="0">
                            <a:solidFill>
                              <a:schemeClr val="bg1"/>
                            </a:solidFill>
                            <a:latin typeface="Cambria Math" panose="02040503050406030204" pitchFamily="18" charset="0"/>
                          </a:rPr>
                        </m:ctrlPr>
                      </m:sSubPr>
                      <m:e>
                        <m:r>
                          <a:rPr lang="en-US" sz="2800" b="0" i="1" smtClean="0">
                            <a:solidFill>
                              <a:schemeClr val="bg1"/>
                            </a:solidFill>
                            <a:latin typeface="Cambria Math" panose="02040503050406030204" pitchFamily="18" charset="0"/>
                          </a:rPr>
                          <m:t>𝑥</m:t>
                        </m:r>
                      </m:e>
                      <m:sub>
                        <m:r>
                          <a:rPr lang="en-US" sz="2800" b="0" i="1" smtClean="0">
                            <a:solidFill>
                              <a:schemeClr val="bg1"/>
                            </a:solidFill>
                            <a:latin typeface="Cambria Math" panose="02040503050406030204" pitchFamily="18" charset="0"/>
                          </a:rPr>
                          <m:t>𝑖</m:t>
                        </m:r>
                      </m:sub>
                    </m:sSub>
                  </m:oMath>
                </a14:m>
                <a:endParaRPr lang="en-US" sz="2800" dirty="0">
                  <a:solidFill>
                    <a:schemeClr val="bg1"/>
                  </a:solidFill>
                  <a:cs typeface="Consolas" panose="020B0609020204030204" pitchFamily="49" charset="0"/>
                </a:endParaRPr>
              </a:p>
            </p:txBody>
          </p:sp>
        </mc:Choice>
        <mc:Fallback xmlns="">
          <p:sp>
            <p:nvSpPr>
              <p:cNvPr id="12" name="TextBox 11">
                <a:extLst>
                  <a:ext uri="{FF2B5EF4-FFF2-40B4-BE49-F238E27FC236}">
                    <a16:creationId xmlns:a16="http://schemas.microsoft.com/office/drawing/2014/main" id="{1C2984EE-38AA-DF77-5E53-1B0D570DFFD3}"/>
                  </a:ext>
                </a:extLst>
              </p:cNvPr>
              <p:cNvSpPr txBox="1">
                <a:spLocks noRot="1" noChangeAspect="1" noMove="1" noResize="1" noEditPoints="1" noAdjustHandles="1" noChangeArrowheads="1" noChangeShapeType="1" noTextEdit="1"/>
              </p:cNvSpPr>
              <p:nvPr/>
            </p:nvSpPr>
            <p:spPr>
              <a:xfrm>
                <a:off x="3093155" y="5378397"/>
                <a:ext cx="5073248" cy="584647"/>
              </a:xfrm>
              <a:prstGeom prst="rect">
                <a:avLst/>
              </a:prstGeom>
              <a:blipFill>
                <a:blip r:embed="rId7"/>
                <a:stretch>
                  <a:fillRect t="-100000" b="-168750"/>
                </a:stretch>
              </a:blipFill>
            </p:spPr>
            <p:txBody>
              <a:bodyPr/>
              <a:lstStyle/>
              <a:p>
                <a:r>
                  <a:rPr lang="en-US">
                    <a:noFill/>
                  </a:rPr>
                  <a:t> </a:t>
                </a:r>
              </a:p>
            </p:txBody>
          </p:sp>
        </mc:Fallback>
      </mc:AlternateContent>
    </p:spTree>
    <p:extLst>
      <p:ext uri="{BB962C8B-B14F-4D97-AF65-F5344CB8AC3E}">
        <p14:creationId xmlns:p14="http://schemas.microsoft.com/office/powerpoint/2010/main" val="2158868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7" grpId="0"/>
      <p:bldP spid="8" grpId="0"/>
      <p:bldP spid="9" grpId="0" animBg="1"/>
      <p:bldP spid="10" grpId="0" animBg="1"/>
      <p:bldP spid="11" grpId="0"/>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87819-7DFE-DD10-3259-217EA20C2348}"/>
              </a:ext>
            </a:extLst>
          </p:cNvPr>
          <p:cNvSpPr>
            <a:spLocks noGrp="1"/>
          </p:cNvSpPr>
          <p:nvPr>
            <p:ph type="title"/>
          </p:nvPr>
        </p:nvSpPr>
        <p:spPr/>
        <p:txBody>
          <a:bodyPr>
            <a:normAutofit/>
          </a:bodyPr>
          <a:lstStyle/>
          <a:p>
            <a:r>
              <a:rPr lang="en-US" dirty="0"/>
              <a:t>Backpropagation algorithm</a:t>
            </a:r>
          </a:p>
        </p:txBody>
      </p:sp>
      <p:sp>
        <p:nvSpPr>
          <p:cNvPr id="4" name="TextBox 3">
            <a:extLst>
              <a:ext uri="{FF2B5EF4-FFF2-40B4-BE49-F238E27FC236}">
                <a16:creationId xmlns:a16="http://schemas.microsoft.com/office/drawing/2014/main" id="{6EAC6047-4DA6-E837-04FB-C79EBA7EE1AA}"/>
              </a:ext>
            </a:extLst>
          </p:cNvPr>
          <p:cNvSpPr txBox="1"/>
          <p:nvPr/>
        </p:nvSpPr>
        <p:spPr>
          <a:xfrm>
            <a:off x="175416" y="878259"/>
            <a:ext cx="11503724" cy="3416320"/>
          </a:xfrm>
          <a:prstGeom prst="rect">
            <a:avLst/>
          </a:prstGeom>
          <a:solidFill>
            <a:schemeClr val="bg2">
              <a:lumMod val="95000"/>
            </a:schemeClr>
          </a:solidFill>
          <a:ln w="12700">
            <a:solidFill>
              <a:schemeClr val="tx1"/>
            </a:solidFill>
          </a:ln>
        </p:spPr>
        <p:txBody>
          <a:bodyPr wrap="square">
            <a:spAutoFit/>
          </a:bodyPr>
          <a:lstStyle/>
          <a:p>
            <a:r>
              <a:rPr lang="en-IN" b="1" dirty="0">
                <a:solidFill>
                  <a:srgbClr val="C00000"/>
                </a:solidFill>
                <a:latin typeface="Consolas" panose="020B0609020204030204" pitchFamily="49" charset="0"/>
                <a:cs typeface="Consolas" panose="020B0609020204030204" pitchFamily="49" charset="0"/>
              </a:rPr>
              <a:t>Forward Propagation: </a:t>
            </a:r>
          </a:p>
          <a:p>
            <a:pPr marL="342900" indent="-342900">
              <a:buAutoNum type="arabicParenR"/>
            </a:pPr>
            <a:r>
              <a:rPr lang="en-IN" b="1" dirty="0">
                <a:latin typeface="Consolas" panose="020B0609020204030204" pitchFamily="49" charset="0"/>
                <a:cs typeface="Consolas" panose="020B0609020204030204" pitchFamily="49" charset="0"/>
              </a:rPr>
              <a:t>initialize the </a:t>
            </a:r>
            <a:r>
              <a:rPr lang="en-IN" b="1" dirty="0">
                <a:solidFill>
                  <a:srgbClr val="C00000"/>
                </a:solidFill>
                <a:latin typeface="Consolas" panose="020B0609020204030204" pitchFamily="49" charset="0"/>
                <a:cs typeface="Consolas" panose="020B0609020204030204" pitchFamily="49" charset="0"/>
              </a:rPr>
              <a:t>weights</a:t>
            </a:r>
            <a:r>
              <a:rPr lang="en-IN" b="1" dirty="0">
                <a:latin typeface="Consolas" panose="020B0609020204030204" pitchFamily="49" charset="0"/>
                <a:cs typeface="Consolas" panose="020B0609020204030204" pitchFamily="49" charset="0"/>
              </a:rPr>
              <a:t> and </a:t>
            </a:r>
            <a:r>
              <a:rPr lang="en-IN" b="1" dirty="0">
                <a:solidFill>
                  <a:srgbClr val="C00000"/>
                </a:solidFill>
                <a:latin typeface="Consolas" panose="020B0609020204030204" pitchFamily="49" charset="0"/>
                <a:cs typeface="Consolas" panose="020B0609020204030204" pitchFamily="49" charset="0"/>
              </a:rPr>
              <a:t>biases</a:t>
            </a:r>
            <a:r>
              <a:rPr lang="en-IN" b="1" dirty="0">
                <a:latin typeface="Consolas" panose="020B0609020204030204" pitchFamily="49" charset="0"/>
                <a:cs typeface="Consolas" panose="020B0609020204030204" pitchFamily="49" charset="0"/>
              </a:rPr>
              <a:t>.</a:t>
            </a:r>
          </a:p>
          <a:p>
            <a:pPr marL="800100" lvl="1" indent="-342900">
              <a:buAutoNum type="arabicParenR"/>
            </a:pPr>
            <a:r>
              <a:rPr lang="en-IN" b="1" dirty="0">
                <a:latin typeface="Consolas" panose="020B0609020204030204" pitchFamily="49" charset="0"/>
                <a:cs typeface="Consolas" panose="020B0609020204030204" pitchFamily="49" charset="0"/>
              </a:rPr>
              <a:t>The weights AND bias in the network are initialized to random numbers from the interval </a:t>
            </a:r>
            <a:r>
              <a:rPr lang="en-IN" b="1" dirty="0">
                <a:solidFill>
                  <a:schemeClr val="accent3">
                    <a:lumMod val="75000"/>
                  </a:schemeClr>
                </a:solidFill>
                <a:latin typeface="Consolas" panose="020B0609020204030204" pitchFamily="49" charset="0"/>
                <a:cs typeface="Consolas" panose="020B0609020204030204" pitchFamily="49" charset="0"/>
              </a:rPr>
              <a:t>[-1,1].</a:t>
            </a:r>
          </a:p>
          <a:p>
            <a:pPr marL="342900" indent="-342900">
              <a:buFontTx/>
              <a:buAutoNum type="arabicParenR"/>
            </a:pPr>
            <a:r>
              <a:rPr lang="en-IN" b="1" dirty="0">
                <a:latin typeface="Consolas" panose="020B0609020204030204" pitchFamily="49" charset="0"/>
                <a:cs typeface="Consolas" panose="020B0609020204030204" pitchFamily="49" charset="0"/>
              </a:rPr>
              <a:t>feed the training sample.</a:t>
            </a:r>
          </a:p>
          <a:p>
            <a:pPr marL="342900" indent="-342900">
              <a:buFontTx/>
              <a:buAutoNum type="arabicParenR"/>
            </a:pPr>
            <a:r>
              <a:rPr lang="en-IN" b="1" dirty="0">
                <a:latin typeface="Consolas" panose="020B0609020204030204" pitchFamily="49" charset="0"/>
                <a:cs typeface="Consolas" panose="020B0609020204030204" pitchFamily="49" charset="0"/>
              </a:rPr>
              <a:t>Propagate the inputs </a:t>
            </a:r>
            <a:r>
              <a:rPr lang="en-IN" b="1" dirty="0">
                <a:solidFill>
                  <a:schemeClr val="accent3">
                    <a:lumMod val="75000"/>
                  </a:schemeClr>
                </a:solidFill>
                <a:latin typeface="Consolas" panose="020B0609020204030204" pitchFamily="49" charset="0"/>
                <a:cs typeface="Consolas" panose="020B0609020204030204" pitchFamily="49" charset="0"/>
              </a:rPr>
              <a:t>forward and Compute output and loss.</a:t>
            </a:r>
          </a:p>
          <a:p>
            <a:endParaRPr lang="en-IN" b="1" dirty="0">
              <a:solidFill>
                <a:schemeClr val="accent3">
                  <a:lumMod val="75000"/>
                </a:schemeClr>
              </a:solidFill>
              <a:latin typeface="Consolas" panose="020B0609020204030204" pitchFamily="49" charset="0"/>
              <a:cs typeface="Consolas" panose="020B0609020204030204" pitchFamily="49" charset="0"/>
            </a:endParaRPr>
          </a:p>
          <a:p>
            <a:r>
              <a:rPr lang="en-IN" b="1" dirty="0">
                <a:solidFill>
                  <a:srgbClr val="C00000"/>
                </a:solidFill>
                <a:latin typeface="Consolas" panose="020B0609020204030204" pitchFamily="49" charset="0"/>
                <a:cs typeface="Consolas" panose="020B0609020204030204" pitchFamily="49" charset="0"/>
              </a:rPr>
              <a:t>Backward Propagation:</a:t>
            </a:r>
          </a:p>
          <a:p>
            <a:r>
              <a:rPr lang="en-IN" b="1" dirty="0">
                <a:latin typeface="Consolas" panose="020B0609020204030204" pitchFamily="49" charset="0"/>
                <a:cs typeface="Consolas" panose="020B0609020204030204" pitchFamily="49" charset="0"/>
              </a:rPr>
              <a:t>1) back </a:t>
            </a:r>
            <a:r>
              <a:rPr lang="en-IN" b="1" dirty="0">
                <a:solidFill>
                  <a:srgbClr val="C00000"/>
                </a:solidFill>
                <a:latin typeface="Consolas" panose="020B0609020204030204" pitchFamily="49" charset="0"/>
                <a:cs typeface="Consolas" panose="020B0609020204030204" pitchFamily="49" charset="0"/>
              </a:rPr>
              <a:t>propagate the error</a:t>
            </a:r>
            <a:r>
              <a:rPr lang="en-IN" b="1" dirty="0">
                <a:latin typeface="Consolas" panose="020B0609020204030204" pitchFamily="49" charset="0"/>
                <a:cs typeface="Consolas" panose="020B0609020204030204" pitchFamily="49" charset="0"/>
              </a:rPr>
              <a:t>.</a:t>
            </a:r>
          </a:p>
          <a:p>
            <a:r>
              <a:rPr lang="en-IN" b="1" dirty="0">
                <a:latin typeface="Consolas" panose="020B0609020204030204" pitchFamily="49" charset="0"/>
                <a:cs typeface="Consolas" panose="020B0609020204030204" pitchFamily="49" charset="0"/>
              </a:rPr>
              <a:t>2) update </a:t>
            </a:r>
            <a:r>
              <a:rPr lang="en-IN" b="1" dirty="0">
                <a:solidFill>
                  <a:srgbClr val="C00000"/>
                </a:solidFill>
                <a:latin typeface="Consolas" panose="020B0609020204030204" pitchFamily="49" charset="0"/>
                <a:cs typeface="Consolas" panose="020B0609020204030204" pitchFamily="49" charset="0"/>
              </a:rPr>
              <a:t>weights and biases to reflect the propagated errors.</a:t>
            </a:r>
          </a:p>
          <a:p>
            <a:endParaRPr lang="en-IN" b="1" dirty="0">
              <a:solidFill>
                <a:srgbClr val="C00000"/>
              </a:solidFill>
              <a:latin typeface="Consolas" panose="020B0609020204030204" pitchFamily="49" charset="0"/>
              <a:cs typeface="Consolas" panose="020B0609020204030204" pitchFamily="49" charset="0"/>
            </a:endParaRPr>
          </a:p>
          <a:p>
            <a:r>
              <a:rPr lang="en-IN" b="1" dirty="0" err="1">
                <a:latin typeface="Consolas" panose="020B0609020204030204" pitchFamily="49" charset="0"/>
                <a:cs typeface="Consolas" panose="020B0609020204030204" pitchFamily="49" charset="0"/>
              </a:rPr>
              <a:t>Repear</a:t>
            </a:r>
            <a:r>
              <a:rPr lang="en-IN" b="1" dirty="0">
                <a:latin typeface="Consolas" panose="020B0609020204030204" pitchFamily="49" charset="0"/>
                <a:cs typeface="Consolas" panose="020B0609020204030204" pitchFamily="49" charset="0"/>
              </a:rPr>
              <a:t> until the model learns the optimal weights.</a:t>
            </a:r>
          </a:p>
        </p:txBody>
      </p:sp>
    </p:spTree>
    <p:extLst>
      <p:ext uri="{BB962C8B-B14F-4D97-AF65-F5344CB8AC3E}">
        <p14:creationId xmlns:p14="http://schemas.microsoft.com/office/powerpoint/2010/main" val="4234320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A8D65-AB8A-8935-B766-8FA22B59B3ED}"/>
              </a:ext>
            </a:extLst>
          </p:cNvPr>
          <p:cNvSpPr>
            <a:spLocks noGrp="1"/>
          </p:cNvSpPr>
          <p:nvPr>
            <p:ph type="title"/>
          </p:nvPr>
        </p:nvSpPr>
        <p:spPr/>
        <p:txBody>
          <a:bodyPr/>
          <a:lstStyle/>
          <a:p>
            <a:r>
              <a:rPr lang="en-US" dirty="0"/>
              <a:t>Backpropagation algorithm</a:t>
            </a:r>
          </a:p>
        </p:txBody>
      </p:sp>
      <p:sp>
        <p:nvSpPr>
          <p:cNvPr id="6" name="TextBox 5">
            <a:extLst>
              <a:ext uri="{FF2B5EF4-FFF2-40B4-BE49-F238E27FC236}">
                <a16:creationId xmlns:a16="http://schemas.microsoft.com/office/drawing/2014/main" id="{FC02FCE0-32FB-6504-B500-B431335751E3}"/>
              </a:ext>
            </a:extLst>
          </p:cNvPr>
          <p:cNvSpPr txBox="1"/>
          <p:nvPr/>
        </p:nvSpPr>
        <p:spPr>
          <a:xfrm>
            <a:off x="296333" y="887778"/>
            <a:ext cx="4027311" cy="646331"/>
          </a:xfrm>
          <a:prstGeom prst="rect">
            <a:avLst/>
          </a:prstGeom>
          <a:noFill/>
        </p:spPr>
        <p:txBody>
          <a:bodyPr wrap="square">
            <a:spAutoFit/>
          </a:bodyPr>
          <a:lstStyle/>
          <a:p>
            <a:pPr>
              <a:defRPr/>
            </a:pPr>
            <a:r>
              <a:rPr lang="en-US" b="1" dirty="0">
                <a:solidFill>
                  <a:srgbClr val="C00000"/>
                </a:solidFill>
                <a:latin typeface="+mj-lt"/>
              </a:rPr>
              <a:t>1) For each output node k compute the error:</a:t>
            </a:r>
          </a:p>
        </p:txBody>
      </p:sp>
      <p:sp>
        <p:nvSpPr>
          <p:cNvPr id="7" name="TextBox 6">
            <a:extLst>
              <a:ext uri="{FF2B5EF4-FFF2-40B4-BE49-F238E27FC236}">
                <a16:creationId xmlns:a16="http://schemas.microsoft.com/office/drawing/2014/main" id="{0F30AE61-2E32-2C85-3482-786F17FB7A9E}"/>
              </a:ext>
            </a:extLst>
          </p:cNvPr>
          <p:cNvSpPr txBox="1"/>
          <p:nvPr/>
        </p:nvSpPr>
        <p:spPr>
          <a:xfrm>
            <a:off x="680156" y="1634586"/>
            <a:ext cx="2435282" cy="40011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none" rtlCol="0">
            <a:spAutoFit/>
          </a:bodyPr>
          <a:lstStyle/>
          <a:p>
            <a:r>
              <a:rPr lang="en-US" sz="2000" dirty="0" err="1">
                <a:latin typeface="+mj-lt"/>
              </a:rPr>
              <a:t>δ</a:t>
            </a:r>
            <a:r>
              <a:rPr lang="en-US" sz="2000" baseline="-25000" dirty="0" err="1">
                <a:latin typeface="+mj-lt"/>
              </a:rPr>
              <a:t>k</a:t>
            </a:r>
            <a:r>
              <a:rPr lang="en-US" sz="2000" dirty="0">
                <a:latin typeface="+mj-lt"/>
              </a:rPr>
              <a:t>   = O</a:t>
            </a:r>
            <a:r>
              <a:rPr lang="en-US" sz="2000" baseline="-25000" dirty="0">
                <a:latin typeface="+mj-lt"/>
              </a:rPr>
              <a:t>k</a:t>
            </a:r>
            <a:r>
              <a:rPr lang="en-US" sz="2000" dirty="0">
                <a:latin typeface="+mj-lt"/>
              </a:rPr>
              <a:t> (1-O</a:t>
            </a:r>
            <a:r>
              <a:rPr lang="en-US" sz="2000" baseline="-25000" dirty="0">
                <a:latin typeface="+mj-lt"/>
              </a:rPr>
              <a:t>k</a:t>
            </a:r>
            <a:r>
              <a:rPr lang="en-US" sz="2000" dirty="0">
                <a:latin typeface="+mj-lt"/>
              </a:rPr>
              <a:t>)(</a:t>
            </a:r>
            <a:r>
              <a:rPr lang="en-US" sz="2000" dirty="0" err="1">
                <a:latin typeface="+mj-lt"/>
              </a:rPr>
              <a:t>t</a:t>
            </a:r>
            <a:r>
              <a:rPr lang="en-US" sz="2000" baseline="-25000" dirty="0" err="1">
                <a:latin typeface="+mj-lt"/>
              </a:rPr>
              <a:t>k</a:t>
            </a:r>
            <a:r>
              <a:rPr lang="en-US" sz="2000" dirty="0">
                <a:latin typeface="+mj-lt"/>
              </a:rPr>
              <a:t> – O</a:t>
            </a:r>
            <a:r>
              <a:rPr lang="en-US" sz="2000" baseline="-25000" dirty="0">
                <a:latin typeface="+mj-lt"/>
              </a:rPr>
              <a:t>k</a:t>
            </a:r>
            <a:r>
              <a:rPr lang="en-US" sz="2000" dirty="0">
                <a:latin typeface="+mj-lt"/>
              </a:rPr>
              <a:t>)</a:t>
            </a:r>
          </a:p>
        </p:txBody>
      </p:sp>
      <p:sp>
        <p:nvSpPr>
          <p:cNvPr id="9" name="TextBox 8">
            <a:extLst>
              <a:ext uri="{FF2B5EF4-FFF2-40B4-BE49-F238E27FC236}">
                <a16:creationId xmlns:a16="http://schemas.microsoft.com/office/drawing/2014/main" id="{891A7071-FDA0-7816-8E79-C141273AD1F7}"/>
              </a:ext>
            </a:extLst>
          </p:cNvPr>
          <p:cNvSpPr txBox="1"/>
          <p:nvPr/>
        </p:nvSpPr>
        <p:spPr>
          <a:xfrm>
            <a:off x="5974645" y="947635"/>
            <a:ext cx="6124222" cy="369332"/>
          </a:xfrm>
          <a:prstGeom prst="rect">
            <a:avLst/>
          </a:prstGeom>
          <a:noFill/>
        </p:spPr>
        <p:txBody>
          <a:bodyPr wrap="square">
            <a:spAutoFit/>
          </a:bodyPr>
          <a:lstStyle/>
          <a:p>
            <a:pPr>
              <a:defRPr/>
            </a:pPr>
            <a:r>
              <a:rPr lang="en-US" b="1" dirty="0">
                <a:solidFill>
                  <a:srgbClr val="C00000"/>
                </a:solidFill>
                <a:latin typeface="+mj-lt"/>
              </a:rPr>
              <a:t>2) For each hidden unit h, calculate the error:</a:t>
            </a:r>
          </a:p>
        </p:txBody>
      </p:sp>
      <p:sp>
        <p:nvSpPr>
          <p:cNvPr id="10" name="TextBox 9">
            <a:extLst>
              <a:ext uri="{FF2B5EF4-FFF2-40B4-BE49-F238E27FC236}">
                <a16:creationId xmlns:a16="http://schemas.microsoft.com/office/drawing/2014/main" id="{A93CD3B3-3126-8707-C11E-219AD96CA77C}"/>
              </a:ext>
            </a:extLst>
          </p:cNvPr>
          <p:cNvSpPr txBox="1"/>
          <p:nvPr/>
        </p:nvSpPr>
        <p:spPr>
          <a:xfrm>
            <a:off x="6329845" y="1528811"/>
            <a:ext cx="2646878" cy="40011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none" rtlCol="0">
            <a:spAutoFit/>
          </a:bodyPr>
          <a:lstStyle/>
          <a:p>
            <a:r>
              <a:rPr lang="en-US" sz="2000" dirty="0" err="1">
                <a:latin typeface="+mj-lt"/>
              </a:rPr>
              <a:t>δ</a:t>
            </a:r>
            <a:r>
              <a:rPr lang="en-US" sz="2000" baseline="-25000" dirty="0" err="1">
                <a:latin typeface="+mj-lt"/>
              </a:rPr>
              <a:t>h</a:t>
            </a:r>
            <a:r>
              <a:rPr lang="en-US" sz="2000" dirty="0">
                <a:latin typeface="+mj-lt"/>
              </a:rPr>
              <a:t>   = O</a:t>
            </a:r>
            <a:r>
              <a:rPr lang="en-US" sz="2000" baseline="-25000" dirty="0">
                <a:latin typeface="+mj-lt"/>
              </a:rPr>
              <a:t>h</a:t>
            </a:r>
            <a:r>
              <a:rPr lang="en-US" sz="2000" dirty="0">
                <a:latin typeface="+mj-lt"/>
              </a:rPr>
              <a:t> (1-O</a:t>
            </a:r>
            <a:r>
              <a:rPr lang="en-US" sz="2000" baseline="-25000" dirty="0">
                <a:latin typeface="+mj-lt"/>
              </a:rPr>
              <a:t>h</a:t>
            </a:r>
            <a:r>
              <a:rPr lang="en-US" sz="2000" dirty="0">
                <a:latin typeface="+mj-lt"/>
              </a:rPr>
              <a:t>) </a:t>
            </a:r>
            <a:r>
              <a:rPr lang="en-US" sz="2000" dirty="0" err="1">
                <a:latin typeface="+mj-lt"/>
              </a:rPr>
              <a:t>Σ</a:t>
            </a:r>
            <a:r>
              <a:rPr lang="en-US" sz="2000" baseline="-25000" dirty="0" err="1">
                <a:latin typeface="+mj-lt"/>
              </a:rPr>
              <a:t>k</a:t>
            </a:r>
            <a:r>
              <a:rPr lang="en-US" sz="2000" dirty="0">
                <a:latin typeface="+mj-lt"/>
              </a:rPr>
              <a:t>  </a:t>
            </a:r>
            <a:r>
              <a:rPr lang="en-US" sz="2000" dirty="0" err="1">
                <a:latin typeface="+mj-lt"/>
              </a:rPr>
              <a:t>W</a:t>
            </a:r>
            <a:r>
              <a:rPr lang="en-US" sz="2000" baseline="-25000" dirty="0" err="1">
                <a:latin typeface="+mj-lt"/>
              </a:rPr>
              <a:t>kh</a:t>
            </a:r>
            <a:r>
              <a:rPr lang="en-US" sz="2000" dirty="0">
                <a:latin typeface="+mj-lt"/>
              </a:rPr>
              <a:t> </a:t>
            </a:r>
            <a:r>
              <a:rPr lang="en-US" sz="2000" dirty="0" err="1">
                <a:latin typeface="+mj-lt"/>
              </a:rPr>
              <a:t>δ</a:t>
            </a:r>
            <a:r>
              <a:rPr lang="en-US" sz="2000" baseline="-25000" dirty="0" err="1">
                <a:latin typeface="+mj-lt"/>
              </a:rPr>
              <a:t>k</a:t>
            </a:r>
            <a:endParaRPr lang="en-US" sz="2000" dirty="0">
              <a:latin typeface="+mj-lt"/>
            </a:endParaRPr>
          </a:p>
        </p:txBody>
      </p:sp>
      <p:sp>
        <p:nvSpPr>
          <p:cNvPr id="11" name="TextBox 10">
            <a:extLst>
              <a:ext uri="{FF2B5EF4-FFF2-40B4-BE49-F238E27FC236}">
                <a16:creationId xmlns:a16="http://schemas.microsoft.com/office/drawing/2014/main" id="{05704620-D385-2CA2-A29B-468EC6B7F188}"/>
              </a:ext>
            </a:extLst>
          </p:cNvPr>
          <p:cNvSpPr txBox="1"/>
          <p:nvPr/>
        </p:nvSpPr>
        <p:spPr>
          <a:xfrm>
            <a:off x="3943337" y="4492725"/>
            <a:ext cx="3098925" cy="369332"/>
          </a:xfrm>
          <a:prstGeom prst="rect">
            <a:avLst/>
          </a:prstGeom>
          <a:noFill/>
        </p:spPr>
        <p:txBody>
          <a:bodyPr wrap="none" rtlCol="0">
            <a:spAutoFit/>
          </a:bodyPr>
          <a:lstStyle/>
          <a:p>
            <a:r>
              <a:rPr lang="en-US" b="1" dirty="0">
                <a:solidFill>
                  <a:srgbClr val="C00000"/>
                </a:solidFill>
                <a:latin typeface="+mj-lt"/>
              </a:rPr>
              <a:t>3) Update each network weight:</a:t>
            </a:r>
          </a:p>
        </p:txBody>
      </p:sp>
      <p:sp>
        <p:nvSpPr>
          <p:cNvPr id="12" name="TextBox 11">
            <a:extLst>
              <a:ext uri="{FF2B5EF4-FFF2-40B4-BE49-F238E27FC236}">
                <a16:creationId xmlns:a16="http://schemas.microsoft.com/office/drawing/2014/main" id="{09984390-A8C4-B5CD-34A2-1D2C15DAA37C}"/>
              </a:ext>
            </a:extLst>
          </p:cNvPr>
          <p:cNvSpPr txBox="1"/>
          <p:nvPr/>
        </p:nvSpPr>
        <p:spPr>
          <a:xfrm>
            <a:off x="4496489" y="5084414"/>
            <a:ext cx="2012089" cy="43088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none" rtlCol="0">
            <a:spAutoFit/>
          </a:bodyPr>
          <a:lstStyle/>
          <a:p>
            <a:r>
              <a:rPr lang="en-US" sz="2200" dirty="0" err="1">
                <a:latin typeface="+mj-lt"/>
              </a:rPr>
              <a:t>W</a:t>
            </a:r>
            <a:r>
              <a:rPr lang="en-US" sz="2200" baseline="-25000" dirty="0" err="1">
                <a:latin typeface="+mj-lt"/>
              </a:rPr>
              <a:t>ji</a:t>
            </a:r>
            <a:r>
              <a:rPr lang="en-US" sz="2200" dirty="0">
                <a:latin typeface="+mj-lt"/>
              </a:rPr>
              <a:t>  =  </a:t>
            </a:r>
            <a:r>
              <a:rPr lang="en-US" sz="2200" dirty="0" err="1">
                <a:latin typeface="+mj-lt"/>
              </a:rPr>
              <a:t>W</a:t>
            </a:r>
            <a:r>
              <a:rPr lang="en-US" sz="2200" baseline="-25000" dirty="0" err="1">
                <a:latin typeface="+mj-lt"/>
              </a:rPr>
              <a:t>ji</a:t>
            </a:r>
            <a:r>
              <a:rPr lang="en-US" sz="2200" dirty="0">
                <a:latin typeface="+mj-lt"/>
              </a:rPr>
              <a:t>  +  </a:t>
            </a:r>
            <a:r>
              <a:rPr lang="en-US" sz="2200" dirty="0" err="1">
                <a:latin typeface="+mj-lt"/>
              </a:rPr>
              <a:t>Δw</a:t>
            </a:r>
            <a:r>
              <a:rPr lang="en-US" sz="2200" baseline="-25000" dirty="0" err="1">
                <a:latin typeface="+mj-lt"/>
              </a:rPr>
              <a:t>ji</a:t>
            </a:r>
            <a:endParaRPr lang="en-US" sz="2200" baseline="-25000" dirty="0">
              <a:latin typeface="+mj-lt"/>
            </a:endParaRPr>
          </a:p>
        </p:txBody>
      </p:sp>
      <p:sp>
        <p:nvSpPr>
          <p:cNvPr id="13" name="TextBox 12">
            <a:extLst>
              <a:ext uri="{FF2B5EF4-FFF2-40B4-BE49-F238E27FC236}">
                <a16:creationId xmlns:a16="http://schemas.microsoft.com/office/drawing/2014/main" id="{8A43DC12-8A29-2FA1-341C-1C2393BC13B0}"/>
              </a:ext>
            </a:extLst>
          </p:cNvPr>
          <p:cNvSpPr txBox="1"/>
          <p:nvPr/>
        </p:nvSpPr>
        <p:spPr>
          <a:xfrm>
            <a:off x="4479556" y="5685856"/>
            <a:ext cx="2186817" cy="40011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none" rtlCol="0">
            <a:spAutoFit/>
          </a:bodyPr>
          <a:lstStyle/>
          <a:p>
            <a:r>
              <a:rPr lang="en-US" sz="2000" dirty="0">
                <a:latin typeface="+mj-lt"/>
              </a:rPr>
              <a:t>where  </a:t>
            </a:r>
            <a:r>
              <a:rPr lang="en-US" sz="2000" dirty="0" err="1">
                <a:latin typeface="+mj-lt"/>
              </a:rPr>
              <a:t>Δw</a:t>
            </a:r>
            <a:r>
              <a:rPr lang="en-US" sz="2000" baseline="-25000" dirty="0" err="1">
                <a:latin typeface="+mj-lt"/>
              </a:rPr>
              <a:t>ji</a:t>
            </a:r>
            <a:r>
              <a:rPr lang="en-US" sz="2000" dirty="0">
                <a:latin typeface="+mj-lt"/>
              </a:rPr>
              <a:t> = </a:t>
            </a:r>
            <a:r>
              <a:rPr lang="en-US" sz="2000" dirty="0" err="1">
                <a:latin typeface="+mj-lt"/>
              </a:rPr>
              <a:t>η</a:t>
            </a:r>
            <a:r>
              <a:rPr lang="en-US" sz="2000" dirty="0">
                <a:latin typeface="+mj-lt"/>
              </a:rPr>
              <a:t> </a:t>
            </a:r>
            <a:r>
              <a:rPr lang="en-US" sz="2000" dirty="0" err="1">
                <a:latin typeface="+mj-lt"/>
              </a:rPr>
              <a:t>δ</a:t>
            </a:r>
            <a:r>
              <a:rPr lang="en-US" sz="2000" baseline="-25000" dirty="0" err="1">
                <a:latin typeface="+mj-lt"/>
              </a:rPr>
              <a:t>j</a:t>
            </a:r>
            <a:r>
              <a:rPr lang="en-US" sz="2000" dirty="0">
                <a:latin typeface="+mj-lt"/>
              </a:rPr>
              <a:t> </a:t>
            </a:r>
            <a:r>
              <a:rPr lang="en-US" sz="2000" dirty="0" err="1">
                <a:latin typeface="+mj-lt"/>
              </a:rPr>
              <a:t>X</a:t>
            </a:r>
            <a:r>
              <a:rPr lang="en-US" sz="2000" baseline="-25000" dirty="0" err="1">
                <a:latin typeface="+mj-lt"/>
              </a:rPr>
              <a:t>ji</a:t>
            </a:r>
            <a:endParaRPr lang="en-US" sz="2000" dirty="0">
              <a:latin typeface="+mj-lt"/>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8B0189C-8EFA-1C6F-FC53-7A9BC51A4C3A}"/>
                  </a:ext>
                </a:extLst>
              </p:cNvPr>
              <p:cNvSpPr txBox="1"/>
              <p:nvPr/>
            </p:nvSpPr>
            <p:spPr>
              <a:xfrm>
                <a:off x="296333" y="2198512"/>
                <a:ext cx="5387623" cy="2031325"/>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sSub>
                      <m:sSubPr>
                        <m:ctrlPr>
                          <a:rPr lang="en-US" altLang="ko-KR" sz="1800" b="1" i="1" smtClean="0">
                            <a:solidFill>
                              <a:srgbClr val="C00000"/>
                            </a:solidFill>
                            <a:latin typeface="Cambria Math" panose="02040503050406030204" pitchFamily="18" charset="0"/>
                            <a:ea typeface="굴림" panose="020B0600000101010101" pitchFamily="34" charset="-127"/>
                          </a:rPr>
                        </m:ctrlPr>
                      </m:sSubPr>
                      <m:e>
                        <m:r>
                          <a:rPr lang="en-US" altLang="ko-KR" sz="1800" b="1" i="1" smtClean="0">
                            <a:solidFill>
                              <a:srgbClr val="C00000"/>
                            </a:solidFill>
                            <a:latin typeface="Cambria Math" panose="02040503050406030204" pitchFamily="18" charset="0"/>
                            <a:ea typeface="굴림" panose="020B0600000101010101" pitchFamily="34" charset="-127"/>
                          </a:rPr>
                          <m:t>𝑶</m:t>
                        </m:r>
                      </m:e>
                      <m:sub>
                        <m:r>
                          <a:rPr lang="en-US" altLang="ko-KR" sz="1800" b="1" i="1" smtClean="0">
                            <a:solidFill>
                              <a:srgbClr val="C00000"/>
                            </a:solidFill>
                            <a:latin typeface="Cambria Math" panose="02040503050406030204" pitchFamily="18" charset="0"/>
                            <a:ea typeface="굴림" panose="020B0600000101010101" pitchFamily="34" charset="-127"/>
                          </a:rPr>
                          <m:t>𝒌</m:t>
                        </m:r>
                      </m:sub>
                    </m:sSub>
                    <m:r>
                      <a:rPr lang="en-US" altLang="ko-KR" sz="1800" b="0" i="1" smtClean="0">
                        <a:solidFill>
                          <a:srgbClr val="C00000"/>
                        </a:solidFill>
                        <a:latin typeface="Cambria Math" panose="02040503050406030204" pitchFamily="18" charset="0"/>
                        <a:ea typeface="굴림" panose="020B0600000101010101" pitchFamily="34" charset="-127"/>
                      </a:rPr>
                      <m:t> </m:t>
                    </m:r>
                  </m:oMath>
                </a14:m>
                <a:r>
                  <a:rPr lang="en-US" altLang="ko-KR" sz="1800" dirty="0">
                    <a:solidFill>
                      <a:schemeClr val="tx1"/>
                    </a:solidFill>
                    <a:latin typeface="+mj-lt"/>
                    <a:ea typeface="Roboto" panose="02000000000000000000" pitchFamily="2" charset="0"/>
                  </a:rPr>
                  <a:t>actual </a:t>
                </a:r>
                <a:r>
                  <a:rPr lang="en-US" altLang="ko-KR" sz="1800" dirty="0">
                    <a:solidFill>
                      <a:srgbClr val="C00000"/>
                    </a:solidFill>
                    <a:latin typeface="+mj-lt"/>
                    <a:ea typeface="Roboto" panose="02000000000000000000" pitchFamily="2" charset="0"/>
                  </a:rPr>
                  <a:t>output of unit k ( computed by activation function.</a:t>
                </a:r>
              </a:p>
              <a:p>
                <a:pPr marL="285750" indent="-285750">
                  <a:buFont typeface="Arial" panose="020B0604020202020204" pitchFamily="34" charset="0"/>
                  <a:buChar char="•"/>
                </a:pPr>
                <a14:m>
                  <m:oMath xmlns:m="http://schemas.openxmlformats.org/officeDocument/2006/math">
                    <m:sSub>
                      <m:sSubPr>
                        <m:ctrlPr>
                          <a:rPr lang="en-US" altLang="ko-KR" sz="1800" b="1" i="1" smtClean="0">
                            <a:solidFill>
                              <a:srgbClr val="C00000"/>
                            </a:solidFill>
                            <a:latin typeface="Cambria Math" panose="02040503050406030204" pitchFamily="18" charset="0"/>
                            <a:ea typeface="굴림" panose="020B0600000101010101" pitchFamily="34" charset="-127"/>
                          </a:rPr>
                        </m:ctrlPr>
                      </m:sSubPr>
                      <m:e>
                        <m:r>
                          <a:rPr lang="en-US" altLang="ko-KR" sz="1800" b="1" i="1" smtClean="0">
                            <a:solidFill>
                              <a:srgbClr val="C00000"/>
                            </a:solidFill>
                            <a:latin typeface="Cambria Math" panose="02040503050406030204" pitchFamily="18" charset="0"/>
                            <a:ea typeface="굴림" panose="020B0600000101010101" pitchFamily="34" charset="-127"/>
                          </a:rPr>
                          <m:t>𝒕</m:t>
                        </m:r>
                      </m:e>
                      <m:sub>
                        <m:r>
                          <a:rPr lang="en-US" altLang="ko-KR" sz="1800" b="1" i="1" smtClean="0">
                            <a:solidFill>
                              <a:srgbClr val="C00000"/>
                            </a:solidFill>
                            <a:latin typeface="Cambria Math" panose="02040503050406030204" pitchFamily="18" charset="0"/>
                            <a:ea typeface="굴림" panose="020B0600000101010101" pitchFamily="34" charset="-127"/>
                          </a:rPr>
                          <m:t>𝒌</m:t>
                        </m:r>
                      </m:sub>
                    </m:sSub>
                  </m:oMath>
                </a14:m>
                <a:r>
                  <a:rPr lang="en-US" altLang="ko-KR" sz="1800" b="1" dirty="0">
                    <a:solidFill>
                      <a:srgbClr val="C00000"/>
                    </a:solidFill>
                    <a:latin typeface="+mj-lt"/>
                    <a:ea typeface="Roboto" panose="02000000000000000000" pitchFamily="2" charset="0"/>
                  </a:rPr>
                  <a:t> </a:t>
                </a:r>
                <a:r>
                  <a:rPr lang="en-US" altLang="ko-KR" dirty="0">
                    <a:solidFill>
                      <a:srgbClr val="C00000"/>
                    </a:solidFill>
                    <a:latin typeface="+mj-lt"/>
                    <a:ea typeface="Roboto" panose="02000000000000000000" pitchFamily="2" charset="0"/>
                  </a:rPr>
                  <a:t> </a:t>
                </a:r>
                <a:r>
                  <a:rPr lang="en-US" altLang="ko-KR" dirty="0">
                    <a:solidFill>
                      <a:schemeClr val="tx1"/>
                    </a:solidFill>
                    <a:latin typeface="+mj-lt"/>
                    <a:ea typeface="Roboto" panose="02000000000000000000" pitchFamily="2" charset="0"/>
                  </a:rPr>
                  <a:t>is the target value </a:t>
                </a:r>
                <a:r>
                  <a:rPr lang="en-US" altLang="ko-KR" dirty="0">
                    <a:solidFill>
                      <a:srgbClr val="C00000"/>
                    </a:solidFill>
                    <a:latin typeface="+mj-lt"/>
                    <a:ea typeface="Roboto" panose="02000000000000000000" pitchFamily="2" charset="0"/>
                  </a:rPr>
                  <a:t>for node k.</a:t>
                </a:r>
              </a:p>
              <a:p>
                <a:pPr marL="285750" indent="-285750">
                  <a:buFont typeface="Arial" panose="020B0604020202020204" pitchFamily="34" charset="0"/>
                  <a:buChar char="•"/>
                </a:pPr>
                <a:r>
                  <a:rPr lang="en-US" b="1" dirty="0">
                    <a:solidFill>
                      <a:srgbClr val="C00000"/>
                    </a:solidFill>
                    <a:latin typeface="+mj-lt"/>
                  </a:rPr>
                  <a:t>(</a:t>
                </a:r>
                <a:r>
                  <a:rPr lang="en-US" b="1" dirty="0" err="1">
                    <a:solidFill>
                      <a:srgbClr val="C00000"/>
                    </a:solidFill>
                    <a:latin typeface="+mj-lt"/>
                  </a:rPr>
                  <a:t>t</a:t>
                </a:r>
                <a:r>
                  <a:rPr lang="en-US" b="1" baseline="-25000" dirty="0" err="1">
                    <a:solidFill>
                      <a:srgbClr val="C00000"/>
                    </a:solidFill>
                    <a:latin typeface="+mj-lt"/>
                  </a:rPr>
                  <a:t>k</a:t>
                </a:r>
                <a:r>
                  <a:rPr lang="en-US" b="1" dirty="0">
                    <a:solidFill>
                      <a:srgbClr val="C00000"/>
                    </a:solidFill>
                    <a:latin typeface="+mj-lt"/>
                  </a:rPr>
                  <a:t> – O</a:t>
                </a:r>
                <a:r>
                  <a:rPr lang="en-US" b="1" baseline="-25000" dirty="0">
                    <a:solidFill>
                      <a:srgbClr val="C00000"/>
                    </a:solidFill>
                    <a:latin typeface="+mj-lt"/>
                  </a:rPr>
                  <a:t>k</a:t>
                </a:r>
                <a:r>
                  <a:rPr lang="en-US" b="1" dirty="0">
                    <a:solidFill>
                      <a:srgbClr val="C00000"/>
                    </a:solidFill>
                    <a:latin typeface="+mj-lt"/>
                  </a:rPr>
                  <a:t>) </a:t>
                </a:r>
                <a:r>
                  <a:rPr lang="en-US" dirty="0">
                    <a:solidFill>
                      <a:srgbClr val="C00000"/>
                    </a:solidFill>
                    <a:latin typeface="+mj-lt"/>
                  </a:rPr>
                  <a:t> </a:t>
                </a:r>
                <a:r>
                  <a:rPr lang="en-US" altLang="ko-KR" sz="1800" dirty="0">
                    <a:solidFill>
                      <a:schemeClr val="tx1"/>
                    </a:solidFill>
                    <a:latin typeface="+mj-lt"/>
                    <a:ea typeface="Roboto" panose="02000000000000000000" pitchFamily="2" charset="0"/>
                  </a:rPr>
                  <a:t>presents the </a:t>
                </a:r>
                <a:r>
                  <a:rPr lang="en-US" altLang="ko-KR" sz="1800" dirty="0">
                    <a:solidFill>
                      <a:srgbClr val="C00000"/>
                    </a:solidFill>
                    <a:latin typeface="+mj-lt"/>
                    <a:ea typeface="Roboto" panose="02000000000000000000" pitchFamily="2" charset="0"/>
                  </a:rPr>
                  <a:t>difference between the expected and actual output (error signal).</a:t>
                </a:r>
              </a:p>
              <a:p>
                <a:pPr marL="285750" indent="-285750">
                  <a:buFont typeface="Arial" panose="020B0604020202020204" pitchFamily="34" charset="0"/>
                  <a:buChar char="•"/>
                </a:pPr>
                <a:r>
                  <a:rPr lang="en-US" b="1" dirty="0">
                    <a:solidFill>
                      <a:srgbClr val="C00000"/>
                    </a:solidFill>
                    <a:latin typeface="+mj-lt"/>
                  </a:rPr>
                  <a:t>O</a:t>
                </a:r>
                <a:r>
                  <a:rPr lang="en-US" b="1" baseline="-25000" dirty="0">
                    <a:solidFill>
                      <a:srgbClr val="C00000"/>
                    </a:solidFill>
                    <a:latin typeface="+mj-lt"/>
                  </a:rPr>
                  <a:t>k</a:t>
                </a:r>
                <a:r>
                  <a:rPr lang="en-US" b="1" dirty="0">
                    <a:solidFill>
                      <a:srgbClr val="C00000"/>
                    </a:solidFill>
                    <a:latin typeface="+mj-lt"/>
                  </a:rPr>
                  <a:t> (1-O</a:t>
                </a:r>
                <a:r>
                  <a:rPr lang="en-US" b="1" baseline="-25000" dirty="0">
                    <a:solidFill>
                      <a:srgbClr val="C00000"/>
                    </a:solidFill>
                    <a:latin typeface="+mj-lt"/>
                  </a:rPr>
                  <a:t>k</a:t>
                </a:r>
                <a:r>
                  <a:rPr lang="en-US" b="1" dirty="0">
                    <a:solidFill>
                      <a:srgbClr val="C00000"/>
                    </a:solidFill>
                    <a:latin typeface="+mj-lt"/>
                  </a:rPr>
                  <a:t>) </a:t>
                </a:r>
                <a:r>
                  <a:rPr lang="en-US" altLang="ko-KR" sz="1800" dirty="0">
                    <a:solidFill>
                      <a:schemeClr val="tx1"/>
                    </a:solidFill>
                    <a:latin typeface="+mj-lt"/>
                    <a:ea typeface="Roboto" panose="02000000000000000000" pitchFamily="2" charset="0"/>
                  </a:rPr>
                  <a:t>is the </a:t>
                </a:r>
                <a:r>
                  <a:rPr lang="en-US" altLang="ko-KR" sz="1800" dirty="0">
                    <a:solidFill>
                      <a:srgbClr val="C00000"/>
                    </a:solidFill>
                    <a:latin typeface="+mj-lt"/>
                    <a:ea typeface="Roboto" panose="02000000000000000000" pitchFamily="2" charset="0"/>
                  </a:rPr>
                  <a:t>derivative of the activation function </a:t>
                </a:r>
                <a:r>
                  <a:rPr lang="en-US" altLang="ko-KR" sz="1800" dirty="0">
                    <a:solidFill>
                      <a:schemeClr val="tx1"/>
                    </a:solidFill>
                    <a:latin typeface="+mj-lt"/>
                    <a:ea typeface="Roboto" panose="02000000000000000000" pitchFamily="2" charset="0"/>
                  </a:rPr>
                  <a:t>(assuming a sigmoid activation function)</a:t>
                </a:r>
              </a:p>
            </p:txBody>
          </p:sp>
        </mc:Choice>
        <mc:Fallback xmlns="">
          <p:sp>
            <p:nvSpPr>
              <p:cNvPr id="16" name="TextBox 15">
                <a:extLst>
                  <a:ext uri="{FF2B5EF4-FFF2-40B4-BE49-F238E27FC236}">
                    <a16:creationId xmlns:a16="http://schemas.microsoft.com/office/drawing/2014/main" id="{58B0189C-8EFA-1C6F-FC53-7A9BC51A4C3A}"/>
                  </a:ext>
                </a:extLst>
              </p:cNvPr>
              <p:cNvSpPr txBox="1">
                <a:spLocks noRot="1" noChangeAspect="1" noMove="1" noResize="1" noEditPoints="1" noAdjustHandles="1" noChangeArrowheads="1" noChangeShapeType="1" noTextEdit="1"/>
              </p:cNvSpPr>
              <p:nvPr/>
            </p:nvSpPr>
            <p:spPr>
              <a:xfrm>
                <a:off x="296333" y="2198512"/>
                <a:ext cx="5387623" cy="2031325"/>
              </a:xfrm>
              <a:prstGeom prst="rect">
                <a:avLst/>
              </a:prstGeom>
              <a:blipFill>
                <a:blip r:embed="rId2"/>
                <a:stretch>
                  <a:fillRect l="-706" t="-1863" b="-31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0839AF9-3C63-2826-EE6F-7FFCEA8B9E23}"/>
                  </a:ext>
                </a:extLst>
              </p:cNvPr>
              <p:cNvSpPr txBox="1"/>
              <p:nvPr/>
            </p:nvSpPr>
            <p:spPr>
              <a:xfrm>
                <a:off x="5974645" y="2034696"/>
                <a:ext cx="5387623" cy="923330"/>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sSub>
                      <m:sSubPr>
                        <m:ctrlPr>
                          <a:rPr lang="en-US" altLang="ko-KR" sz="1800" b="1" i="1" smtClean="0">
                            <a:solidFill>
                              <a:srgbClr val="C00000"/>
                            </a:solidFill>
                            <a:latin typeface="Cambria Math" panose="02040503050406030204" pitchFamily="18" charset="0"/>
                            <a:ea typeface="굴림" panose="020B0600000101010101" pitchFamily="34" charset="-127"/>
                          </a:rPr>
                        </m:ctrlPr>
                      </m:sSubPr>
                      <m:e>
                        <m:r>
                          <a:rPr lang="en-US" altLang="ko-KR" sz="1800" b="1" i="1" smtClean="0">
                            <a:solidFill>
                              <a:srgbClr val="C00000"/>
                            </a:solidFill>
                            <a:latin typeface="Cambria Math" panose="02040503050406030204" pitchFamily="18" charset="0"/>
                            <a:ea typeface="굴림" panose="020B0600000101010101" pitchFamily="34" charset="-127"/>
                          </a:rPr>
                          <m:t>𝑶</m:t>
                        </m:r>
                      </m:e>
                      <m:sub>
                        <m:r>
                          <a:rPr lang="en-US" altLang="ko-KR" sz="1800" b="1" i="1" smtClean="0">
                            <a:solidFill>
                              <a:srgbClr val="C00000"/>
                            </a:solidFill>
                            <a:latin typeface="Cambria Math" panose="02040503050406030204" pitchFamily="18" charset="0"/>
                            <a:ea typeface="굴림" panose="020B0600000101010101" pitchFamily="34" charset="-127"/>
                          </a:rPr>
                          <m:t>𝒉</m:t>
                        </m:r>
                        <m:r>
                          <a:rPr lang="en-US" altLang="ko-KR" sz="1800" b="1" i="1" smtClean="0">
                            <a:solidFill>
                              <a:srgbClr val="C00000"/>
                            </a:solidFill>
                            <a:latin typeface="Cambria Math" panose="02040503050406030204" pitchFamily="18" charset="0"/>
                            <a:ea typeface="굴림" panose="020B0600000101010101" pitchFamily="34" charset="-127"/>
                          </a:rPr>
                          <m:t> </m:t>
                        </m:r>
                      </m:sub>
                    </m:sSub>
                    <m:r>
                      <m:rPr>
                        <m:nor/>
                      </m:rPr>
                      <a:rPr lang="en-IN">
                        <a:solidFill>
                          <a:schemeClr val="tx1"/>
                        </a:solidFill>
                        <a:latin typeface="+mj-lt"/>
                      </a:rPr>
                      <m:t>is</m:t>
                    </m:r>
                    <m:r>
                      <m:rPr>
                        <m:nor/>
                      </m:rPr>
                      <a:rPr lang="en-IN">
                        <a:solidFill>
                          <a:schemeClr val="tx1"/>
                        </a:solidFill>
                        <a:latin typeface="+mj-lt"/>
                      </a:rPr>
                      <m:t> </m:t>
                    </m:r>
                    <m:r>
                      <m:rPr>
                        <m:nor/>
                      </m:rPr>
                      <a:rPr lang="en-IN">
                        <a:solidFill>
                          <a:schemeClr val="tx1"/>
                        </a:solidFill>
                        <a:latin typeface="+mj-lt"/>
                      </a:rPr>
                      <m:t>the</m:t>
                    </m:r>
                    <m:r>
                      <m:rPr>
                        <m:nor/>
                      </m:rPr>
                      <a:rPr lang="en-IN">
                        <a:solidFill>
                          <a:schemeClr val="tx1"/>
                        </a:solidFill>
                        <a:latin typeface="+mj-lt"/>
                      </a:rPr>
                      <m:t> </m:t>
                    </m:r>
                    <m:r>
                      <m:rPr>
                        <m:nor/>
                      </m:rPr>
                      <a:rPr lang="en-IN">
                        <a:solidFill>
                          <a:schemeClr val="tx1"/>
                        </a:solidFill>
                        <a:latin typeface="+mj-lt"/>
                      </a:rPr>
                      <m:t>activation</m:t>
                    </m:r>
                    <m:r>
                      <m:rPr>
                        <m:nor/>
                      </m:rPr>
                      <a:rPr lang="en-IN">
                        <a:solidFill>
                          <a:schemeClr val="tx1"/>
                        </a:solidFill>
                        <a:latin typeface="+mj-lt"/>
                      </a:rPr>
                      <m:t> </m:t>
                    </m:r>
                    <m:r>
                      <m:rPr>
                        <m:nor/>
                      </m:rPr>
                      <a:rPr lang="en-IN">
                        <a:solidFill>
                          <a:schemeClr val="tx1"/>
                        </a:solidFill>
                        <a:latin typeface="+mj-lt"/>
                      </a:rPr>
                      <m:t>of</m:t>
                    </m:r>
                    <m:r>
                      <m:rPr>
                        <m:nor/>
                      </m:rPr>
                      <a:rPr lang="en-IN">
                        <a:solidFill>
                          <a:schemeClr val="tx1"/>
                        </a:solidFill>
                        <a:latin typeface="+mj-lt"/>
                      </a:rPr>
                      <m:t> </m:t>
                    </m:r>
                    <m:r>
                      <m:rPr>
                        <m:nor/>
                      </m:rPr>
                      <a:rPr lang="en-IN" smtClean="0">
                        <a:solidFill>
                          <a:srgbClr val="C00000"/>
                        </a:solidFill>
                        <a:latin typeface="+mj-lt"/>
                      </a:rPr>
                      <m:t>hidden</m:t>
                    </m:r>
                    <m:r>
                      <m:rPr>
                        <m:nor/>
                      </m:rPr>
                      <a:rPr lang="en-IN" smtClean="0">
                        <a:solidFill>
                          <a:srgbClr val="C00000"/>
                        </a:solidFill>
                        <a:latin typeface="+mj-lt"/>
                      </a:rPr>
                      <m:t> </m:t>
                    </m:r>
                    <m:r>
                      <m:rPr>
                        <m:nor/>
                      </m:rPr>
                      <a:rPr lang="en-IN" smtClean="0">
                        <a:solidFill>
                          <a:srgbClr val="C00000"/>
                        </a:solidFill>
                        <a:latin typeface="+mj-lt"/>
                      </a:rPr>
                      <m:t>unit</m:t>
                    </m:r>
                    <m:r>
                      <m:rPr>
                        <m:nor/>
                      </m:rPr>
                      <a:rPr lang="en-IN" smtClean="0">
                        <a:solidFill>
                          <a:srgbClr val="C00000"/>
                        </a:solidFill>
                        <a:latin typeface="+mj-lt"/>
                      </a:rPr>
                      <m:t> </m:t>
                    </m:r>
                    <m:r>
                      <m:rPr>
                        <m:nor/>
                      </m:rPr>
                      <a:rPr lang="en-IN" smtClean="0">
                        <a:solidFill>
                          <a:srgbClr val="C00000"/>
                        </a:solidFill>
                        <a:latin typeface="+mj-lt"/>
                      </a:rPr>
                      <m:t>h</m:t>
                    </m:r>
                    <m:r>
                      <m:rPr>
                        <m:nor/>
                      </m:rPr>
                      <a:rPr lang="en-IN" smtClean="0">
                        <a:solidFill>
                          <a:srgbClr val="C00000"/>
                        </a:solidFill>
                        <a:latin typeface="+mj-lt"/>
                      </a:rPr>
                      <m:t>.</m:t>
                    </m:r>
                  </m:oMath>
                </a14:m>
                <a:endParaRPr lang="en-US" dirty="0">
                  <a:solidFill>
                    <a:srgbClr val="C00000"/>
                  </a:solidFill>
                  <a:latin typeface="+mj-lt"/>
                </a:endParaRPr>
              </a:p>
              <a:p>
                <a:pPr marL="285750" indent="-285750">
                  <a:buFont typeface="Arial" panose="020B0604020202020204" pitchFamily="34" charset="0"/>
                  <a:buChar char="•"/>
                </a:pPr>
                <a:r>
                  <a:rPr lang="en-US" b="1" dirty="0" err="1">
                    <a:solidFill>
                      <a:srgbClr val="C00000"/>
                    </a:solidFill>
                    <a:latin typeface="+mj-lt"/>
                  </a:rPr>
                  <a:t>W</a:t>
                </a:r>
                <a:r>
                  <a:rPr lang="en-US" b="1" baseline="-25000" dirty="0" err="1">
                    <a:solidFill>
                      <a:srgbClr val="C00000"/>
                    </a:solidFill>
                    <a:latin typeface="+mj-lt"/>
                  </a:rPr>
                  <a:t>kh</a:t>
                </a:r>
                <a:r>
                  <a:rPr lang="en-US" baseline="-25000" dirty="0">
                    <a:solidFill>
                      <a:schemeClr val="tx1"/>
                    </a:solidFill>
                    <a:latin typeface="+mj-lt"/>
                  </a:rPr>
                  <a:t> </a:t>
                </a:r>
                <a:r>
                  <a:rPr lang="en-US" altLang="ko-KR" dirty="0">
                    <a:solidFill>
                      <a:schemeClr val="tx1"/>
                    </a:solidFill>
                    <a:latin typeface="+mj-lt"/>
                    <a:ea typeface="Roboto" panose="02000000000000000000" pitchFamily="2" charset="0"/>
                  </a:rPr>
                  <a:t>is the weight from </a:t>
                </a:r>
                <a:r>
                  <a:rPr lang="en-US" altLang="ko-KR" dirty="0">
                    <a:solidFill>
                      <a:srgbClr val="C00000"/>
                    </a:solidFill>
                    <a:latin typeface="+mj-lt"/>
                    <a:ea typeface="Roboto" panose="02000000000000000000" pitchFamily="2" charset="0"/>
                  </a:rPr>
                  <a:t>hidden </a:t>
                </a:r>
                <a:r>
                  <a:rPr lang="en-US" altLang="ko-KR">
                    <a:solidFill>
                      <a:srgbClr val="C00000"/>
                    </a:solidFill>
                    <a:latin typeface="+mj-lt"/>
                    <a:ea typeface="Roboto" panose="02000000000000000000" pitchFamily="2" charset="0"/>
                  </a:rPr>
                  <a:t>node h </a:t>
                </a:r>
                <a:r>
                  <a:rPr lang="en-US" altLang="ko-KR" dirty="0">
                    <a:solidFill>
                      <a:srgbClr val="C00000"/>
                    </a:solidFill>
                    <a:latin typeface="+mj-lt"/>
                    <a:ea typeface="Roboto" panose="02000000000000000000" pitchFamily="2" charset="0"/>
                  </a:rPr>
                  <a:t>to output node k.</a:t>
                </a:r>
              </a:p>
              <a:p>
                <a:pPr marL="285750" indent="-285750">
                  <a:buFont typeface="Arial" panose="020B0604020202020204" pitchFamily="34" charset="0"/>
                  <a:buChar char="•"/>
                </a:pPr>
                <a:r>
                  <a:rPr lang="en-US" b="1" dirty="0" err="1">
                    <a:solidFill>
                      <a:srgbClr val="C00000"/>
                    </a:solidFill>
                    <a:latin typeface="+mj-lt"/>
                  </a:rPr>
                  <a:t>δ</a:t>
                </a:r>
                <a:r>
                  <a:rPr lang="en-US" b="1" baseline="-25000" dirty="0" err="1">
                    <a:solidFill>
                      <a:srgbClr val="C00000"/>
                    </a:solidFill>
                    <a:latin typeface="+mj-lt"/>
                  </a:rPr>
                  <a:t>k</a:t>
                </a:r>
                <a:r>
                  <a:rPr lang="en-US" dirty="0">
                    <a:solidFill>
                      <a:schemeClr val="tx1"/>
                    </a:solidFill>
                    <a:latin typeface="+mj-lt"/>
                  </a:rPr>
                  <a:t> </a:t>
                </a:r>
                <a:r>
                  <a:rPr lang="en-IN" b="0" i="0" u="none" strike="noStrike" dirty="0">
                    <a:solidFill>
                      <a:schemeClr val="tx1"/>
                    </a:solidFill>
                    <a:effectLst/>
                    <a:latin typeface="+mj-lt"/>
                  </a:rPr>
                  <a:t>​ is the error </a:t>
                </a:r>
                <a:r>
                  <a:rPr lang="en-IN" b="0" i="0" u="none" strike="noStrike" dirty="0">
                    <a:solidFill>
                      <a:srgbClr val="C00000"/>
                    </a:solidFill>
                    <a:effectLst/>
                    <a:latin typeface="+mj-lt"/>
                  </a:rPr>
                  <a:t>from the output layer</a:t>
                </a:r>
                <a:r>
                  <a:rPr lang="en-IN" b="0" i="0" u="none" strike="noStrike" dirty="0">
                    <a:solidFill>
                      <a:schemeClr val="tx1"/>
                    </a:solidFill>
                    <a:effectLst/>
                    <a:latin typeface="+mj-lt"/>
                  </a:rPr>
                  <a:t>.</a:t>
                </a:r>
                <a:endParaRPr lang="en-US" dirty="0">
                  <a:solidFill>
                    <a:schemeClr val="tx1"/>
                  </a:solidFill>
                  <a:latin typeface="+mj-lt"/>
                </a:endParaRPr>
              </a:p>
            </p:txBody>
          </p:sp>
        </mc:Choice>
        <mc:Fallback xmlns="">
          <p:sp>
            <p:nvSpPr>
              <p:cNvPr id="17" name="TextBox 16">
                <a:extLst>
                  <a:ext uri="{FF2B5EF4-FFF2-40B4-BE49-F238E27FC236}">
                    <a16:creationId xmlns:a16="http://schemas.microsoft.com/office/drawing/2014/main" id="{10839AF9-3C63-2826-EE6F-7FFCEA8B9E23}"/>
                  </a:ext>
                </a:extLst>
              </p:cNvPr>
              <p:cNvSpPr txBox="1">
                <a:spLocks noRot="1" noChangeAspect="1" noMove="1" noResize="1" noEditPoints="1" noAdjustHandles="1" noChangeArrowheads="1" noChangeShapeType="1" noTextEdit="1"/>
              </p:cNvSpPr>
              <p:nvPr/>
            </p:nvSpPr>
            <p:spPr>
              <a:xfrm>
                <a:off x="5974645" y="2034696"/>
                <a:ext cx="5387623" cy="923330"/>
              </a:xfrm>
              <a:prstGeom prst="rect">
                <a:avLst/>
              </a:prstGeom>
              <a:blipFill>
                <a:blip r:embed="rId3"/>
                <a:stretch>
                  <a:fillRect l="-706" t="-2740" r="-471" b="-9589"/>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9F7A91AF-ACB0-761B-A81F-18514CEA58D9}"/>
              </a:ext>
            </a:extLst>
          </p:cNvPr>
          <p:cNvSpPr txBox="1"/>
          <p:nvPr/>
        </p:nvSpPr>
        <p:spPr>
          <a:xfrm>
            <a:off x="6823809" y="5084414"/>
            <a:ext cx="5368191" cy="646331"/>
          </a:xfrm>
          <a:prstGeom prst="rect">
            <a:avLst/>
          </a:prstGeom>
          <a:noFill/>
        </p:spPr>
        <p:txBody>
          <a:bodyPr wrap="square" rtlCol="0">
            <a:spAutoFit/>
          </a:bodyPr>
          <a:lstStyle/>
          <a:p>
            <a:pPr marL="0" indent="0">
              <a:buNone/>
              <a:defRPr/>
            </a:pPr>
            <a:r>
              <a:rPr lang="en-US" dirty="0"/>
              <a:t>(</a:t>
            </a:r>
            <a:r>
              <a:rPr lang="en-US" dirty="0" err="1"/>
              <a:t>W</a:t>
            </a:r>
            <a:r>
              <a:rPr lang="en-US" baseline="-25000" dirty="0" err="1"/>
              <a:t>ji</a:t>
            </a:r>
            <a:r>
              <a:rPr lang="en-US" dirty="0"/>
              <a:t> and </a:t>
            </a:r>
            <a:r>
              <a:rPr lang="en-US" dirty="0" err="1"/>
              <a:t>X</a:t>
            </a:r>
            <a:r>
              <a:rPr lang="en-US" baseline="-25000" dirty="0" err="1"/>
              <a:t>ji</a:t>
            </a:r>
            <a:r>
              <a:rPr lang="en-US" dirty="0"/>
              <a:t> are the input and  weight of node </a:t>
            </a:r>
            <a:r>
              <a:rPr lang="en-US" dirty="0" err="1"/>
              <a:t>i</a:t>
            </a:r>
            <a:r>
              <a:rPr lang="en-US" dirty="0"/>
              <a:t> to node j) </a:t>
            </a:r>
          </a:p>
          <a:p>
            <a:endParaRPr lang="en-US" dirty="0"/>
          </a:p>
        </p:txBody>
      </p:sp>
    </p:spTree>
    <p:extLst>
      <p:ext uri="{BB962C8B-B14F-4D97-AF65-F5344CB8AC3E}">
        <p14:creationId xmlns:p14="http://schemas.microsoft.com/office/powerpoint/2010/main" val="3819841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9" grpId="0"/>
      <p:bldP spid="10" grpId="0" animBg="1"/>
      <p:bldP spid="11" grpId="0"/>
      <p:bldP spid="12" grpId="0" animBg="1"/>
      <p:bldP spid="13" grpId="0" animBg="1"/>
      <p:bldP spid="16" grpId="0"/>
      <p:bldP spid="17"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0654" y="607865"/>
            <a:ext cx="3657600" cy="5616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IN" dirty="0">
              <a:solidFill>
                <a:schemeClr val="tx1"/>
              </a:solidFill>
            </a:endParaRPr>
          </a:p>
          <a:p>
            <a:pPr algn="just"/>
            <a:r>
              <a:rPr lang="en-IN" sz="1700" dirty="0">
                <a:solidFill>
                  <a:srgbClr val="C00000"/>
                </a:solidFill>
              </a:rPr>
              <a:t>Supervised learning takes place under the supervision of a teacher. </a:t>
            </a:r>
          </a:p>
          <a:p>
            <a:pPr algn="just"/>
            <a:r>
              <a:rPr lang="en-IN" sz="1700" dirty="0">
                <a:solidFill>
                  <a:schemeClr val="tx1"/>
                </a:solidFill>
              </a:rPr>
              <a:t>During the training, the input vector is presented to the network, which will produce an output vector. </a:t>
            </a:r>
          </a:p>
          <a:p>
            <a:pPr algn="just"/>
            <a:r>
              <a:rPr lang="en-IN" sz="1700" dirty="0">
                <a:solidFill>
                  <a:srgbClr val="C00000"/>
                </a:solidFill>
              </a:rPr>
              <a:t>This output vector is compared with the desired/target output vector. </a:t>
            </a:r>
          </a:p>
          <a:p>
            <a:pPr algn="just"/>
            <a:r>
              <a:rPr lang="en-IN" sz="1700" dirty="0">
                <a:solidFill>
                  <a:schemeClr val="tx1"/>
                </a:solidFill>
              </a:rPr>
              <a:t>An error signal is generated if there is a difference between the actual output and the desired/target output vector. </a:t>
            </a:r>
          </a:p>
          <a:p>
            <a:pPr algn="just"/>
            <a:r>
              <a:rPr lang="en-IN" sz="1700" dirty="0">
                <a:solidFill>
                  <a:srgbClr val="C00000"/>
                </a:solidFill>
              </a:rPr>
              <a:t>On the basis of this error signal, the weights would be adjusted until the actual output is matched with the desired output.</a:t>
            </a:r>
          </a:p>
          <a:p>
            <a:pPr algn="just"/>
            <a:endParaRPr lang="en-IN" sz="1700" dirty="0">
              <a:solidFill>
                <a:srgbClr val="C00000"/>
              </a:solidFill>
            </a:endParaRPr>
          </a:p>
          <a:p>
            <a:pPr algn="just"/>
            <a:endParaRPr lang="en-IN" dirty="0">
              <a:solidFill>
                <a:schemeClr val="tx1"/>
              </a:solidFill>
            </a:endParaRPr>
          </a:p>
          <a:p>
            <a:pPr algn="just"/>
            <a:endParaRPr lang="en-IN" dirty="0">
              <a:solidFill>
                <a:schemeClr val="tx1"/>
              </a:solidFill>
            </a:endParaRPr>
          </a:p>
          <a:p>
            <a:pPr algn="just"/>
            <a:endParaRPr lang="en-IN" dirty="0">
              <a:solidFill>
                <a:schemeClr val="tx1"/>
              </a:solidFill>
            </a:endParaRPr>
          </a:p>
          <a:p>
            <a:pPr algn="just"/>
            <a:endParaRPr lang="en-IN" dirty="0">
              <a:solidFill>
                <a:schemeClr val="tx1"/>
              </a:solidFill>
            </a:endParaRPr>
          </a:p>
          <a:p>
            <a:pPr algn="just"/>
            <a:endParaRPr lang="en-IN" dirty="0">
              <a:solidFill>
                <a:schemeClr val="tx1"/>
              </a:solidFill>
            </a:endParaRPr>
          </a:p>
          <a:p>
            <a:pPr algn="just"/>
            <a:endParaRPr lang="en-IN" dirty="0">
              <a:solidFill>
                <a:schemeClr val="tx1"/>
              </a:solidFill>
            </a:endParaRPr>
          </a:p>
        </p:txBody>
      </p:sp>
      <p:sp>
        <p:nvSpPr>
          <p:cNvPr id="3" name="Rectangle 2"/>
          <p:cNvSpPr/>
          <p:nvPr/>
        </p:nvSpPr>
        <p:spPr>
          <a:xfrm>
            <a:off x="4266686" y="623451"/>
            <a:ext cx="3657600" cy="5616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IN" dirty="0">
              <a:solidFill>
                <a:srgbClr val="0070C0"/>
              </a:solidFill>
            </a:endParaRPr>
          </a:p>
          <a:p>
            <a:pPr algn="just"/>
            <a:endParaRPr lang="en-IN" dirty="0">
              <a:solidFill>
                <a:srgbClr val="0070C0"/>
              </a:solidFill>
            </a:endParaRPr>
          </a:p>
          <a:p>
            <a:pPr algn="just"/>
            <a:r>
              <a:rPr lang="en-IN" sz="1700" dirty="0">
                <a:solidFill>
                  <a:srgbClr val="0070C0"/>
                </a:solidFill>
              </a:rPr>
              <a:t>In unsupervised learning there is no external teacher to oversee the learning process. </a:t>
            </a:r>
          </a:p>
          <a:p>
            <a:pPr algn="just"/>
            <a:r>
              <a:rPr lang="en-IN" sz="1700" dirty="0">
                <a:solidFill>
                  <a:schemeClr val="tx1"/>
                </a:solidFill>
              </a:rPr>
              <a:t>During the training, the input vectors of similar type are combined to form clusters. </a:t>
            </a:r>
          </a:p>
          <a:p>
            <a:pPr algn="just"/>
            <a:r>
              <a:rPr lang="en-IN" sz="1700" dirty="0">
                <a:solidFill>
                  <a:srgbClr val="0070C0"/>
                </a:solidFill>
              </a:rPr>
              <a:t>When a new input pattern is applied, then the neural network gives an output response indicating the class to which the input pattern belongs.</a:t>
            </a:r>
          </a:p>
          <a:p>
            <a:pPr algn="just"/>
            <a:r>
              <a:rPr lang="en-IN" sz="1700" dirty="0">
                <a:solidFill>
                  <a:schemeClr val="tx1"/>
                </a:solidFill>
              </a:rPr>
              <a:t>In this type of learning, the network itself must discover the patterns and features from the input data, and the relation for the input data over the output.</a:t>
            </a:r>
          </a:p>
          <a:p>
            <a:pPr algn="just"/>
            <a:endParaRPr lang="en-IN" sz="1700" dirty="0">
              <a:solidFill>
                <a:schemeClr val="tx1"/>
              </a:solidFill>
            </a:endParaRPr>
          </a:p>
          <a:p>
            <a:pPr algn="just"/>
            <a:endParaRPr lang="en-IN" dirty="0">
              <a:solidFill>
                <a:schemeClr val="tx1"/>
              </a:solidFill>
            </a:endParaRPr>
          </a:p>
          <a:p>
            <a:pPr algn="just"/>
            <a:endParaRPr lang="en-IN" dirty="0">
              <a:solidFill>
                <a:schemeClr val="tx1"/>
              </a:solidFill>
            </a:endParaRPr>
          </a:p>
          <a:p>
            <a:pPr algn="just"/>
            <a:endParaRPr lang="en-IN" dirty="0">
              <a:solidFill>
                <a:schemeClr val="tx1"/>
              </a:solidFill>
            </a:endParaRPr>
          </a:p>
          <a:p>
            <a:pPr algn="just"/>
            <a:endParaRPr lang="en-IN" dirty="0">
              <a:solidFill>
                <a:schemeClr val="tx1"/>
              </a:solidFill>
            </a:endParaRPr>
          </a:p>
          <a:p>
            <a:pPr algn="just"/>
            <a:endParaRPr lang="en-IN" dirty="0">
              <a:solidFill>
                <a:schemeClr val="tx1"/>
              </a:solidFill>
            </a:endParaRPr>
          </a:p>
          <a:p>
            <a:pPr algn="just"/>
            <a:endParaRPr lang="en-IN" dirty="0">
              <a:solidFill>
                <a:schemeClr val="tx1"/>
              </a:solidFill>
            </a:endParaRPr>
          </a:p>
          <a:p>
            <a:pPr algn="just"/>
            <a:endParaRPr lang="en-IN" dirty="0">
              <a:solidFill>
                <a:schemeClr val="tx1"/>
              </a:solidFill>
            </a:endParaRPr>
          </a:p>
          <a:p>
            <a:pPr algn="just"/>
            <a:endParaRPr lang="en-IN" dirty="0">
              <a:solidFill>
                <a:schemeClr val="tx1"/>
              </a:solidFill>
            </a:endParaRPr>
          </a:p>
        </p:txBody>
      </p:sp>
      <p:sp>
        <p:nvSpPr>
          <p:cNvPr id="4" name="Rectangle 3"/>
          <p:cNvSpPr/>
          <p:nvPr/>
        </p:nvSpPr>
        <p:spPr>
          <a:xfrm>
            <a:off x="8186497" y="607865"/>
            <a:ext cx="3657600" cy="5616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sz="1700" dirty="0">
                <a:solidFill>
                  <a:schemeClr val="accent4">
                    <a:lumMod val="75000"/>
                  </a:schemeClr>
                </a:solidFill>
              </a:rPr>
              <a:t>Reinforcement learning is a type of learning that is based on the interaction with environments. </a:t>
            </a:r>
          </a:p>
          <a:p>
            <a:pPr algn="just"/>
            <a:r>
              <a:rPr lang="en-IN" sz="1700" dirty="0">
                <a:solidFill>
                  <a:schemeClr val="tx1"/>
                </a:solidFill>
              </a:rPr>
              <a:t>The learner is not told which actions to take, but instead must discover which actions yield the most reward by trying them.</a:t>
            </a:r>
          </a:p>
          <a:p>
            <a:pPr algn="just"/>
            <a:r>
              <a:rPr lang="en-IN" sz="1700" dirty="0">
                <a:solidFill>
                  <a:schemeClr val="accent4">
                    <a:lumMod val="75000"/>
                  </a:schemeClr>
                </a:solidFill>
              </a:rPr>
              <a:t>RL models consist of algorithms that use the estimated errors as rewards or penalties. </a:t>
            </a:r>
          </a:p>
          <a:p>
            <a:pPr algn="just"/>
            <a:r>
              <a:rPr lang="en-IN" sz="1700" dirty="0">
                <a:solidFill>
                  <a:schemeClr val="tx1"/>
                </a:solidFill>
              </a:rPr>
              <a:t>If the error is big, then the penalty is high and the reward low. If the error is small, then the penalty is low and the reward high. </a:t>
            </a:r>
          </a:p>
          <a:p>
            <a:pPr algn="just"/>
            <a:endParaRPr lang="en-IN" dirty="0">
              <a:solidFill>
                <a:schemeClr val="tx1"/>
              </a:solidFill>
            </a:endParaRPr>
          </a:p>
          <a:p>
            <a:pPr algn="just"/>
            <a:endParaRPr lang="en-IN" dirty="0">
              <a:solidFill>
                <a:schemeClr val="tx1"/>
              </a:solidFill>
            </a:endParaRPr>
          </a:p>
          <a:p>
            <a:pPr algn="just"/>
            <a:endParaRPr lang="en-IN" dirty="0">
              <a:solidFill>
                <a:schemeClr val="tx1"/>
              </a:solidFill>
            </a:endParaRPr>
          </a:p>
          <a:p>
            <a:pPr algn="just"/>
            <a:endParaRPr lang="en-IN" dirty="0">
              <a:solidFill>
                <a:schemeClr val="tx1"/>
              </a:solidFill>
            </a:endParaRPr>
          </a:p>
          <a:p>
            <a:pPr algn="just"/>
            <a:endParaRPr lang="en-IN" dirty="0">
              <a:solidFill>
                <a:schemeClr val="tx1"/>
              </a:solidFill>
            </a:endParaRPr>
          </a:p>
          <a:p>
            <a:pPr algn="just"/>
            <a:endParaRPr lang="en-IN" dirty="0">
              <a:solidFill>
                <a:schemeClr val="tx1"/>
              </a:solidFill>
            </a:endParaRPr>
          </a:p>
          <a:p>
            <a:pPr algn="just"/>
            <a:endParaRPr lang="en-IN" dirty="0">
              <a:solidFill>
                <a:schemeClr val="tx1"/>
              </a:solidFill>
            </a:endParaRPr>
          </a:p>
        </p:txBody>
      </p:sp>
      <p:sp>
        <p:nvSpPr>
          <p:cNvPr id="5" name="Rounded Rectangle 4"/>
          <p:cNvSpPr/>
          <p:nvPr/>
        </p:nvSpPr>
        <p:spPr>
          <a:xfrm>
            <a:off x="922594" y="166251"/>
            <a:ext cx="2412000" cy="441614"/>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Supervised Learning</a:t>
            </a:r>
          </a:p>
        </p:txBody>
      </p:sp>
      <p:sp>
        <p:nvSpPr>
          <p:cNvPr id="6" name="Rounded Rectangle 5"/>
          <p:cNvSpPr/>
          <p:nvPr/>
        </p:nvSpPr>
        <p:spPr>
          <a:xfrm>
            <a:off x="4868626" y="181837"/>
            <a:ext cx="2412000" cy="441614"/>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Unsupervised Learning</a:t>
            </a:r>
          </a:p>
        </p:txBody>
      </p:sp>
      <p:sp>
        <p:nvSpPr>
          <p:cNvPr id="7" name="Rounded Rectangle 6"/>
          <p:cNvSpPr/>
          <p:nvPr/>
        </p:nvSpPr>
        <p:spPr>
          <a:xfrm>
            <a:off x="8814658" y="166250"/>
            <a:ext cx="2412000" cy="441614"/>
          </a:xfrm>
          <a:prstGeom prst="round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4"/>
                </a:solidFill>
              </a:rPr>
              <a:t>Reinforcement Learning</a:t>
            </a:r>
          </a:p>
        </p:txBody>
      </p:sp>
      <p:pic>
        <p:nvPicPr>
          <p:cNvPr id="9" name="Picture 8"/>
          <p:cNvPicPr>
            <a:picLocks noChangeAspect="1"/>
          </p:cNvPicPr>
          <p:nvPr/>
        </p:nvPicPr>
        <p:blipFill>
          <a:blip r:embed="rId2"/>
          <a:stretch>
            <a:fillRect/>
          </a:stretch>
        </p:blipFill>
        <p:spPr>
          <a:xfrm>
            <a:off x="641217" y="4520045"/>
            <a:ext cx="3133352" cy="1548000"/>
          </a:xfrm>
          <a:prstGeom prst="rect">
            <a:avLst/>
          </a:prstGeom>
        </p:spPr>
      </p:pic>
      <p:pic>
        <p:nvPicPr>
          <p:cNvPr id="10" name="Picture 9"/>
          <p:cNvPicPr>
            <a:picLocks noChangeAspect="1"/>
          </p:cNvPicPr>
          <p:nvPr/>
        </p:nvPicPr>
        <p:blipFill>
          <a:blip r:embed="rId3"/>
          <a:stretch>
            <a:fillRect/>
          </a:stretch>
        </p:blipFill>
        <p:spPr>
          <a:xfrm>
            <a:off x="4396371" y="4520045"/>
            <a:ext cx="3398230" cy="1228276"/>
          </a:xfrm>
          <a:prstGeom prst="rect">
            <a:avLst/>
          </a:prstGeom>
        </p:spPr>
      </p:pic>
      <p:pic>
        <p:nvPicPr>
          <p:cNvPr id="11" name="Picture 10"/>
          <p:cNvPicPr>
            <a:picLocks noChangeAspect="1"/>
          </p:cNvPicPr>
          <p:nvPr/>
        </p:nvPicPr>
        <p:blipFill>
          <a:blip r:embed="rId4"/>
          <a:stretch>
            <a:fillRect/>
          </a:stretch>
        </p:blipFill>
        <p:spPr>
          <a:xfrm>
            <a:off x="8380378" y="4520045"/>
            <a:ext cx="3269838" cy="1548000"/>
          </a:xfrm>
          <a:prstGeom prst="rect">
            <a:avLst/>
          </a:prstGeom>
        </p:spPr>
      </p:pic>
      <p:sp>
        <p:nvSpPr>
          <p:cNvPr id="8" name="Rectangle 7"/>
          <p:cNvSpPr/>
          <p:nvPr/>
        </p:nvSpPr>
        <p:spPr>
          <a:xfrm>
            <a:off x="3023755" y="6239451"/>
            <a:ext cx="6078681" cy="61854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bg1"/>
                </a:solidFill>
              </a:rPr>
              <a:t>Types of Learning </a:t>
            </a:r>
          </a:p>
        </p:txBody>
      </p:sp>
    </p:spTree>
    <p:extLst>
      <p:ext uri="{BB962C8B-B14F-4D97-AF65-F5344CB8AC3E}">
        <p14:creationId xmlns:p14="http://schemas.microsoft.com/office/powerpoint/2010/main" val="25407792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Activation Functions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IN" dirty="0"/>
                  <a:t>Activation functions introduce </a:t>
                </a:r>
                <a:r>
                  <a:rPr lang="en-IN" dirty="0">
                    <a:solidFill>
                      <a:srgbClr val="0070C0"/>
                    </a:solidFill>
                  </a:rPr>
                  <a:t>an additional step </a:t>
                </a:r>
                <a:r>
                  <a:rPr lang="en-IN" dirty="0"/>
                  <a:t>at each layer during the forward propagation, but its computation is worth it. </a:t>
                </a:r>
              </a:p>
              <a:p>
                <a:r>
                  <a:rPr lang="en-IN" dirty="0">
                    <a:solidFill>
                      <a:srgbClr val="0070C0"/>
                    </a:solidFill>
                  </a:rPr>
                  <a:t>Without the activation functions </a:t>
                </a:r>
                <a:r>
                  <a:rPr lang="en-IN" dirty="0"/>
                  <a:t>every neuron will only be performing </a:t>
                </a:r>
                <a:r>
                  <a:rPr lang="en-IN" dirty="0">
                    <a:solidFill>
                      <a:schemeClr val="accent6"/>
                    </a:solidFill>
                  </a:rPr>
                  <a:t>a linear transformation </a:t>
                </a:r>
                <a:r>
                  <a:rPr lang="en-IN" dirty="0"/>
                  <a:t>on the inputs using the weights and biases. </a:t>
                </a:r>
              </a:p>
              <a:p>
                <a:r>
                  <a:rPr lang="en-IN" dirty="0"/>
                  <a:t>The reason is </a:t>
                </a:r>
                <a:r>
                  <a:rPr lang="en-IN" dirty="0">
                    <a:solidFill>
                      <a:srgbClr val="0070C0"/>
                    </a:solidFill>
                  </a:rPr>
                  <a:t>no matter how many hidden layers </a:t>
                </a:r>
                <a:r>
                  <a:rPr lang="en-IN" dirty="0"/>
                  <a:t>we attach in the neural network; all layers will </a:t>
                </a:r>
                <a:r>
                  <a:rPr lang="en-IN" dirty="0">
                    <a:solidFill>
                      <a:schemeClr val="accent6"/>
                    </a:solidFill>
                  </a:rPr>
                  <a:t>behave in the same way </a:t>
                </a:r>
                <a:r>
                  <a:rPr lang="en-IN" dirty="0"/>
                  <a:t>because the composition of two linear functions is a linear function itself.</a:t>
                </a:r>
              </a:p>
              <a:p>
                <a:r>
                  <a:rPr lang="en-IN" dirty="0"/>
                  <a:t>So, activation functions are necessary </a:t>
                </a:r>
                <a:r>
                  <a:rPr lang="en-IN" dirty="0">
                    <a:solidFill>
                      <a:srgbClr val="0070C0"/>
                    </a:solidFill>
                  </a:rPr>
                  <a:t>to prevent linearity</a:t>
                </a:r>
                <a:r>
                  <a:rPr lang="en-IN" dirty="0"/>
                  <a:t>. Without them, the data would pass through the nodes and layers of the network </a:t>
                </a:r>
                <a:r>
                  <a:rPr lang="en-IN" dirty="0">
                    <a:solidFill>
                      <a:schemeClr val="accent6"/>
                    </a:solidFill>
                  </a:rPr>
                  <a:t>only going through linear functions </a:t>
                </a:r>
                <a14:m>
                  <m:oMath xmlns:m="http://schemas.openxmlformats.org/officeDocument/2006/math">
                    <m:r>
                      <a:rPr lang="en-IN" i="1" dirty="0" smtClean="0">
                        <a:latin typeface="Cambria Math" panose="02040503050406030204" pitchFamily="18" charset="0"/>
                      </a:rPr>
                      <m:t>(</m:t>
                    </m:r>
                    <m:r>
                      <a:rPr lang="en-IN" i="1" dirty="0" smtClean="0">
                        <a:latin typeface="Cambria Math" panose="02040503050406030204" pitchFamily="18" charset="0"/>
                      </a:rPr>
                      <m:t>𝑎</m:t>
                    </m:r>
                    <m:r>
                      <a:rPr lang="en-IN" i="1" dirty="0" smtClean="0">
                        <a:latin typeface="Cambria Math" panose="02040503050406030204" pitchFamily="18" charset="0"/>
                      </a:rPr>
                      <m:t>∗</m:t>
                    </m:r>
                    <m:r>
                      <a:rPr lang="en-IN" i="1" dirty="0" err="1">
                        <a:latin typeface="Cambria Math" panose="02040503050406030204" pitchFamily="18" charset="0"/>
                      </a:rPr>
                      <m:t>𝑥</m:t>
                    </m:r>
                    <m:r>
                      <a:rPr lang="en-IN" i="1" dirty="0" err="1">
                        <a:latin typeface="Cambria Math" panose="02040503050406030204" pitchFamily="18" charset="0"/>
                      </a:rPr>
                      <m:t>+</m:t>
                    </m:r>
                    <m:r>
                      <a:rPr lang="en-IN" i="1" dirty="0" err="1">
                        <a:latin typeface="Cambria Math" panose="02040503050406030204" pitchFamily="18" charset="0"/>
                      </a:rPr>
                      <m:t>𝑏</m:t>
                    </m:r>
                    <m:r>
                      <a:rPr lang="en-IN" i="1" dirty="0">
                        <a:latin typeface="Cambria Math" panose="02040503050406030204" pitchFamily="18" charset="0"/>
                      </a:rPr>
                      <m:t>). </m:t>
                    </m:r>
                  </m:oMath>
                </a14:m>
                <a:endParaRPr lang="en-IN" dirty="0"/>
              </a:p>
              <a:p>
                <a:r>
                  <a:rPr lang="en-IN" dirty="0"/>
                  <a:t>The composition of these linear functions is again a linear function and so </a:t>
                </a:r>
                <a:r>
                  <a:rPr lang="en-IN" dirty="0">
                    <a:solidFill>
                      <a:srgbClr val="0070C0"/>
                    </a:solidFill>
                  </a:rPr>
                  <a:t>no matter how many layers</a:t>
                </a:r>
                <a:r>
                  <a:rPr lang="en-IN" dirty="0"/>
                  <a:t> the data goes through, the output is always the result of a linear function. </a:t>
                </a:r>
              </a:p>
              <a:p>
                <a:r>
                  <a:rPr lang="en-IN" dirty="0"/>
                  <a:t>So basically, we need </a:t>
                </a:r>
                <a:r>
                  <a:rPr lang="en-IN" dirty="0">
                    <a:solidFill>
                      <a:srgbClr val="0070C0"/>
                    </a:solidFill>
                  </a:rPr>
                  <a:t>non linear transformation </a:t>
                </a:r>
                <a:r>
                  <a:rPr lang="en-IN" dirty="0"/>
                  <a:t>between the different model that allows for the </a:t>
                </a:r>
                <a:r>
                  <a:rPr lang="en-IN" dirty="0">
                    <a:solidFill>
                      <a:schemeClr val="accent6"/>
                    </a:solidFill>
                  </a:rPr>
                  <a:t>increased complexity </a:t>
                </a:r>
                <a:r>
                  <a:rPr lang="en-IN" dirty="0"/>
                  <a:t>and </a:t>
                </a:r>
                <a:r>
                  <a:rPr lang="en-IN" dirty="0">
                    <a:solidFill>
                      <a:schemeClr val="accent6"/>
                    </a:solidFill>
                  </a:rPr>
                  <a:t>depth of abstraction of learning the relationship </a:t>
                </a:r>
                <a:r>
                  <a:rPr lang="en-IN" dirty="0"/>
                  <a:t>between the different input variables.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716" t="-1418" r="-818"/>
                </a:stretch>
              </a:blipFill>
            </p:spPr>
            <p:txBody>
              <a:bodyPr/>
              <a:lstStyle/>
              <a:p>
                <a:r>
                  <a:rPr lang="en-IN">
                    <a:noFill/>
                  </a:rPr>
                  <a:t> </a:t>
                </a:r>
              </a:p>
            </p:txBody>
          </p:sp>
        </mc:Fallback>
      </mc:AlternateContent>
    </p:spTree>
    <p:extLst>
      <p:ext uri="{BB962C8B-B14F-4D97-AF65-F5344CB8AC3E}">
        <p14:creationId xmlns:p14="http://schemas.microsoft.com/office/powerpoint/2010/main" val="1581774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Non-Linear Activation Functions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IN" dirty="0">
                    <a:solidFill>
                      <a:srgbClr val="0070C0"/>
                    </a:solidFill>
                  </a:rPr>
                  <a:t>Nonlinear activation functions </a:t>
                </a:r>
                <a:r>
                  <a:rPr lang="en-IN" dirty="0"/>
                  <a:t>are very useful in multilayer networks, because they help in creating </a:t>
                </a:r>
                <a:r>
                  <a:rPr lang="en-IN" dirty="0">
                    <a:solidFill>
                      <a:schemeClr val="accent6"/>
                    </a:solidFill>
                  </a:rPr>
                  <a:t>more powerful compositions </a:t>
                </a:r>
                <a:r>
                  <a:rPr lang="en-IN" dirty="0"/>
                  <a:t>of different types of functions. </a:t>
                </a:r>
              </a:p>
              <a:p>
                <a:r>
                  <a:rPr lang="en-IN" dirty="0"/>
                  <a:t>Many of these functions are referred to </a:t>
                </a:r>
                <a:r>
                  <a:rPr lang="en-IN" dirty="0">
                    <a:solidFill>
                      <a:srgbClr val="0070C0"/>
                    </a:solidFill>
                  </a:rPr>
                  <a:t>as squashing functions</a:t>
                </a:r>
                <a:r>
                  <a:rPr lang="en-IN" dirty="0"/>
                  <a:t>, as they map the outputs from an arbitrary range to bounded outputs. </a:t>
                </a:r>
              </a:p>
              <a:p>
                <a:r>
                  <a:rPr lang="en-IN" dirty="0"/>
                  <a:t>The use of a nonlinear activation plays a fundamental role in </a:t>
                </a:r>
                <a:r>
                  <a:rPr lang="en-IN" dirty="0">
                    <a:solidFill>
                      <a:srgbClr val="0070C0"/>
                    </a:solidFill>
                  </a:rPr>
                  <a:t>increasing the modelling power </a:t>
                </a:r>
                <a:r>
                  <a:rPr lang="en-IN" dirty="0"/>
                  <a:t>of a network.</a:t>
                </a:r>
              </a:p>
              <a:p>
                <a:r>
                  <a:rPr lang="en-IN" dirty="0"/>
                  <a:t> In a neural network, the output of a neuron is computed using the following equation:</a:t>
                </a:r>
              </a:p>
              <a:p>
                <a:pPr marL="0" indent="0">
                  <a:buNone/>
                </a:pPr>
                <a14:m>
                  <m:oMathPara xmlns:m="http://schemas.openxmlformats.org/officeDocument/2006/math">
                    <m:oMathParaPr>
                      <m:jc m:val="centerGroup"/>
                    </m:oMathParaPr>
                    <m:oMath xmlns:m="http://schemas.openxmlformats.org/officeDocument/2006/math">
                      <m:r>
                        <a:rPr lang="en-IN" b="0" i="1" smtClean="0">
                          <a:solidFill>
                            <a:schemeClr val="accent6"/>
                          </a:solidFill>
                          <a:latin typeface="Cambria Math" panose="02040503050406030204" pitchFamily="18" charset="0"/>
                        </a:rPr>
                        <m:t>𝑜𝑢𝑡𝑜𝑢𝑡</m:t>
                      </m:r>
                      <m:r>
                        <a:rPr lang="en-IN" b="0" i="1" smtClean="0">
                          <a:solidFill>
                            <a:schemeClr val="accent6"/>
                          </a:solidFill>
                          <a:latin typeface="Cambria Math" panose="02040503050406030204" pitchFamily="18" charset="0"/>
                        </a:rPr>
                        <m:t>=</m:t>
                      </m:r>
                      <m:r>
                        <a:rPr lang="en-IN" b="0" i="1" smtClean="0">
                          <a:solidFill>
                            <a:schemeClr val="accent6"/>
                          </a:solidFill>
                          <a:latin typeface="Cambria Math" panose="02040503050406030204" pitchFamily="18" charset="0"/>
                        </a:rPr>
                        <m:t>𝑎𝑐𝑡𝑖𝑣𝑎𝑡𝑖𝑜𝑛</m:t>
                      </m:r>
                      <m:r>
                        <a:rPr lang="en-IN" b="0" i="1" smtClean="0">
                          <a:solidFill>
                            <a:schemeClr val="accent6"/>
                          </a:solidFill>
                          <a:latin typeface="Cambria Math" panose="02040503050406030204" pitchFamily="18" charset="0"/>
                        </a:rPr>
                        <m:t>(</m:t>
                      </m:r>
                      <m:r>
                        <a:rPr lang="en-IN" b="0" i="1" smtClean="0">
                          <a:solidFill>
                            <a:schemeClr val="accent6"/>
                          </a:solidFill>
                          <a:latin typeface="Cambria Math" panose="02040503050406030204" pitchFamily="18" charset="0"/>
                        </a:rPr>
                        <m:t>𝑖𝑛𝑝𝑢𝑡</m:t>
                      </m:r>
                      <m:r>
                        <a:rPr lang="en-IN" b="0" i="1" smtClean="0">
                          <a:solidFill>
                            <a:schemeClr val="accent6"/>
                          </a:solidFill>
                          <a:latin typeface="Cambria Math" panose="02040503050406030204" pitchFamily="18" charset="0"/>
                        </a:rPr>
                        <m:t>∗</m:t>
                      </m:r>
                      <m:r>
                        <a:rPr lang="en-IN" b="0" i="1" smtClean="0">
                          <a:solidFill>
                            <a:schemeClr val="accent6"/>
                          </a:solidFill>
                          <a:latin typeface="Cambria Math" panose="02040503050406030204" pitchFamily="18" charset="0"/>
                        </a:rPr>
                        <m:t>𝑤𝑒𝑖𝑔h𝑡</m:t>
                      </m:r>
                      <m:r>
                        <a:rPr lang="en-IN" b="0" i="1" smtClean="0">
                          <a:solidFill>
                            <a:schemeClr val="accent6"/>
                          </a:solidFill>
                          <a:latin typeface="Cambria Math" panose="02040503050406030204" pitchFamily="18" charset="0"/>
                        </a:rPr>
                        <m:t>+</m:t>
                      </m:r>
                      <m:r>
                        <a:rPr lang="en-IN" b="0" i="1" smtClean="0">
                          <a:solidFill>
                            <a:schemeClr val="accent6"/>
                          </a:solidFill>
                          <a:latin typeface="Cambria Math" panose="02040503050406030204" pitchFamily="18" charset="0"/>
                        </a:rPr>
                        <m:t>𝑏𝑖𝑎𝑠</m:t>
                      </m:r>
                      <m:r>
                        <a:rPr lang="en-IN" b="0" i="1" smtClean="0">
                          <a:solidFill>
                            <a:schemeClr val="accent6"/>
                          </a:solidFill>
                          <a:latin typeface="Cambria Math" panose="02040503050406030204" pitchFamily="18" charset="0"/>
                        </a:rPr>
                        <m:t>)</m:t>
                      </m:r>
                    </m:oMath>
                  </m:oMathPara>
                </a14:m>
                <a:endParaRPr lang="en-IN" dirty="0">
                  <a:solidFill>
                    <a:schemeClr val="accent6"/>
                  </a:solidFill>
                </a:endParaRPr>
              </a:p>
              <a:p>
                <a:r>
                  <a:rPr lang="en-IN" dirty="0"/>
                  <a:t>Non-linear functions allow </a:t>
                </a:r>
                <a:r>
                  <a:rPr lang="en-IN" dirty="0">
                    <a:solidFill>
                      <a:srgbClr val="0070C0"/>
                    </a:solidFill>
                  </a:rPr>
                  <a:t>the derivative function </a:t>
                </a:r>
                <a:r>
                  <a:rPr lang="en-IN" dirty="0"/>
                  <a:t>to be related to the input, which allows a model to adjust weights in the input neurons to improve prediction.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716" t="-1418" r="-818"/>
                </a:stretch>
              </a:blipFill>
            </p:spPr>
            <p:txBody>
              <a:bodyPr/>
              <a:lstStyle/>
              <a:p>
                <a:r>
                  <a:rPr lang="en-IN">
                    <a:noFill/>
                  </a:rPr>
                  <a:t> </a:t>
                </a:r>
              </a:p>
            </p:txBody>
          </p:sp>
        </mc:Fallback>
      </mc:AlternateContent>
    </p:spTree>
    <p:extLst>
      <p:ext uri="{BB962C8B-B14F-4D97-AF65-F5344CB8AC3E}">
        <p14:creationId xmlns:p14="http://schemas.microsoft.com/office/powerpoint/2010/main" val="1121986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2"/>
              <p:cNvGraphicFramePr>
                <a:graphicFrameLocks noGrp="1"/>
              </p:cNvGraphicFramePr>
              <p:nvPr/>
            </p:nvGraphicFramePr>
            <p:xfrm>
              <a:off x="245918" y="235811"/>
              <a:ext cx="11682846" cy="6362416"/>
            </p:xfrm>
            <a:graphic>
              <a:graphicData uri="http://schemas.openxmlformats.org/drawingml/2006/table">
                <a:tbl>
                  <a:tblPr firstRow="1" bandRow="1">
                    <a:tableStyleId>{0E3FDE45-AF77-4B5C-9715-49D594BDF05E}</a:tableStyleId>
                  </a:tblPr>
                  <a:tblGrid>
                    <a:gridCol w="1164064">
                      <a:extLst>
                        <a:ext uri="{9D8B030D-6E8A-4147-A177-3AD203B41FA5}">
                          <a16:colId xmlns:a16="http://schemas.microsoft.com/office/drawing/2014/main" val="20000"/>
                        </a:ext>
                      </a:extLst>
                    </a:gridCol>
                    <a:gridCol w="2722012">
                      <a:extLst>
                        <a:ext uri="{9D8B030D-6E8A-4147-A177-3AD203B41FA5}">
                          <a16:colId xmlns:a16="http://schemas.microsoft.com/office/drawing/2014/main" val="20001"/>
                        </a:ext>
                      </a:extLst>
                    </a:gridCol>
                    <a:gridCol w="2416049">
                      <a:extLst>
                        <a:ext uri="{9D8B030D-6E8A-4147-A177-3AD203B41FA5}">
                          <a16:colId xmlns:a16="http://schemas.microsoft.com/office/drawing/2014/main" val="20002"/>
                        </a:ext>
                      </a:extLst>
                    </a:gridCol>
                    <a:gridCol w="2078435">
                      <a:extLst>
                        <a:ext uri="{9D8B030D-6E8A-4147-A177-3AD203B41FA5}">
                          <a16:colId xmlns:a16="http://schemas.microsoft.com/office/drawing/2014/main" val="20003"/>
                        </a:ext>
                      </a:extLst>
                    </a:gridCol>
                    <a:gridCol w="3302286">
                      <a:extLst>
                        <a:ext uri="{9D8B030D-6E8A-4147-A177-3AD203B41FA5}">
                          <a16:colId xmlns:a16="http://schemas.microsoft.com/office/drawing/2014/main" val="20004"/>
                        </a:ext>
                      </a:extLst>
                    </a:gridCol>
                  </a:tblGrid>
                  <a:tr h="1147276">
                    <a:tc>
                      <a:txBody>
                        <a:bodyPr/>
                        <a:lstStyle/>
                        <a:p>
                          <a:pPr algn="ctr" fontAlgn="base"/>
                          <a:r>
                            <a:rPr lang="en-IN" sz="2000" b="1" dirty="0">
                              <a:effectLst/>
                            </a:rPr>
                            <a:t>Activation function</a:t>
                          </a:r>
                        </a:p>
                      </a:txBody>
                      <a:tcPr marL="38100" marR="38100" marT="95250" marB="952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ctr" fontAlgn="base"/>
                          <a:r>
                            <a:rPr lang="en-IN" sz="2000" b="1" dirty="0">
                              <a:effectLst/>
                            </a:rPr>
                            <a:t>Mathematical representation </a:t>
                          </a:r>
                        </a:p>
                      </a:txBody>
                      <a:tcPr marL="95250" marR="95250" marT="95250" marB="952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gridSpan="2">
                      <a:txBody>
                        <a:bodyPr/>
                        <a:lstStyle/>
                        <a:p>
                          <a:pPr algn="ctr" fontAlgn="base"/>
                          <a:r>
                            <a:rPr lang="en-IN" sz="2000" b="1" dirty="0">
                              <a:effectLst/>
                            </a:rPr>
                            <a:t>Range of output value </a:t>
                          </a:r>
                        </a:p>
                      </a:txBody>
                      <a:tcPr marL="95250" marR="95250" marT="95250" marB="952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hMerge="1">
                      <a:txBody>
                        <a:bodyPr/>
                        <a:lstStyle/>
                        <a:p>
                          <a:pPr algn="ctr" fontAlgn="base"/>
                          <a:endParaRPr lang="en-IN" sz="2000" b="1" dirty="0">
                            <a:effectLst/>
                          </a:endParaRPr>
                        </a:p>
                      </a:txBody>
                      <a:tcPr marL="95250" marR="95250" marT="95250" marB="952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ctr" fontAlgn="base"/>
                          <a:r>
                            <a:rPr lang="en-IN" sz="2000" b="1" dirty="0">
                              <a:effectLst/>
                            </a:rPr>
                            <a:t>Characteristics </a:t>
                          </a:r>
                        </a:p>
                      </a:txBody>
                      <a:tcPr marL="95250" marR="95250" marT="95250" marB="952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1581805">
                    <a:tc>
                      <a:txBody>
                        <a:bodyPr/>
                        <a:lstStyle/>
                        <a:p>
                          <a:pPr algn="ctr" fontAlgn="base"/>
                          <a:r>
                            <a:rPr lang="en-IN" sz="2000" b="0" dirty="0">
                              <a:effectLst/>
                            </a:rPr>
                            <a:t>Linear</a:t>
                          </a:r>
                        </a:p>
                      </a:txBody>
                      <a:tcPr marL="95250" marR="95250" marT="133350" marB="1333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algn="ctr" fontAlgn="base"/>
                          <a14:m>
                            <m:oMathPara xmlns:m="http://schemas.openxmlformats.org/officeDocument/2006/math">
                              <m:oMathParaPr>
                                <m:jc m:val="centerGroup"/>
                              </m:oMathParaPr>
                              <m:oMath xmlns:m="http://schemas.openxmlformats.org/officeDocument/2006/math">
                                <m:r>
                                  <a:rPr lang="en-IN" sz="2000" b="0" i="1" smtClean="0">
                                    <a:effectLst/>
                                    <a:latin typeface="Cambria Math" panose="02040503050406030204" pitchFamily="18" charset="0"/>
                                  </a:rPr>
                                  <m:t>𝑓</m:t>
                                </m:r>
                                <m:d>
                                  <m:dPr>
                                    <m:ctrlPr>
                                      <a:rPr lang="en-IN" sz="2000" b="0" i="1" smtClean="0">
                                        <a:effectLst/>
                                        <a:latin typeface="Cambria Math" panose="02040503050406030204" pitchFamily="18" charset="0"/>
                                      </a:rPr>
                                    </m:ctrlPr>
                                  </m:dPr>
                                  <m:e>
                                    <m:r>
                                      <a:rPr lang="en-IN" sz="2000" b="0" i="1" smtClean="0">
                                        <a:effectLst/>
                                        <a:latin typeface="Cambria Math" panose="02040503050406030204" pitchFamily="18" charset="0"/>
                                      </a:rPr>
                                      <m:t>𝑥</m:t>
                                    </m:r>
                                  </m:e>
                                </m:d>
                                <m:r>
                                  <a:rPr lang="en-IN" sz="2000" b="0" i="1" smtClean="0">
                                    <a:effectLst/>
                                    <a:latin typeface="Cambria Math" panose="02040503050406030204" pitchFamily="18" charset="0"/>
                                  </a:rPr>
                                  <m:t>=</m:t>
                                </m:r>
                                <m:r>
                                  <a:rPr lang="en-IN" sz="2000" b="0" i="1" smtClean="0">
                                    <a:effectLst/>
                                    <a:latin typeface="Cambria Math" panose="02040503050406030204" pitchFamily="18" charset="0"/>
                                  </a:rPr>
                                  <m:t>𝑥</m:t>
                                </m:r>
                              </m:oMath>
                            </m:oMathPara>
                          </a14:m>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indent="0" algn="l" defTabSz="914400" rtl="0" eaLnBrk="1" fontAlgn="base"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z="2000" b="0" i="1" dirty="0" smtClean="0">
                                    <a:effectLst/>
                                    <a:latin typeface="Cambria Math" panose="02040503050406030204" pitchFamily="18" charset="0"/>
                                    <a:ea typeface="Cambria Math" panose="02040503050406030204" pitchFamily="18" charset="0"/>
                                  </a:rPr>
                                  <m:t>−∞ </m:t>
                                </m:r>
                                <m:r>
                                  <a:rPr lang="en-IN" sz="2000" b="0" i="1" dirty="0" smtClean="0">
                                    <a:effectLst/>
                                    <a:latin typeface="Cambria Math" panose="02040503050406030204" pitchFamily="18" charset="0"/>
                                    <a:ea typeface="Cambria Math" panose="02040503050406030204" pitchFamily="18" charset="0"/>
                                  </a:rPr>
                                  <m:t>𝑡𝑜</m:t>
                                </m:r>
                                <m:r>
                                  <a:rPr lang="en-IN" sz="2000" b="0" i="1" dirty="0" smtClean="0">
                                    <a:effectLst/>
                                    <a:latin typeface="Cambria Math" panose="02040503050406030204" pitchFamily="18" charset="0"/>
                                    <a:ea typeface="Cambria Math" panose="02040503050406030204" pitchFamily="18" charset="0"/>
                                  </a:rPr>
                                  <m:t>+∞</m:t>
                                </m:r>
                              </m:oMath>
                            </m:oMathPara>
                          </a14:m>
                          <a:endParaRPr lang="en-IN" sz="2000" b="0" dirty="0">
                            <a:effectLst/>
                          </a:endParaRPr>
                        </a:p>
                        <a:p>
                          <a:pPr algn="l" fontAlgn="base"/>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algn="ctr" fontAlgn="base"/>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algn="just" fontAlgn="base"/>
                          <a:r>
                            <a:rPr lang="en-IN" sz="1800" b="0" dirty="0">
                              <a:effectLst/>
                            </a:rPr>
                            <a:t>This function does not modify the weighted sum of the input and. Activation is directly proportional to the input</a:t>
                          </a:r>
                        </a:p>
                      </a:txBody>
                      <a:tcPr marL="95250" marR="95250" marT="133350" marB="1333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2051530">
                    <a:tc>
                      <a:txBody>
                        <a:bodyPr/>
                        <a:lstStyle/>
                        <a:p>
                          <a:pPr algn="ctr" fontAlgn="base"/>
                          <a:r>
                            <a:rPr lang="en-IN" sz="2000" b="0" dirty="0">
                              <a:effectLst/>
                            </a:rPr>
                            <a:t>Binary step</a:t>
                          </a:r>
                        </a:p>
                      </a:txBody>
                      <a:tcPr marL="95250" marR="95250" marT="133350" marB="1333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z="2000" b="0" i="1" smtClean="0">
                                    <a:effectLst/>
                                    <a:latin typeface="Cambria Math" panose="02040503050406030204" pitchFamily="18" charset="0"/>
                                  </a:rPr>
                                  <m:t>𝑓</m:t>
                                </m:r>
                                <m:d>
                                  <m:dPr>
                                    <m:ctrlPr>
                                      <a:rPr lang="en-IN" sz="2000" b="0" i="1" smtClean="0">
                                        <a:effectLst/>
                                        <a:latin typeface="Cambria Math" panose="02040503050406030204" pitchFamily="18" charset="0"/>
                                      </a:rPr>
                                    </m:ctrlPr>
                                  </m:dPr>
                                  <m:e>
                                    <m:r>
                                      <a:rPr lang="en-IN" sz="2000" b="0" i="1" smtClean="0">
                                        <a:effectLst/>
                                        <a:latin typeface="Cambria Math" panose="02040503050406030204" pitchFamily="18" charset="0"/>
                                      </a:rPr>
                                      <m:t>𝑥</m:t>
                                    </m:r>
                                  </m:e>
                                </m:d>
                                <m:r>
                                  <a:rPr lang="en-IN" sz="2000" b="0" i="1" smtClean="0">
                                    <a:effectLst/>
                                    <a:latin typeface="Cambria Math" panose="02040503050406030204" pitchFamily="18" charset="0"/>
                                  </a:rPr>
                                  <m:t>=</m:t>
                                </m:r>
                                <m:d>
                                  <m:dPr>
                                    <m:begChr m:val="{"/>
                                    <m:endChr m:val=""/>
                                    <m:ctrlPr>
                                      <a:rPr lang="en-IN" sz="2000" b="0" i="1" smtClean="0">
                                        <a:effectLst/>
                                        <a:latin typeface="Cambria Math" panose="02040503050406030204" pitchFamily="18" charset="0"/>
                                      </a:rPr>
                                    </m:ctrlPr>
                                  </m:dPr>
                                  <m:e>
                                    <m:eqArr>
                                      <m:eqArrPr>
                                        <m:ctrlPr>
                                          <a:rPr lang="en-IN" sz="2000" b="0" i="1" smtClean="0">
                                            <a:effectLst/>
                                            <a:latin typeface="Cambria Math" panose="02040503050406030204" pitchFamily="18" charset="0"/>
                                          </a:rPr>
                                        </m:ctrlPr>
                                      </m:eqArrPr>
                                      <m:e>
                                        <m:r>
                                          <a:rPr lang="en-IN" sz="2000" b="0" i="1" smtClean="0">
                                            <a:effectLst/>
                                            <a:latin typeface="Cambria Math" panose="02040503050406030204" pitchFamily="18" charset="0"/>
                                          </a:rPr>
                                          <m:t>0 </m:t>
                                        </m:r>
                                        <m:r>
                                          <a:rPr lang="en-IN" sz="2000" b="0" i="1" smtClean="0">
                                            <a:effectLst/>
                                            <a:latin typeface="Cambria Math" panose="02040503050406030204" pitchFamily="18" charset="0"/>
                                          </a:rPr>
                                          <m:t>𝑓𝑜𝑟</m:t>
                                        </m:r>
                                        <m:r>
                                          <a:rPr lang="en-IN" sz="2000" b="0" i="1" smtClean="0">
                                            <a:effectLst/>
                                            <a:latin typeface="Cambria Math" panose="02040503050406030204" pitchFamily="18" charset="0"/>
                                          </a:rPr>
                                          <m:t> </m:t>
                                        </m:r>
                                        <m:r>
                                          <a:rPr lang="en-IN" sz="2000" b="0" i="1" smtClean="0">
                                            <a:effectLst/>
                                            <a:latin typeface="Cambria Math" panose="02040503050406030204" pitchFamily="18" charset="0"/>
                                          </a:rPr>
                                          <m:t>𝑥</m:t>
                                        </m:r>
                                        <m:r>
                                          <a:rPr lang="en-IN" sz="2000" b="0" i="1" smtClean="0">
                                            <a:effectLst/>
                                            <a:latin typeface="Cambria Math" panose="02040503050406030204" pitchFamily="18" charset="0"/>
                                            <a:ea typeface="Cambria Math" panose="02040503050406030204" pitchFamily="18" charset="0"/>
                                          </a:rPr>
                                          <m:t>&lt;0</m:t>
                                        </m:r>
                                      </m:e>
                                      <m:e>
                                        <m:r>
                                          <a:rPr lang="en-IN" sz="2000" b="0" i="1" smtClean="0">
                                            <a:effectLst/>
                                            <a:latin typeface="Cambria Math" panose="02040503050406030204" pitchFamily="18" charset="0"/>
                                          </a:rPr>
                                          <m:t>1 </m:t>
                                        </m:r>
                                        <m:r>
                                          <a:rPr lang="en-IN" sz="2000" b="0" i="1" smtClean="0">
                                            <a:effectLst/>
                                            <a:latin typeface="Cambria Math" panose="02040503050406030204" pitchFamily="18" charset="0"/>
                                          </a:rPr>
                                          <m:t>𝑓𝑜𝑟</m:t>
                                        </m:r>
                                        <m:r>
                                          <a:rPr lang="en-IN" sz="2000" b="0" i="1" smtClean="0">
                                            <a:effectLst/>
                                            <a:latin typeface="Cambria Math" panose="02040503050406030204" pitchFamily="18" charset="0"/>
                                          </a:rPr>
                                          <m:t> </m:t>
                                        </m:r>
                                        <m:r>
                                          <a:rPr lang="en-IN" sz="2000" b="0" i="1" smtClean="0">
                                            <a:effectLst/>
                                            <a:latin typeface="Cambria Math" panose="02040503050406030204" pitchFamily="18" charset="0"/>
                                          </a:rPr>
                                          <m:t>𝑥</m:t>
                                        </m:r>
                                        <m:r>
                                          <a:rPr lang="en-IN" sz="2000" b="0" i="1" smtClean="0">
                                            <a:effectLst/>
                                            <a:latin typeface="Cambria Math" panose="02040503050406030204" pitchFamily="18" charset="0"/>
                                            <a:ea typeface="Cambria Math" panose="02040503050406030204" pitchFamily="18" charset="0"/>
                                          </a:rPr>
                                          <m:t>≥0</m:t>
                                        </m:r>
                                      </m:e>
                                    </m:eqArr>
                                  </m:e>
                                </m:d>
                              </m:oMath>
                            </m:oMathPara>
                          </a14:m>
                          <a:endParaRPr lang="en-IN" sz="2000" b="0" dirty="0">
                            <a:effectLst/>
                          </a:endParaRPr>
                        </a:p>
                        <a:p>
                          <a:pPr algn="ctr" fontAlgn="base"/>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ctr" fontAlgn="base"/>
                          <a14:m>
                            <m:oMathPara xmlns:m="http://schemas.openxmlformats.org/officeDocument/2006/math">
                              <m:oMathParaPr>
                                <m:jc m:val="centerGroup"/>
                              </m:oMathParaPr>
                              <m:oMath xmlns:m="http://schemas.openxmlformats.org/officeDocument/2006/math">
                                <m:r>
                                  <a:rPr lang="en-IN" sz="2000" b="0" i="1" dirty="0" smtClean="0">
                                    <a:effectLst/>
                                    <a:latin typeface="Cambria Math" panose="02040503050406030204" pitchFamily="18" charset="0"/>
                                  </a:rPr>
                                  <m:t>0 </m:t>
                                </m:r>
                                <m:r>
                                  <a:rPr lang="en-IN" sz="2000" b="0" i="1" dirty="0" smtClean="0">
                                    <a:effectLst/>
                                    <a:latin typeface="Cambria Math" panose="02040503050406030204" pitchFamily="18" charset="0"/>
                                  </a:rPr>
                                  <m:t>𝑜𝑟</m:t>
                                </m:r>
                                <m:r>
                                  <a:rPr lang="en-IN" sz="2000" b="0" i="1" dirty="0" smtClean="0">
                                    <a:effectLst/>
                                    <a:latin typeface="Cambria Math" panose="02040503050406030204" pitchFamily="18" charset="0"/>
                                  </a:rPr>
                                  <m:t> 1</m:t>
                                </m:r>
                              </m:oMath>
                            </m:oMathPara>
                          </a14:m>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ctr" fontAlgn="base"/>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just" fontAlgn="base"/>
                          <a:r>
                            <a:rPr lang="en-IN" sz="1800" b="0" dirty="0">
                              <a:effectLst/>
                            </a:rPr>
                            <a:t>The binary step function cannot provide multi-value outputs.</a:t>
                          </a:r>
                          <a:r>
                            <a:rPr lang="en-IN" sz="1800" b="0" baseline="0" dirty="0">
                              <a:effectLst/>
                            </a:rPr>
                            <a:t> I</a:t>
                          </a:r>
                          <a:r>
                            <a:rPr lang="en-IN" sz="1800" b="0" dirty="0">
                              <a:effectLst/>
                            </a:rPr>
                            <a:t>t cannot be used with gradient-based optimization algorithms</a:t>
                          </a:r>
                        </a:p>
                      </a:txBody>
                      <a:tcPr marL="95250" marR="95250" marT="133350" marB="1333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1581805">
                    <a:tc>
                      <a:txBody>
                        <a:bodyPr/>
                        <a:lstStyle/>
                        <a:p>
                          <a:pPr algn="ctr" fontAlgn="base"/>
                          <a:r>
                            <a:rPr lang="en-IN" sz="2000" b="0" dirty="0">
                              <a:effectLst/>
                            </a:rPr>
                            <a:t>Sigmoid/Logistic</a:t>
                          </a:r>
                        </a:p>
                      </a:txBody>
                      <a:tcPr marL="95250" marR="95250" marT="133350" marB="1333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z="2000" b="0" i="1" smtClean="0">
                                    <a:effectLst/>
                                    <a:latin typeface="Cambria Math" panose="02040503050406030204" pitchFamily="18" charset="0"/>
                                  </a:rPr>
                                  <m:t>𝑓</m:t>
                                </m:r>
                                <m:d>
                                  <m:dPr>
                                    <m:ctrlPr>
                                      <a:rPr lang="en-IN" sz="2000" b="0" i="1" smtClean="0">
                                        <a:effectLst/>
                                        <a:latin typeface="Cambria Math" panose="02040503050406030204" pitchFamily="18" charset="0"/>
                                      </a:rPr>
                                    </m:ctrlPr>
                                  </m:dPr>
                                  <m:e>
                                    <m:r>
                                      <a:rPr lang="en-IN" sz="2000" b="0" i="1" smtClean="0">
                                        <a:effectLst/>
                                        <a:latin typeface="Cambria Math" panose="02040503050406030204" pitchFamily="18" charset="0"/>
                                      </a:rPr>
                                      <m:t>𝑥</m:t>
                                    </m:r>
                                  </m:e>
                                </m:d>
                                <m:r>
                                  <a:rPr lang="en-IN" sz="2000" b="0" i="1" smtClean="0">
                                    <a:effectLst/>
                                    <a:latin typeface="Cambria Math" panose="02040503050406030204" pitchFamily="18" charset="0"/>
                                  </a:rPr>
                                  <m:t>=</m:t>
                                </m:r>
                                <m:f>
                                  <m:fPr>
                                    <m:ctrlPr>
                                      <a:rPr lang="en-IN" sz="2000" b="0" i="1" smtClean="0">
                                        <a:effectLst/>
                                        <a:latin typeface="Cambria Math" panose="02040503050406030204" pitchFamily="18" charset="0"/>
                                      </a:rPr>
                                    </m:ctrlPr>
                                  </m:fPr>
                                  <m:num>
                                    <m:r>
                                      <a:rPr lang="en-IN" sz="2000" b="0" i="1" smtClean="0">
                                        <a:effectLst/>
                                        <a:latin typeface="Cambria Math" panose="02040503050406030204" pitchFamily="18" charset="0"/>
                                      </a:rPr>
                                      <m:t>1</m:t>
                                    </m:r>
                                  </m:num>
                                  <m:den>
                                    <m:r>
                                      <a:rPr lang="en-IN" sz="2000" b="0" i="1" smtClean="0">
                                        <a:effectLst/>
                                        <a:latin typeface="Cambria Math" panose="02040503050406030204" pitchFamily="18" charset="0"/>
                                      </a:rPr>
                                      <m:t>1+</m:t>
                                    </m:r>
                                    <m:sSup>
                                      <m:sSupPr>
                                        <m:ctrlPr>
                                          <a:rPr lang="en-IN" sz="2000" b="0" i="1" smtClean="0">
                                            <a:effectLst/>
                                            <a:latin typeface="Cambria Math" panose="02040503050406030204" pitchFamily="18" charset="0"/>
                                          </a:rPr>
                                        </m:ctrlPr>
                                      </m:sSupPr>
                                      <m:e>
                                        <m:r>
                                          <a:rPr lang="en-IN" sz="2000" b="0" i="1" smtClean="0">
                                            <a:effectLst/>
                                            <a:latin typeface="Cambria Math" panose="02040503050406030204" pitchFamily="18" charset="0"/>
                                          </a:rPr>
                                          <m:t>𝑒</m:t>
                                        </m:r>
                                      </m:e>
                                      <m:sup>
                                        <m:r>
                                          <a:rPr lang="en-IN" sz="2000" b="0" i="1" smtClean="0">
                                            <a:effectLst/>
                                            <a:latin typeface="Cambria Math" panose="02040503050406030204" pitchFamily="18" charset="0"/>
                                          </a:rPr>
                                          <m:t>−</m:t>
                                        </m:r>
                                        <m:r>
                                          <a:rPr lang="en-IN" sz="2000" b="0" i="1" smtClean="0">
                                            <a:effectLst/>
                                            <a:latin typeface="Cambria Math" panose="02040503050406030204" pitchFamily="18" charset="0"/>
                                          </a:rPr>
                                          <m:t>𝑥</m:t>
                                        </m:r>
                                      </m:sup>
                                    </m:sSup>
                                  </m:den>
                                </m:f>
                              </m:oMath>
                            </m:oMathPara>
                          </a14:m>
                          <a:endParaRPr lang="en-IN" sz="2000" b="0" dirty="0">
                            <a:effectLst/>
                          </a:endParaRPr>
                        </a:p>
                        <a:p>
                          <a:pPr algn="ctr" fontAlgn="base"/>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algn="ctr" fontAlgn="base"/>
                          <a14:m>
                            <m:oMathPara xmlns:m="http://schemas.openxmlformats.org/officeDocument/2006/math">
                              <m:oMathParaPr>
                                <m:jc m:val="centerGroup"/>
                              </m:oMathParaPr>
                              <m:oMath xmlns:m="http://schemas.openxmlformats.org/officeDocument/2006/math">
                                <m:r>
                                  <a:rPr lang="en-IN" sz="2000" b="0" i="1" dirty="0" smtClean="0">
                                    <a:effectLst/>
                                    <a:latin typeface="Cambria Math" panose="02040503050406030204" pitchFamily="18" charset="0"/>
                                  </a:rPr>
                                  <m:t>0 </m:t>
                                </m:r>
                                <m:r>
                                  <a:rPr lang="en-IN" sz="2000" b="0" i="1" dirty="0" smtClean="0">
                                    <a:effectLst/>
                                    <a:latin typeface="Cambria Math" panose="02040503050406030204" pitchFamily="18" charset="0"/>
                                  </a:rPr>
                                  <m:t>𝑡𝑜</m:t>
                                </m:r>
                                <m:r>
                                  <a:rPr lang="en-IN" sz="2000" b="0" i="1" dirty="0" smtClean="0">
                                    <a:effectLst/>
                                    <a:latin typeface="Cambria Math" panose="02040503050406030204" pitchFamily="18" charset="0"/>
                                  </a:rPr>
                                  <m:t> 1</m:t>
                                </m:r>
                              </m:oMath>
                            </m:oMathPara>
                          </a14:m>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algn="ctr" fontAlgn="base"/>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algn="l" fontAlgn="base"/>
                          <a:r>
                            <a:rPr lang="en-IN" sz="1800" b="0" dirty="0">
                              <a:effectLst/>
                            </a:rPr>
                            <a:t>It is useful in binary classification but in</a:t>
                          </a:r>
                          <a:r>
                            <a:rPr lang="en-IN" sz="1800" b="0" baseline="0" dirty="0">
                              <a:effectLst/>
                            </a:rPr>
                            <a:t> </a:t>
                          </a:r>
                          <a:r>
                            <a:rPr lang="en-IN" sz="1800" b="0" dirty="0">
                              <a:effectLst/>
                            </a:rPr>
                            <a:t>backpropagation, it suffers from both the vanishing gradient or exploding gradient.</a:t>
                          </a:r>
                        </a:p>
                      </a:txBody>
                      <a:tcPr marL="95250" marR="95250" marT="133350" marB="1333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560613656"/>
                  </p:ext>
                </p:extLst>
              </p:nvPr>
            </p:nvGraphicFramePr>
            <p:xfrm>
              <a:off x="245918" y="235811"/>
              <a:ext cx="11682846" cy="6362416"/>
            </p:xfrm>
            <a:graphic>
              <a:graphicData uri="http://schemas.openxmlformats.org/drawingml/2006/table">
                <a:tbl>
                  <a:tblPr firstRow="1" bandRow="1">
                    <a:tableStyleId>{0E3FDE45-AF77-4B5C-9715-49D594BDF05E}</a:tableStyleId>
                  </a:tblPr>
                  <a:tblGrid>
                    <a:gridCol w="1164064"/>
                    <a:gridCol w="2722012"/>
                    <a:gridCol w="2416049"/>
                    <a:gridCol w="2078435"/>
                    <a:gridCol w="3302286"/>
                  </a:tblGrid>
                  <a:tr h="1147276">
                    <a:tc>
                      <a:txBody>
                        <a:bodyPr/>
                        <a:lstStyle/>
                        <a:p>
                          <a:pPr algn="ctr" fontAlgn="base"/>
                          <a:r>
                            <a:rPr lang="en-IN" sz="2000" b="1" dirty="0" smtClean="0">
                              <a:effectLst/>
                            </a:rPr>
                            <a:t>Activation function</a:t>
                          </a:r>
                          <a:endParaRPr lang="en-IN" sz="2000" b="1" dirty="0">
                            <a:effectLst/>
                          </a:endParaRPr>
                        </a:p>
                      </a:txBody>
                      <a:tcPr marL="38100" marR="38100" marT="95250" marB="952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ctr" fontAlgn="base"/>
                          <a:r>
                            <a:rPr lang="en-IN" sz="2000" b="1" dirty="0" smtClean="0">
                              <a:effectLst/>
                            </a:rPr>
                            <a:t>Mathematical representation </a:t>
                          </a:r>
                          <a:endParaRPr lang="en-IN" sz="2000" b="1" dirty="0">
                            <a:effectLst/>
                          </a:endParaRPr>
                        </a:p>
                      </a:txBody>
                      <a:tcPr marL="95250" marR="95250" marT="95250" marB="952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gridSpan="2">
                      <a:txBody>
                        <a:bodyPr/>
                        <a:lstStyle/>
                        <a:p>
                          <a:pPr algn="ctr" fontAlgn="base"/>
                          <a:r>
                            <a:rPr lang="en-IN" sz="2000" b="1" dirty="0" smtClean="0">
                              <a:effectLst/>
                            </a:rPr>
                            <a:t>Range of output value </a:t>
                          </a:r>
                          <a:endParaRPr lang="en-IN" sz="2000" b="1" dirty="0">
                            <a:effectLst/>
                          </a:endParaRPr>
                        </a:p>
                      </a:txBody>
                      <a:tcPr marL="95250" marR="95250" marT="95250" marB="952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hMerge="1">
                      <a:txBody>
                        <a:bodyPr/>
                        <a:lstStyle/>
                        <a:p>
                          <a:pPr algn="ctr" fontAlgn="base"/>
                          <a:endParaRPr lang="en-IN" sz="2000" b="1" dirty="0">
                            <a:effectLst/>
                          </a:endParaRPr>
                        </a:p>
                      </a:txBody>
                      <a:tcPr marL="95250" marR="95250" marT="95250" marB="952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ctr" fontAlgn="base"/>
                          <a:r>
                            <a:rPr lang="en-IN" sz="2000" b="1" dirty="0" smtClean="0">
                              <a:effectLst/>
                            </a:rPr>
                            <a:t>Characteristics </a:t>
                          </a:r>
                          <a:endParaRPr lang="en-IN" sz="2000" b="1" dirty="0">
                            <a:effectLst/>
                          </a:endParaRPr>
                        </a:p>
                      </a:txBody>
                      <a:tcPr marL="95250" marR="95250" marT="95250" marB="952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r>
                  <a:tr h="1581805">
                    <a:tc>
                      <a:txBody>
                        <a:bodyPr/>
                        <a:lstStyle/>
                        <a:p>
                          <a:pPr algn="ctr" fontAlgn="base"/>
                          <a:r>
                            <a:rPr lang="en-IN" sz="2000" b="0" dirty="0" smtClean="0">
                              <a:effectLst/>
                            </a:rPr>
                            <a:t>Linear</a:t>
                          </a:r>
                          <a:endParaRPr lang="en-IN" sz="2000" b="0" dirty="0">
                            <a:effectLst/>
                          </a:endParaRPr>
                        </a:p>
                      </a:txBody>
                      <a:tcPr marL="95250" marR="95250" marT="133350" marB="1333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endParaRPr lang="en-US"/>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blipFill rotWithShape="0">
                          <a:blip r:embed="rId2"/>
                          <a:stretch>
                            <a:fillRect l="-42729" t="-72692" r="-286353" b="-230385"/>
                          </a:stretch>
                        </a:blipFill>
                      </a:tcPr>
                    </a:tc>
                    <a:tc>
                      <a:txBody>
                        <a:bodyPr/>
                        <a:lstStyle/>
                        <a:p>
                          <a:endParaRPr lang="en-US"/>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blipFill rotWithShape="0">
                          <a:blip r:embed="rId2"/>
                          <a:stretch>
                            <a:fillRect l="-161111" t="-72692" r="-223232" b="-230385"/>
                          </a:stretch>
                        </a:blipFill>
                      </a:tcPr>
                    </a:tc>
                    <a:tc>
                      <a:txBody>
                        <a:bodyPr/>
                        <a:lstStyle/>
                        <a:p>
                          <a:pPr algn="ctr" fontAlgn="base"/>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algn="just" fontAlgn="base"/>
                          <a:r>
                            <a:rPr lang="en-IN" sz="1800" b="0" dirty="0" smtClean="0">
                              <a:effectLst/>
                            </a:rPr>
                            <a:t>This function does not modify the weighted sum of the input and. Activation is directly proportional to the input</a:t>
                          </a:r>
                        </a:p>
                      </a:txBody>
                      <a:tcPr marL="95250" marR="95250" marT="133350" marB="1333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r>
                  <a:tr h="2051530">
                    <a:tc>
                      <a:txBody>
                        <a:bodyPr/>
                        <a:lstStyle/>
                        <a:p>
                          <a:pPr algn="ctr" fontAlgn="base"/>
                          <a:r>
                            <a:rPr lang="en-IN" sz="2000" b="0" dirty="0" smtClean="0">
                              <a:effectLst/>
                            </a:rPr>
                            <a:t>Binary step</a:t>
                          </a:r>
                          <a:endParaRPr lang="en-IN" sz="2000" b="0" dirty="0">
                            <a:effectLst/>
                          </a:endParaRPr>
                        </a:p>
                      </a:txBody>
                      <a:tcPr marL="95250" marR="95250" marT="133350" marB="1333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endParaRPr lang="en-US"/>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blipFill rotWithShape="0">
                          <a:blip r:embed="rId2"/>
                          <a:stretch>
                            <a:fillRect l="-42729" t="-133234" r="-286353" b="-77745"/>
                          </a:stretch>
                        </a:blipFill>
                      </a:tcPr>
                    </a:tc>
                    <a:tc>
                      <a:txBody>
                        <a:bodyPr/>
                        <a:lstStyle/>
                        <a:p>
                          <a:endParaRPr lang="en-US"/>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blipFill rotWithShape="0">
                          <a:blip r:embed="rId2"/>
                          <a:stretch>
                            <a:fillRect l="-161111" t="-133234" r="-223232" b="-77745"/>
                          </a:stretch>
                        </a:blipFill>
                      </a:tcPr>
                    </a:tc>
                    <a:tc>
                      <a:txBody>
                        <a:bodyPr/>
                        <a:lstStyle/>
                        <a:p>
                          <a:pPr algn="ctr" fontAlgn="base"/>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just" fontAlgn="base"/>
                          <a:r>
                            <a:rPr lang="en-IN" sz="1800" b="0" dirty="0" smtClean="0">
                              <a:effectLst/>
                            </a:rPr>
                            <a:t>The binary step function cannot provide multi-value outputs.</a:t>
                          </a:r>
                          <a:r>
                            <a:rPr lang="en-IN" sz="1800" b="0" baseline="0" dirty="0" smtClean="0">
                              <a:effectLst/>
                            </a:rPr>
                            <a:t> I</a:t>
                          </a:r>
                          <a:r>
                            <a:rPr lang="en-IN" sz="1800" b="0" dirty="0" smtClean="0">
                              <a:effectLst/>
                            </a:rPr>
                            <a:t>t cannot be used with gradient-based optimization algorithms</a:t>
                          </a:r>
                          <a:endParaRPr lang="en-IN" sz="18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r>
                  <a:tr h="1581805">
                    <a:tc>
                      <a:txBody>
                        <a:bodyPr/>
                        <a:lstStyle/>
                        <a:p>
                          <a:pPr algn="ctr" fontAlgn="base"/>
                          <a:r>
                            <a:rPr lang="en-IN" sz="2000" b="0" dirty="0" smtClean="0">
                              <a:effectLst/>
                            </a:rPr>
                            <a:t>Sigmoid/Logistic</a:t>
                          </a:r>
                          <a:endParaRPr lang="en-IN" sz="2000" b="0" dirty="0">
                            <a:effectLst/>
                          </a:endParaRPr>
                        </a:p>
                      </a:txBody>
                      <a:tcPr marL="95250" marR="95250" marT="133350" marB="1333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endParaRPr lang="en-US"/>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blipFill rotWithShape="0">
                          <a:blip r:embed="rId2"/>
                          <a:stretch>
                            <a:fillRect l="-42729" t="-302308" r="-286353" b="-769"/>
                          </a:stretch>
                        </a:blipFill>
                      </a:tcPr>
                    </a:tc>
                    <a:tc>
                      <a:txBody>
                        <a:bodyPr/>
                        <a:lstStyle/>
                        <a:p>
                          <a:endParaRPr lang="en-US"/>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blipFill rotWithShape="0">
                          <a:blip r:embed="rId2"/>
                          <a:stretch>
                            <a:fillRect l="-161111" t="-302308" r="-223232" b="-769"/>
                          </a:stretch>
                        </a:blipFill>
                      </a:tcPr>
                    </a:tc>
                    <a:tc>
                      <a:txBody>
                        <a:bodyPr/>
                        <a:lstStyle/>
                        <a:p>
                          <a:pPr algn="ctr" fontAlgn="base"/>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algn="l" fontAlgn="base"/>
                          <a:r>
                            <a:rPr lang="en-IN" sz="1800" b="0" dirty="0" smtClean="0">
                              <a:effectLst/>
                            </a:rPr>
                            <a:t>It is useful in binary classification but in</a:t>
                          </a:r>
                          <a:r>
                            <a:rPr lang="en-IN" sz="1800" b="0" baseline="0" dirty="0" smtClean="0">
                              <a:effectLst/>
                            </a:rPr>
                            <a:t> </a:t>
                          </a:r>
                          <a:r>
                            <a:rPr lang="en-IN" sz="1800" b="0" dirty="0" smtClean="0">
                              <a:effectLst/>
                            </a:rPr>
                            <a:t>backpropagation, it suffers from both the vanishing gradient or exploding gradient.</a:t>
                          </a:r>
                          <a:endParaRPr lang="en-IN" sz="18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r>
                </a:tbl>
              </a:graphicData>
            </a:graphic>
          </p:graphicFrame>
        </mc:Fallback>
      </mc:AlternateContent>
      <p:pic>
        <p:nvPicPr>
          <p:cNvPr id="4" name="Picture 3"/>
          <p:cNvPicPr>
            <a:picLocks noChangeAspect="1"/>
          </p:cNvPicPr>
          <p:nvPr/>
        </p:nvPicPr>
        <p:blipFill>
          <a:blip r:embed="rId3"/>
          <a:stretch>
            <a:fillRect/>
          </a:stretch>
        </p:blipFill>
        <p:spPr>
          <a:xfrm>
            <a:off x="6727204" y="1595386"/>
            <a:ext cx="1567786" cy="1260000"/>
          </a:xfrm>
          <a:prstGeom prst="rect">
            <a:avLst/>
          </a:prstGeom>
        </p:spPr>
      </p:pic>
      <p:pic>
        <p:nvPicPr>
          <p:cNvPr id="5" name="Picture 4"/>
          <p:cNvPicPr>
            <a:picLocks noChangeAspect="1"/>
          </p:cNvPicPr>
          <p:nvPr/>
        </p:nvPicPr>
        <p:blipFill>
          <a:blip r:embed="rId4"/>
          <a:stretch>
            <a:fillRect/>
          </a:stretch>
        </p:blipFill>
        <p:spPr>
          <a:xfrm>
            <a:off x="6738332" y="3363996"/>
            <a:ext cx="1556658" cy="1260000"/>
          </a:xfrm>
          <a:prstGeom prst="rect">
            <a:avLst/>
          </a:prstGeom>
        </p:spPr>
      </p:pic>
      <p:pic>
        <p:nvPicPr>
          <p:cNvPr id="6" name="Picture 5"/>
          <p:cNvPicPr>
            <a:picLocks noChangeAspect="1"/>
          </p:cNvPicPr>
          <p:nvPr/>
        </p:nvPicPr>
        <p:blipFill>
          <a:blip r:embed="rId5"/>
          <a:stretch>
            <a:fillRect/>
          </a:stretch>
        </p:blipFill>
        <p:spPr>
          <a:xfrm>
            <a:off x="6746174" y="5214192"/>
            <a:ext cx="1548816" cy="1260000"/>
          </a:xfrm>
          <a:prstGeom prst="rect">
            <a:avLst/>
          </a:prstGeom>
        </p:spPr>
      </p:pic>
    </p:spTree>
    <p:extLst>
      <p:ext uri="{BB962C8B-B14F-4D97-AF65-F5344CB8AC3E}">
        <p14:creationId xmlns:p14="http://schemas.microsoft.com/office/powerpoint/2010/main" val="1665368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1500"/>
                                        <p:tgtEl>
                                          <p:spTgt spid="3"/>
                                        </p:tgtEl>
                                      </p:cBhvr>
                                    </p:animEffect>
                                  </p:childTnLst>
                                </p:cTn>
                              </p:par>
                            </p:childTnLst>
                          </p:cTn>
                        </p:par>
                        <p:par>
                          <p:cTn id="8" fill="hold">
                            <p:stCondLst>
                              <p:cond delay="15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2"/>
              <p:cNvGraphicFramePr>
                <a:graphicFrameLocks noGrp="1"/>
              </p:cNvGraphicFramePr>
              <p:nvPr/>
            </p:nvGraphicFramePr>
            <p:xfrm>
              <a:off x="245918" y="225420"/>
              <a:ext cx="11682846" cy="5364203"/>
            </p:xfrm>
            <a:graphic>
              <a:graphicData uri="http://schemas.openxmlformats.org/drawingml/2006/table">
                <a:tbl>
                  <a:tblPr firstRow="1" bandRow="1">
                    <a:tableStyleId>{0E3FDE45-AF77-4B5C-9715-49D594BDF05E}</a:tableStyleId>
                  </a:tblPr>
                  <a:tblGrid>
                    <a:gridCol w="1164064">
                      <a:extLst>
                        <a:ext uri="{9D8B030D-6E8A-4147-A177-3AD203B41FA5}">
                          <a16:colId xmlns:a16="http://schemas.microsoft.com/office/drawing/2014/main" val="20000"/>
                        </a:ext>
                      </a:extLst>
                    </a:gridCol>
                    <a:gridCol w="2722012">
                      <a:extLst>
                        <a:ext uri="{9D8B030D-6E8A-4147-A177-3AD203B41FA5}">
                          <a16:colId xmlns:a16="http://schemas.microsoft.com/office/drawing/2014/main" val="20001"/>
                        </a:ext>
                      </a:extLst>
                    </a:gridCol>
                    <a:gridCol w="2416049">
                      <a:extLst>
                        <a:ext uri="{9D8B030D-6E8A-4147-A177-3AD203B41FA5}">
                          <a16:colId xmlns:a16="http://schemas.microsoft.com/office/drawing/2014/main" val="20002"/>
                        </a:ext>
                      </a:extLst>
                    </a:gridCol>
                    <a:gridCol w="2078435">
                      <a:extLst>
                        <a:ext uri="{9D8B030D-6E8A-4147-A177-3AD203B41FA5}">
                          <a16:colId xmlns:a16="http://schemas.microsoft.com/office/drawing/2014/main" val="20003"/>
                        </a:ext>
                      </a:extLst>
                    </a:gridCol>
                    <a:gridCol w="3302286">
                      <a:extLst>
                        <a:ext uri="{9D8B030D-6E8A-4147-A177-3AD203B41FA5}">
                          <a16:colId xmlns:a16="http://schemas.microsoft.com/office/drawing/2014/main" val="20004"/>
                        </a:ext>
                      </a:extLst>
                    </a:gridCol>
                  </a:tblGrid>
                  <a:tr h="1076885">
                    <a:tc>
                      <a:txBody>
                        <a:bodyPr/>
                        <a:lstStyle/>
                        <a:p>
                          <a:pPr algn="ctr" fontAlgn="base"/>
                          <a:r>
                            <a:rPr lang="en-IN" sz="2000" b="1" dirty="0">
                              <a:effectLst/>
                            </a:rPr>
                            <a:t>Activation function</a:t>
                          </a:r>
                        </a:p>
                      </a:txBody>
                      <a:tcPr marL="38100" marR="38100" marT="95250" marB="952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ctr" fontAlgn="base"/>
                          <a:r>
                            <a:rPr lang="en-IN" sz="2000" b="1" dirty="0">
                              <a:effectLst/>
                            </a:rPr>
                            <a:t>Mathematical representation </a:t>
                          </a:r>
                        </a:p>
                      </a:txBody>
                      <a:tcPr marL="95250" marR="95250" marT="95250" marB="952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gridSpan="2">
                      <a:txBody>
                        <a:bodyPr/>
                        <a:lstStyle/>
                        <a:p>
                          <a:pPr algn="ctr" fontAlgn="base"/>
                          <a:r>
                            <a:rPr lang="en-IN" sz="2000" b="1" dirty="0">
                              <a:effectLst/>
                            </a:rPr>
                            <a:t>Range of output value </a:t>
                          </a:r>
                        </a:p>
                      </a:txBody>
                      <a:tcPr marL="95250" marR="95250" marT="95250" marB="952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hMerge="1">
                      <a:txBody>
                        <a:bodyPr/>
                        <a:lstStyle/>
                        <a:p>
                          <a:pPr algn="ctr" fontAlgn="base"/>
                          <a:endParaRPr lang="en-IN" sz="2000" b="1" dirty="0">
                            <a:effectLst/>
                          </a:endParaRPr>
                        </a:p>
                      </a:txBody>
                      <a:tcPr marL="95250" marR="95250" marT="95250" marB="952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ctr" fontAlgn="base"/>
                          <a:r>
                            <a:rPr lang="en-IN" sz="2000" b="1" dirty="0">
                              <a:effectLst/>
                            </a:rPr>
                            <a:t>Characteristics </a:t>
                          </a:r>
                        </a:p>
                      </a:txBody>
                      <a:tcPr marL="95250" marR="95250" marT="95250" marB="952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1826058">
                    <a:tc>
                      <a:txBody>
                        <a:bodyPr/>
                        <a:lstStyle/>
                        <a:p>
                          <a:pPr algn="ctr" fontAlgn="base"/>
                          <a:r>
                            <a:rPr lang="en-IN" sz="2000" b="0" dirty="0" err="1">
                              <a:effectLst/>
                            </a:rPr>
                            <a:t>Tanh</a:t>
                          </a:r>
                          <a:endParaRPr lang="en-IN" sz="2000" b="0" dirty="0">
                            <a:effectLst/>
                          </a:endParaRPr>
                        </a:p>
                      </a:txBody>
                      <a:tcPr marL="95250" marR="95250" marT="133350" marB="1333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algn="ctr" fontAlgn="base"/>
                          <a14:m>
                            <m:oMathPara xmlns:m="http://schemas.openxmlformats.org/officeDocument/2006/math">
                              <m:oMathParaPr>
                                <m:jc m:val="centerGroup"/>
                              </m:oMathParaPr>
                              <m:oMath xmlns:m="http://schemas.openxmlformats.org/officeDocument/2006/math">
                                <m:r>
                                  <a:rPr lang="en-IN" sz="2000" b="0" i="1" smtClean="0">
                                    <a:effectLst/>
                                    <a:latin typeface="Cambria Math" panose="02040503050406030204" pitchFamily="18" charset="0"/>
                                  </a:rPr>
                                  <m:t>𝑓</m:t>
                                </m:r>
                                <m:d>
                                  <m:dPr>
                                    <m:ctrlPr>
                                      <a:rPr lang="en-IN" sz="2000" b="0" i="1" smtClean="0">
                                        <a:effectLst/>
                                        <a:latin typeface="Cambria Math" panose="02040503050406030204" pitchFamily="18" charset="0"/>
                                      </a:rPr>
                                    </m:ctrlPr>
                                  </m:dPr>
                                  <m:e>
                                    <m:r>
                                      <a:rPr lang="en-IN" sz="2000" b="0" i="1" smtClean="0">
                                        <a:effectLst/>
                                        <a:latin typeface="Cambria Math" panose="02040503050406030204" pitchFamily="18" charset="0"/>
                                      </a:rPr>
                                      <m:t>𝑥</m:t>
                                    </m:r>
                                  </m:e>
                                </m:d>
                                <m:r>
                                  <a:rPr lang="en-IN" sz="2000" b="0" i="1" smtClean="0">
                                    <a:effectLst/>
                                    <a:latin typeface="Cambria Math" panose="02040503050406030204" pitchFamily="18" charset="0"/>
                                  </a:rPr>
                                  <m:t>=</m:t>
                                </m:r>
                                <m:f>
                                  <m:fPr>
                                    <m:ctrlPr>
                                      <a:rPr lang="en-IN" sz="2000" b="0" i="1" smtClean="0">
                                        <a:effectLst/>
                                        <a:latin typeface="Cambria Math" panose="02040503050406030204" pitchFamily="18" charset="0"/>
                                      </a:rPr>
                                    </m:ctrlPr>
                                  </m:fPr>
                                  <m:num>
                                    <m:r>
                                      <a:rPr lang="en-IN" sz="2000" b="0" i="1" smtClean="0">
                                        <a:effectLst/>
                                        <a:latin typeface="Cambria Math" panose="02040503050406030204" pitchFamily="18" charset="0"/>
                                      </a:rPr>
                                      <m:t>2</m:t>
                                    </m:r>
                                  </m:num>
                                  <m:den>
                                    <m:r>
                                      <a:rPr lang="en-IN" sz="2000" b="0" i="1" smtClean="0">
                                        <a:effectLst/>
                                        <a:latin typeface="Cambria Math" panose="02040503050406030204" pitchFamily="18" charset="0"/>
                                      </a:rPr>
                                      <m:t>(1+</m:t>
                                    </m:r>
                                    <m:sSup>
                                      <m:sSupPr>
                                        <m:ctrlPr>
                                          <a:rPr lang="en-IN" sz="2000" b="0" i="1" smtClean="0">
                                            <a:effectLst/>
                                            <a:latin typeface="Cambria Math" panose="02040503050406030204" pitchFamily="18" charset="0"/>
                                          </a:rPr>
                                        </m:ctrlPr>
                                      </m:sSupPr>
                                      <m:e>
                                        <m:r>
                                          <a:rPr lang="en-IN" sz="2000" b="0" i="1" smtClean="0">
                                            <a:effectLst/>
                                            <a:latin typeface="Cambria Math" panose="02040503050406030204" pitchFamily="18" charset="0"/>
                                          </a:rPr>
                                          <m:t>𝑒</m:t>
                                        </m:r>
                                      </m:e>
                                      <m:sup>
                                        <m:r>
                                          <a:rPr lang="en-IN" sz="2000" b="0" i="1" smtClean="0">
                                            <a:effectLst/>
                                            <a:latin typeface="Cambria Math" panose="02040503050406030204" pitchFamily="18" charset="0"/>
                                          </a:rPr>
                                          <m:t>−2</m:t>
                                        </m:r>
                                        <m:r>
                                          <a:rPr lang="en-IN" sz="2000" b="0" i="1" smtClean="0">
                                            <a:effectLst/>
                                            <a:latin typeface="Cambria Math" panose="02040503050406030204" pitchFamily="18" charset="0"/>
                                          </a:rPr>
                                          <m:t>𝑥</m:t>
                                        </m:r>
                                      </m:sup>
                                    </m:sSup>
                                    <m:r>
                                      <a:rPr lang="en-IN" sz="2000" b="0" i="1" smtClean="0">
                                        <a:effectLst/>
                                        <a:latin typeface="Cambria Math" panose="02040503050406030204" pitchFamily="18" charset="0"/>
                                      </a:rPr>
                                      <m:t>)</m:t>
                                    </m:r>
                                  </m:den>
                                </m:f>
                                <m:r>
                                  <a:rPr lang="en-IN" sz="2000" b="0" i="0" smtClean="0">
                                    <a:effectLst/>
                                    <a:latin typeface="Cambria Math" panose="02040503050406030204" pitchFamily="18" charset="0"/>
                                  </a:rPr>
                                  <m:t>−1</m:t>
                                </m:r>
                              </m:oMath>
                            </m:oMathPara>
                          </a14:m>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algn="l" fontAlgn="base"/>
                          <a14:m>
                            <m:oMathPara xmlns:m="http://schemas.openxmlformats.org/officeDocument/2006/math">
                              <m:oMathParaPr>
                                <m:jc m:val="centerGroup"/>
                              </m:oMathParaPr>
                              <m:oMath xmlns:m="http://schemas.openxmlformats.org/officeDocument/2006/math">
                                <m:r>
                                  <a:rPr lang="en-IN" sz="2000" b="0" i="1" dirty="0" smtClean="0">
                                    <a:effectLst/>
                                    <a:latin typeface="Cambria Math" panose="02040503050406030204" pitchFamily="18" charset="0"/>
                                  </a:rPr>
                                  <m:t>−1 </m:t>
                                </m:r>
                                <m:r>
                                  <a:rPr lang="en-IN" sz="2000" b="0" i="1" dirty="0" smtClean="0">
                                    <a:effectLst/>
                                    <a:latin typeface="Cambria Math" panose="02040503050406030204" pitchFamily="18" charset="0"/>
                                  </a:rPr>
                                  <m:t>𝑡𝑜</m:t>
                                </m:r>
                                <m:r>
                                  <a:rPr lang="en-IN" sz="2000" b="0" i="1" baseline="0" dirty="0" smtClean="0">
                                    <a:effectLst/>
                                    <a:latin typeface="Cambria Math" panose="02040503050406030204" pitchFamily="18" charset="0"/>
                                  </a:rPr>
                                  <m:t> +1</m:t>
                                </m:r>
                              </m:oMath>
                            </m:oMathPara>
                          </a14:m>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algn="ctr" fontAlgn="base"/>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algn="just" fontAlgn="base"/>
                          <a:r>
                            <a:rPr lang="en-IN" sz="1800" b="0" dirty="0">
                              <a:effectLst/>
                            </a:rPr>
                            <a:t>The output is Zero centred; hence we can easily map the output values as strongly negative, neutral, or strongly positive.</a:t>
                          </a:r>
                        </a:p>
                      </a:txBody>
                      <a:tcPr marL="95250" marR="95250" marT="133350" marB="1333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1848882">
                    <a:tc>
                      <a:txBody>
                        <a:bodyPr/>
                        <a:lstStyle/>
                        <a:p>
                          <a:pPr algn="ctr" fontAlgn="base"/>
                          <a:r>
                            <a:rPr lang="en-IN" sz="2000" b="0" dirty="0" err="1">
                              <a:effectLst/>
                            </a:rPr>
                            <a:t>ReLU</a:t>
                          </a:r>
                          <a:endParaRPr lang="en-IN" sz="2000" b="0" dirty="0">
                            <a:effectLst/>
                          </a:endParaRPr>
                        </a:p>
                      </a:txBody>
                      <a:tcPr marL="95250" marR="95250" marT="133350" marB="1333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z="2000" b="0" i="1" smtClean="0">
                                    <a:effectLst/>
                                    <a:latin typeface="Cambria Math" panose="02040503050406030204" pitchFamily="18" charset="0"/>
                                  </a:rPr>
                                  <m:t>𝑓</m:t>
                                </m:r>
                                <m:d>
                                  <m:dPr>
                                    <m:ctrlPr>
                                      <a:rPr lang="en-IN" sz="2000" b="0" i="1" smtClean="0">
                                        <a:effectLst/>
                                        <a:latin typeface="Cambria Math" panose="02040503050406030204" pitchFamily="18" charset="0"/>
                                      </a:rPr>
                                    </m:ctrlPr>
                                  </m:dPr>
                                  <m:e>
                                    <m:r>
                                      <a:rPr lang="en-IN" sz="2000" b="0" i="1" smtClean="0">
                                        <a:effectLst/>
                                        <a:latin typeface="Cambria Math" panose="02040503050406030204" pitchFamily="18" charset="0"/>
                                      </a:rPr>
                                      <m:t>𝑥</m:t>
                                    </m:r>
                                  </m:e>
                                </m:d>
                                <m:r>
                                  <a:rPr lang="en-IN" sz="2000" b="0" i="1" smtClean="0">
                                    <a:effectLst/>
                                    <a:latin typeface="Cambria Math" panose="02040503050406030204" pitchFamily="18" charset="0"/>
                                  </a:rPr>
                                  <m:t>=</m:t>
                                </m:r>
                                <m:r>
                                  <m:rPr>
                                    <m:sty m:val="p"/>
                                  </m:rPr>
                                  <a:rPr lang="en-IN" sz="2000" b="0" i="0" smtClean="0">
                                    <a:effectLst/>
                                    <a:latin typeface="Cambria Math" panose="02040503050406030204" pitchFamily="18" charset="0"/>
                                  </a:rPr>
                                  <m:t>max</m:t>
                                </m:r>
                                <m:r>
                                  <a:rPr lang="en-IN" sz="2000" b="0" i="1" smtClean="0">
                                    <a:effectLst/>
                                    <a:latin typeface="Cambria Math" panose="02040503050406030204" pitchFamily="18" charset="0"/>
                                  </a:rPr>
                                  <m:t>⁡(0,</m:t>
                                </m:r>
                                <m:r>
                                  <a:rPr lang="en-IN" sz="2000" b="0" i="1" smtClean="0">
                                    <a:effectLst/>
                                    <a:latin typeface="Cambria Math" panose="02040503050406030204" pitchFamily="18" charset="0"/>
                                  </a:rPr>
                                  <m:t>𝑥</m:t>
                                </m:r>
                                <m:r>
                                  <a:rPr lang="en-IN" sz="2000" b="0" i="1" smtClean="0">
                                    <a:effectLst/>
                                    <a:latin typeface="Cambria Math" panose="02040503050406030204" pitchFamily="18" charset="0"/>
                                  </a:rPr>
                                  <m:t>)</m:t>
                                </m:r>
                              </m:oMath>
                            </m:oMathPara>
                          </a14:m>
                          <a:endParaRPr lang="en-IN" sz="2000" b="0" dirty="0">
                            <a:effectLst/>
                          </a:endParaRPr>
                        </a:p>
                        <a:p>
                          <a:pPr algn="ctr" fontAlgn="base"/>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z="2000" b="0" i="1" dirty="0" smtClean="0">
                                    <a:effectLst/>
                                    <a:latin typeface="Cambria Math" panose="02040503050406030204" pitchFamily="18" charset="0"/>
                                    <a:ea typeface="Cambria Math" panose="02040503050406030204" pitchFamily="18" charset="0"/>
                                  </a:rPr>
                                  <m:t>[0,∞)</m:t>
                                </m:r>
                              </m:oMath>
                            </m:oMathPara>
                          </a14:m>
                          <a:endParaRPr lang="en-IN" sz="2000" b="0" dirty="0">
                            <a:effectLst/>
                          </a:endParaRPr>
                        </a:p>
                        <a:p>
                          <a:pPr algn="ctr" fontAlgn="base"/>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ctr" fontAlgn="base"/>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just" fontAlgn="base"/>
                          <a:r>
                            <a:rPr lang="en-IN" sz="1800" b="0" dirty="0">
                              <a:effectLst/>
                            </a:rPr>
                            <a:t>Computationally less expensive than </a:t>
                          </a:r>
                          <a:r>
                            <a:rPr lang="en-IN" sz="1800" b="0" dirty="0" err="1">
                              <a:effectLst/>
                            </a:rPr>
                            <a:t>tanh</a:t>
                          </a:r>
                          <a:r>
                            <a:rPr lang="en-IN" sz="1800" b="0" dirty="0">
                              <a:effectLst/>
                            </a:rPr>
                            <a:t> and sigmoid. At a time only a few neurons are activated making the network sparse hence efficient and easy for computation. </a:t>
                          </a:r>
                          <a:r>
                            <a:rPr lang="en-IN" sz="1800" b="0" dirty="0" err="1">
                              <a:effectLst/>
                            </a:rPr>
                            <a:t>ReLU</a:t>
                          </a:r>
                          <a:r>
                            <a:rPr lang="en-IN" sz="1800" b="0" dirty="0">
                              <a:effectLst/>
                            </a:rPr>
                            <a:t> is not centred at 0 and does not handle negative inputs well.</a:t>
                          </a:r>
                        </a:p>
                      </a:txBody>
                      <a:tcPr marL="95250" marR="95250" marT="133350" marB="1333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668042233"/>
                  </p:ext>
                </p:extLst>
              </p:nvPr>
            </p:nvGraphicFramePr>
            <p:xfrm>
              <a:off x="245918" y="225420"/>
              <a:ext cx="11682846" cy="5364203"/>
            </p:xfrm>
            <a:graphic>
              <a:graphicData uri="http://schemas.openxmlformats.org/drawingml/2006/table">
                <a:tbl>
                  <a:tblPr firstRow="1" bandRow="1">
                    <a:tableStyleId>{0E3FDE45-AF77-4B5C-9715-49D594BDF05E}</a:tableStyleId>
                  </a:tblPr>
                  <a:tblGrid>
                    <a:gridCol w="1164064"/>
                    <a:gridCol w="2722012"/>
                    <a:gridCol w="2416049"/>
                    <a:gridCol w="2078435"/>
                    <a:gridCol w="3302286"/>
                  </a:tblGrid>
                  <a:tr h="1076885">
                    <a:tc>
                      <a:txBody>
                        <a:bodyPr/>
                        <a:lstStyle/>
                        <a:p>
                          <a:pPr algn="ctr" fontAlgn="base"/>
                          <a:r>
                            <a:rPr lang="en-IN" sz="2000" b="1" dirty="0" smtClean="0">
                              <a:effectLst/>
                            </a:rPr>
                            <a:t>Activation function</a:t>
                          </a:r>
                          <a:endParaRPr lang="en-IN" sz="2000" b="1" dirty="0">
                            <a:effectLst/>
                          </a:endParaRPr>
                        </a:p>
                      </a:txBody>
                      <a:tcPr marL="38100" marR="38100" marT="95250" marB="952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ctr" fontAlgn="base"/>
                          <a:r>
                            <a:rPr lang="en-IN" sz="2000" b="1" dirty="0" smtClean="0">
                              <a:effectLst/>
                            </a:rPr>
                            <a:t>Mathematical representation </a:t>
                          </a:r>
                          <a:endParaRPr lang="en-IN" sz="2000" b="1" dirty="0">
                            <a:effectLst/>
                          </a:endParaRPr>
                        </a:p>
                      </a:txBody>
                      <a:tcPr marL="95250" marR="95250" marT="95250" marB="952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gridSpan="2">
                      <a:txBody>
                        <a:bodyPr/>
                        <a:lstStyle/>
                        <a:p>
                          <a:pPr algn="ctr" fontAlgn="base"/>
                          <a:r>
                            <a:rPr lang="en-IN" sz="2000" b="1" dirty="0" smtClean="0">
                              <a:effectLst/>
                            </a:rPr>
                            <a:t>Range of output value </a:t>
                          </a:r>
                          <a:endParaRPr lang="en-IN" sz="2000" b="1" dirty="0">
                            <a:effectLst/>
                          </a:endParaRPr>
                        </a:p>
                      </a:txBody>
                      <a:tcPr marL="95250" marR="95250" marT="95250" marB="952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hMerge="1">
                      <a:txBody>
                        <a:bodyPr/>
                        <a:lstStyle/>
                        <a:p>
                          <a:pPr algn="ctr" fontAlgn="base"/>
                          <a:endParaRPr lang="en-IN" sz="2000" b="1" dirty="0">
                            <a:effectLst/>
                          </a:endParaRPr>
                        </a:p>
                      </a:txBody>
                      <a:tcPr marL="95250" marR="95250" marT="95250" marB="952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ctr" fontAlgn="base"/>
                          <a:r>
                            <a:rPr lang="en-IN" sz="2000" b="1" dirty="0" smtClean="0">
                              <a:effectLst/>
                            </a:rPr>
                            <a:t>Characteristics </a:t>
                          </a:r>
                          <a:endParaRPr lang="en-IN" sz="2000" b="1" dirty="0">
                            <a:effectLst/>
                          </a:endParaRPr>
                        </a:p>
                      </a:txBody>
                      <a:tcPr marL="95250" marR="95250" marT="95250" marB="952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r>
                  <a:tr h="1826058">
                    <a:tc>
                      <a:txBody>
                        <a:bodyPr/>
                        <a:lstStyle/>
                        <a:p>
                          <a:pPr algn="ctr" fontAlgn="base"/>
                          <a:r>
                            <a:rPr lang="en-IN" sz="2000" b="0" dirty="0" err="1" smtClean="0">
                              <a:effectLst/>
                            </a:rPr>
                            <a:t>Tanh</a:t>
                          </a:r>
                          <a:endParaRPr lang="en-IN" sz="2000" b="0" dirty="0">
                            <a:effectLst/>
                          </a:endParaRPr>
                        </a:p>
                      </a:txBody>
                      <a:tcPr marL="95250" marR="95250" marT="133350" marB="1333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endParaRPr lang="en-US"/>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blipFill rotWithShape="0">
                          <a:blip r:embed="rId2"/>
                          <a:stretch>
                            <a:fillRect l="-42729" t="-59333" r="-286353" b="-135667"/>
                          </a:stretch>
                        </a:blipFill>
                      </a:tcPr>
                    </a:tc>
                    <a:tc>
                      <a:txBody>
                        <a:bodyPr/>
                        <a:lstStyle/>
                        <a:p>
                          <a:endParaRPr lang="en-US"/>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blipFill rotWithShape="0">
                          <a:blip r:embed="rId2"/>
                          <a:stretch>
                            <a:fillRect l="-161111" t="-59333" r="-223232" b="-135667"/>
                          </a:stretch>
                        </a:blipFill>
                      </a:tcPr>
                    </a:tc>
                    <a:tc>
                      <a:txBody>
                        <a:bodyPr/>
                        <a:lstStyle/>
                        <a:p>
                          <a:pPr algn="ctr" fontAlgn="base"/>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algn="just" fontAlgn="base"/>
                          <a:r>
                            <a:rPr lang="en-IN" sz="1800" b="0" dirty="0" smtClean="0">
                              <a:effectLst/>
                            </a:rPr>
                            <a:t>The output is Zero centred; hence we can easily map the output values as strongly negative, neutral, or strongly positive.</a:t>
                          </a:r>
                        </a:p>
                      </a:txBody>
                      <a:tcPr marL="95250" marR="95250" marT="133350" marB="1333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r>
                  <a:tr h="2461260">
                    <a:tc>
                      <a:txBody>
                        <a:bodyPr/>
                        <a:lstStyle/>
                        <a:p>
                          <a:pPr algn="ctr" fontAlgn="base"/>
                          <a:r>
                            <a:rPr lang="en-IN" sz="2000" b="0" dirty="0" err="1" smtClean="0">
                              <a:effectLst/>
                            </a:rPr>
                            <a:t>ReLU</a:t>
                          </a:r>
                          <a:endParaRPr lang="en-IN" sz="2000" b="0" dirty="0">
                            <a:effectLst/>
                          </a:endParaRPr>
                        </a:p>
                      </a:txBody>
                      <a:tcPr marL="95250" marR="95250" marT="133350" marB="1333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endParaRPr lang="en-US"/>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blipFill rotWithShape="0">
                          <a:blip r:embed="rId2"/>
                          <a:stretch>
                            <a:fillRect l="-42729" t="-118317" r="-286353" b="-743"/>
                          </a:stretch>
                        </a:blipFill>
                      </a:tcPr>
                    </a:tc>
                    <a:tc>
                      <a:txBody>
                        <a:bodyPr/>
                        <a:lstStyle/>
                        <a:p>
                          <a:endParaRPr lang="en-US"/>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blipFill rotWithShape="0">
                          <a:blip r:embed="rId2"/>
                          <a:stretch>
                            <a:fillRect l="-161111" t="-118317" r="-223232" b="-743"/>
                          </a:stretch>
                        </a:blipFill>
                      </a:tcPr>
                    </a:tc>
                    <a:tc>
                      <a:txBody>
                        <a:bodyPr/>
                        <a:lstStyle/>
                        <a:p>
                          <a:pPr algn="ctr" fontAlgn="base"/>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just" fontAlgn="base"/>
                          <a:r>
                            <a:rPr lang="en-IN" sz="1800" b="0" dirty="0" smtClean="0">
                              <a:effectLst/>
                            </a:rPr>
                            <a:t>Computationally less expensive than </a:t>
                          </a:r>
                          <a:r>
                            <a:rPr lang="en-IN" sz="1800" b="0" dirty="0" err="1" smtClean="0">
                              <a:effectLst/>
                            </a:rPr>
                            <a:t>tanh</a:t>
                          </a:r>
                          <a:r>
                            <a:rPr lang="en-IN" sz="1800" b="0" dirty="0" smtClean="0">
                              <a:effectLst/>
                            </a:rPr>
                            <a:t> and sigmoid. At a time only a few neurons are activated making the network sparse hence efficient and easy for computation. </a:t>
                          </a:r>
                          <a:r>
                            <a:rPr lang="en-IN" sz="1800" b="0" dirty="0" err="1" smtClean="0">
                              <a:effectLst/>
                            </a:rPr>
                            <a:t>ReLU</a:t>
                          </a:r>
                          <a:r>
                            <a:rPr lang="en-IN" sz="1800" b="0" dirty="0" smtClean="0">
                              <a:effectLst/>
                            </a:rPr>
                            <a:t> is not centred at 0 and does not handle negative inputs well.</a:t>
                          </a:r>
                          <a:endParaRPr lang="en-IN" sz="18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r>
                </a:tbl>
              </a:graphicData>
            </a:graphic>
          </p:graphicFrame>
        </mc:Fallback>
      </mc:AlternateContent>
      <p:pic>
        <p:nvPicPr>
          <p:cNvPr id="2" name="Picture 1"/>
          <p:cNvPicPr>
            <a:picLocks noChangeAspect="1"/>
          </p:cNvPicPr>
          <p:nvPr/>
        </p:nvPicPr>
        <p:blipFill>
          <a:blip r:embed="rId3"/>
          <a:stretch>
            <a:fillRect/>
          </a:stretch>
        </p:blipFill>
        <p:spPr>
          <a:xfrm>
            <a:off x="6890906" y="1515773"/>
            <a:ext cx="1503871" cy="1260000"/>
          </a:xfrm>
          <a:prstGeom prst="rect">
            <a:avLst/>
          </a:prstGeom>
        </p:spPr>
      </p:pic>
      <p:pic>
        <p:nvPicPr>
          <p:cNvPr id="7" name="Picture 6"/>
          <p:cNvPicPr>
            <a:picLocks noChangeAspect="1"/>
          </p:cNvPicPr>
          <p:nvPr/>
        </p:nvPicPr>
        <p:blipFill>
          <a:blip r:embed="rId4"/>
          <a:stretch>
            <a:fillRect/>
          </a:stretch>
        </p:blipFill>
        <p:spPr>
          <a:xfrm>
            <a:off x="6688217" y="3592492"/>
            <a:ext cx="1706560" cy="967220"/>
          </a:xfrm>
          <a:prstGeom prst="rect">
            <a:avLst/>
          </a:prstGeom>
        </p:spPr>
      </p:pic>
    </p:spTree>
    <p:extLst>
      <p:ext uri="{BB962C8B-B14F-4D97-AF65-F5344CB8AC3E}">
        <p14:creationId xmlns:p14="http://schemas.microsoft.com/office/powerpoint/2010/main" val="39994728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2"/>
              <p:cNvGraphicFramePr>
                <a:graphicFrameLocks noGrp="1"/>
              </p:cNvGraphicFramePr>
              <p:nvPr/>
            </p:nvGraphicFramePr>
            <p:xfrm>
              <a:off x="245918" y="225420"/>
              <a:ext cx="11682846" cy="6273725"/>
            </p:xfrm>
            <a:graphic>
              <a:graphicData uri="http://schemas.openxmlformats.org/drawingml/2006/table">
                <a:tbl>
                  <a:tblPr firstRow="1" bandRow="1">
                    <a:tableStyleId>{0E3FDE45-AF77-4B5C-9715-49D594BDF05E}</a:tableStyleId>
                  </a:tblPr>
                  <a:tblGrid>
                    <a:gridCol w="1164064">
                      <a:extLst>
                        <a:ext uri="{9D8B030D-6E8A-4147-A177-3AD203B41FA5}">
                          <a16:colId xmlns:a16="http://schemas.microsoft.com/office/drawing/2014/main" val="20000"/>
                        </a:ext>
                      </a:extLst>
                    </a:gridCol>
                    <a:gridCol w="2722012">
                      <a:extLst>
                        <a:ext uri="{9D8B030D-6E8A-4147-A177-3AD203B41FA5}">
                          <a16:colId xmlns:a16="http://schemas.microsoft.com/office/drawing/2014/main" val="20001"/>
                        </a:ext>
                      </a:extLst>
                    </a:gridCol>
                    <a:gridCol w="2416049">
                      <a:extLst>
                        <a:ext uri="{9D8B030D-6E8A-4147-A177-3AD203B41FA5}">
                          <a16:colId xmlns:a16="http://schemas.microsoft.com/office/drawing/2014/main" val="20002"/>
                        </a:ext>
                      </a:extLst>
                    </a:gridCol>
                    <a:gridCol w="2078435">
                      <a:extLst>
                        <a:ext uri="{9D8B030D-6E8A-4147-A177-3AD203B41FA5}">
                          <a16:colId xmlns:a16="http://schemas.microsoft.com/office/drawing/2014/main" val="20003"/>
                        </a:ext>
                      </a:extLst>
                    </a:gridCol>
                    <a:gridCol w="3302286">
                      <a:extLst>
                        <a:ext uri="{9D8B030D-6E8A-4147-A177-3AD203B41FA5}">
                          <a16:colId xmlns:a16="http://schemas.microsoft.com/office/drawing/2014/main" val="20004"/>
                        </a:ext>
                      </a:extLst>
                    </a:gridCol>
                  </a:tblGrid>
                  <a:tr h="1076885">
                    <a:tc>
                      <a:txBody>
                        <a:bodyPr/>
                        <a:lstStyle/>
                        <a:p>
                          <a:pPr algn="ctr" fontAlgn="base"/>
                          <a:r>
                            <a:rPr lang="en-IN" sz="2000" b="1" dirty="0">
                              <a:effectLst/>
                            </a:rPr>
                            <a:t>Activation function</a:t>
                          </a:r>
                        </a:p>
                      </a:txBody>
                      <a:tcPr marL="38100" marR="38100" marT="95250" marB="952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ctr" fontAlgn="base"/>
                          <a:r>
                            <a:rPr lang="en-IN" sz="2000" b="1" dirty="0">
                              <a:effectLst/>
                            </a:rPr>
                            <a:t>Mathematical representation </a:t>
                          </a:r>
                        </a:p>
                      </a:txBody>
                      <a:tcPr marL="95250" marR="95250" marT="95250" marB="952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gridSpan="2">
                      <a:txBody>
                        <a:bodyPr/>
                        <a:lstStyle/>
                        <a:p>
                          <a:pPr algn="ctr" fontAlgn="base"/>
                          <a:r>
                            <a:rPr lang="en-IN" sz="2000" b="1" dirty="0">
                              <a:effectLst/>
                            </a:rPr>
                            <a:t>Range of output value </a:t>
                          </a:r>
                        </a:p>
                      </a:txBody>
                      <a:tcPr marL="95250" marR="95250" marT="95250" marB="952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hMerge="1">
                      <a:txBody>
                        <a:bodyPr/>
                        <a:lstStyle/>
                        <a:p>
                          <a:pPr algn="ctr" fontAlgn="base"/>
                          <a:endParaRPr lang="en-IN" sz="2000" b="1" dirty="0">
                            <a:effectLst/>
                          </a:endParaRPr>
                        </a:p>
                      </a:txBody>
                      <a:tcPr marL="95250" marR="95250" marT="95250" marB="952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ctr" fontAlgn="base"/>
                          <a:r>
                            <a:rPr lang="en-IN" sz="2000" b="1" dirty="0">
                              <a:effectLst/>
                            </a:rPr>
                            <a:t>Characteristics </a:t>
                          </a:r>
                        </a:p>
                      </a:txBody>
                      <a:tcPr marL="95250" marR="95250" marT="95250" marB="952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1826058">
                    <a:tc>
                      <a:txBody>
                        <a:bodyPr/>
                        <a:lstStyle/>
                        <a:p>
                          <a:pPr algn="ctr" fontAlgn="base"/>
                          <a:r>
                            <a:rPr lang="en-IN" sz="2000" b="0" dirty="0">
                              <a:effectLst/>
                            </a:rPr>
                            <a:t>Leaky </a:t>
                          </a:r>
                          <a:r>
                            <a:rPr lang="en-IN" sz="2000" b="0" dirty="0" err="1">
                              <a:effectLst/>
                            </a:rPr>
                            <a:t>ReLU</a:t>
                          </a:r>
                          <a:endParaRPr lang="en-IN" sz="2000" b="0" dirty="0">
                            <a:effectLst/>
                          </a:endParaRPr>
                        </a:p>
                      </a:txBody>
                      <a:tcPr marL="95250" marR="95250" marT="133350" marB="1333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z="2000" b="0" i="1" smtClean="0">
                                    <a:effectLst/>
                                    <a:latin typeface="Cambria Math" panose="02040503050406030204" pitchFamily="18" charset="0"/>
                                  </a:rPr>
                                  <m:t>𝑓</m:t>
                                </m:r>
                                <m:d>
                                  <m:dPr>
                                    <m:ctrlPr>
                                      <a:rPr lang="en-IN" sz="2000" b="0" i="1" smtClean="0">
                                        <a:effectLst/>
                                        <a:latin typeface="Cambria Math" panose="02040503050406030204" pitchFamily="18" charset="0"/>
                                      </a:rPr>
                                    </m:ctrlPr>
                                  </m:dPr>
                                  <m:e>
                                    <m:r>
                                      <a:rPr lang="en-IN" sz="2000" b="0" i="1" smtClean="0">
                                        <a:effectLst/>
                                        <a:latin typeface="Cambria Math" panose="02040503050406030204" pitchFamily="18" charset="0"/>
                                      </a:rPr>
                                      <m:t>𝑥</m:t>
                                    </m:r>
                                  </m:e>
                                </m:d>
                                <m:r>
                                  <a:rPr lang="en-IN" sz="2000" b="0" i="1" smtClean="0">
                                    <a:effectLst/>
                                    <a:latin typeface="Cambria Math" panose="02040503050406030204" pitchFamily="18" charset="0"/>
                                  </a:rPr>
                                  <m:t>=</m:t>
                                </m:r>
                                <m:r>
                                  <m:rPr>
                                    <m:sty m:val="p"/>
                                  </m:rPr>
                                  <a:rPr lang="en-IN" sz="2000" b="0" i="0" smtClean="0">
                                    <a:effectLst/>
                                    <a:latin typeface="Cambria Math" panose="02040503050406030204" pitchFamily="18" charset="0"/>
                                  </a:rPr>
                                  <m:t>max</m:t>
                                </m:r>
                                <m:r>
                                  <a:rPr lang="en-IN" sz="2000" b="0" i="1" smtClean="0">
                                    <a:effectLst/>
                                    <a:latin typeface="Cambria Math" panose="02040503050406030204" pitchFamily="18" charset="0"/>
                                  </a:rPr>
                                  <m:t>⁡(0.1</m:t>
                                </m:r>
                                <m:r>
                                  <a:rPr lang="en-IN" sz="2000" b="0" i="1" smtClean="0">
                                    <a:effectLst/>
                                    <a:latin typeface="Cambria Math" panose="02040503050406030204" pitchFamily="18" charset="0"/>
                                  </a:rPr>
                                  <m:t>𝑥</m:t>
                                </m:r>
                                <m:r>
                                  <a:rPr lang="en-IN" sz="2000" b="0" i="1" smtClean="0">
                                    <a:effectLst/>
                                    <a:latin typeface="Cambria Math" panose="02040503050406030204" pitchFamily="18" charset="0"/>
                                  </a:rPr>
                                  <m:t>,</m:t>
                                </m:r>
                                <m:r>
                                  <a:rPr lang="en-IN" sz="2000" b="0" i="1" smtClean="0">
                                    <a:effectLst/>
                                    <a:latin typeface="Cambria Math" panose="02040503050406030204" pitchFamily="18" charset="0"/>
                                  </a:rPr>
                                  <m:t>𝑥</m:t>
                                </m:r>
                                <m:r>
                                  <a:rPr lang="en-IN" sz="2000" b="0" i="1" smtClean="0">
                                    <a:effectLst/>
                                    <a:latin typeface="Cambria Math" panose="02040503050406030204" pitchFamily="18" charset="0"/>
                                  </a:rPr>
                                  <m:t>)</m:t>
                                </m:r>
                              </m:oMath>
                            </m:oMathPara>
                          </a14:m>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indent="0" algn="l" defTabSz="914400" rtl="0" eaLnBrk="1" fontAlgn="base"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z="1800" b="0" i="1" dirty="0" smtClean="0">
                                    <a:effectLst/>
                                    <a:latin typeface="Cambria Math" panose="02040503050406030204" pitchFamily="18" charset="0"/>
                                    <a:ea typeface="Cambria Math" panose="02040503050406030204" pitchFamily="18" charset="0"/>
                                  </a:rPr>
                                  <m:t>−∞ </m:t>
                                </m:r>
                                <m:r>
                                  <a:rPr lang="en-IN" sz="1800" b="0" i="1" dirty="0" smtClean="0">
                                    <a:effectLst/>
                                    <a:latin typeface="Cambria Math" panose="02040503050406030204" pitchFamily="18" charset="0"/>
                                    <a:ea typeface="Cambria Math" panose="02040503050406030204" pitchFamily="18" charset="0"/>
                                  </a:rPr>
                                  <m:t>𝑡𝑜</m:t>
                                </m:r>
                                <m:r>
                                  <a:rPr lang="en-IN" sz="1800" b="0" i="1" dirty="0" smtClean="0">
                                    <a:effectLst/>
                                    <a:latin typeface="Cambria Math" panose="02040503050406030204" pitchFamily="18" charset="0"/>
                                    <a:ea typeface="Cambria Math" panose="02040503050406030204" pitchFamily="18" charset="0"/>
                                  </a:rPr>
                                  <m:t>+∞</m:t>
                                </m:r>
                              </m:oMath>
                            </m:oMathPara>
                          </a14:m>
                          <a:endParaRPr lang="en-IN" sz="18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algn="ctr" fontAlgn="base"/>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algn="just" fontAlgn="base"/>
                          <a:r>
                            <a:rPr lang="en-IN" sz="1800" b="0" dirty="0">
                              <a:effectLst/>
                            </a:rPr>
                            <a:t>Instead of replacing negative inputs with zero, Leaky </a:t>
                          </a:r>
                          <a:r>
                            <a:rPr lang="en-IN" sz="1800" b="0" dirty="0" err="1">
                              <a:effectLst/>
                            </a:rPr>
                            <a:t>ReLU</a:t>
                          </a:r>
                          <a:r>
                            <a:rPr lang="en-IN" sz="1800" b="0" dirty="0">
                              <a:effectLst/>
                            </a:rPr>
                            <a:t> multiplies them by a small, user-defined value between 0 and 1, allowing some of the information contained in the negative inputs to be retained in the model. </a:t>
                          </a:r>
                        </a:p>
                      </a:txBody>
                      <a:tcPr marL="95250" marR="95250" marT="133350" marB="1333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1848882">
                    <a:tc>
                      <a:txBody>
                        <a:bodyPr/>
                        <a:lstStyle/>
                        <a:p>
                          <a:pPr algn="ctr" fontAlgn="base"/>
                          <a:r>
                            <a:rPr lang="en-IN" sz="2000" b="0" dirty="0" err="1">
                              <a:effectLst/>
                            </a:rPr>
                            <a:t>Softmax</a:t>
                          </a:r>
                          <a:endParaRPr lang="en-IN" sz="2000" b="0" dirty="0">
                            <a:effectLst/>
                          </a:endParaRPr>
                        </a:p>
                      </a:txBody>
                      <a:tcPr marL="95250" marR="95250" marT="133350" marB="1333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z="2000" b="0" i="1" smtClean="0">
                                    <a:effectLst/>
                                    <a:latin typeface="Cambria Math" panose="02040503050406030204" pitchFamily="18" charset="0"/>
                                  </a:rPr>
                                  <m:t>𝑠𝑜𝑓𝑡𝑚𝑎𝑥</m:t>
                                </m:r>
                                <m:d>
                                  <m:dPr>
                                    <m:ctrlPr>
                                      <a:rPr lang="en-IN" sz="2000" b="0" i="1" smtClean="0">
                                        <a:effectLst/>
                                        <a:latin typeface="Cambria Math" panose="02040503050406030204" pitchFamily="18" charset="0"/>
                                      </a:rPr>
                                    </m:ctrlPr>
                                  </m:dPr>
                                  <m:e>
                                    <m:sSub>
                                      <m:sSubPr>
                                        <m:ctrlPr>
                                          <a:rPr lang="en-IN" sz="2000" b="0" i="1" smtClean="0">
                                            <a:effectLst/>
                                            <a:latin typeface="Cambria Math" panose="02040503050406030204" pitchFamily="18" charset="0"/>
                                          </a:rPr>
                                        </m:ctrlPr>
                                      </m:sSubPr>
                                      <m:e>
                                        <m:r>
                                          <a:rPr lang="en-IN" sz="2000" b="0" i="1" smtClean="0">
                                            <a:effectLst/>
                                            <a:latin typeface="Cambria Math" panose="02040503050406030204" pitchFamily="18" charset="0"/>
                                          </a:rPr>
                                          <m:t>𝑧</m:t>
                                        </m:r>
                                      </m:e>
                                      <m:sub>
                                        <m:r>
                                          <a:rPr lang="en-IN" sz="2000" b="0" i="1" smtClean="0">
                                            <a:effectLst/>
                                            <a:latin typeface="Cambria Math" panose="02040503050406030204" pitchFamily="18" charset="0"/>
                                          </a:rPr>
                                          <m:t>𝑖</m:t>
                                        </m:r>
                                      </m:sub>
                                    </m:sSub>
                                  </m:e>
                                </m:d>
                                <m:r>
                                  <a:rPr lang="en-IN" sz="2000" b="0" i="1" smtClean="0">
                                    <a:effectLst/>
                                    <a:latin typeface="Cambria Math" panose="02040503050406030204" pitchFamily="18" charset="0"/>
                                  </a:rPr>
                                  <m:t>=</m:t>
                                </m:r>
                                <m:f>
                                  <m:fPr>
                                    <m:ctrlPr>
                                      <a:rPr lang="en-IN" sz="2000" b="0" i="1" smtClean="0">
                                        <a:effectLst/>
                                        <a:latin typeface="Cambria Math" panose="02040503050406030204" pitchFamily="18" charset="0"/>
                                      </a:rPr>
                                    </m:ctrlPr>
                                  </m:fPr>
                                  <m:num>
                                    <m:r>
                                      <m:rPr>
                                        <m:sty m:val="p"/>
                                      </m:rPr>
                                      <a:rPr lang="en-IN" sz="2000" b="0" i="0" smtClean="0">
                                        <a:effectLst/>
                                        <a:latin typeface="Cambria Math" panose="02040503050406030204" pitchFamily="18" charset="0"/>
                                      </a:rPr>
                                      <m:t>exp</m:t>
                                    </m:r>
                                    <m:r>
                                      <a:rPr lang="en-IN" sz="2000" b="0" i="1" smtClean="0">
                                        <a:effectLst/>
                                        <a:latin typeface="Cambria Math" panose="02040503050406030204" pitchFamily="18" charset="0"/>
                                      </a:rPr>
                                      <m:t>⁡(</m:t>
                                    </m:r>
                                    <m:sSub>
                                      <m:sSubPr>
                                        <m:ctrlPr>
                                          <a:rPr lang="en-IN" sz="2000" b="0" i="1" smtClean="0">
                                            <a:effectLst/>
                                            <a:latin typeface="Cambria Math" panose="02040503050406030204" pitchFamily="18" charset="0"/>
                                          </a:rPr>
                                        </m:ctrlPr>
                                      </m:sSubPr>
                                      <m:e>
                                        <m:r>
                                          <a:rPr lang="en-IN" sz="2000" b="0" i="1" smtClean="0">
                                            <a:effectLst/>
                                            <a:latin typeface="Cambria Math" panose="02040503050406030204" pitchFamily="18" charset="0"/>
                                          </a:rPr>
                                          <m:t>𝑧</m:t>
                                        </m:r>
                                      </m:e>
                                      <m:sub>
                                        <m:r>
                                          <a:rPr lang="en-IN" sz="2000" b="0" i="1" smtClean="0">
                                            <a:effectLst/>
                                            <a:latin typeface="Cambria Math" panose="02040503050406030204" pitchFamily="18" charset="0"/>
                                          </a:rPr>
                                          <m:t>𝑖</m:t>
                                        </m:r>
                                      </m:sub>
                                    </m:sSub>
                                    <m:r>
                                      <a:rPr lang="en-IN" sz="2000" b="0" i="1" smtClean="0">
                                        <a:effectLst/>
                                        <a:latin typeface="Cambria Math" panose="02040503050406030204" pitchFamily="18" charset="0"/>
                                      </a:rPr>
                                      <m:t>)</m:t>
                                    </m:r>
                                  </m:num>
                                  <m:den>
                                    <m:nary>
                                      <m:naryPr>
                                        <m:chr m:val="∑"/>
                                        <m:supHide m:val="on"/>
                                        <m:ctrlPr>
                                          <a:rPr lang="en-IN" sz="2000" b="0" i="1" smtClean="0">
                                            <a:effectLst/>
                                            <a:latin typeface="Cambria Math" panose="02040503050406030204" pitchFamily="18" charset="0"/>
                                          </a:rPr>
                                        </m:ctrlPr>
                                      </m:naryPr>
                                      <m:sub>
                                        <m:r>
                                          <m:rPr>
                                            <m:brk m:alnAt="7"/>
                                          </m:rPr>
                                          <a:rPr lang="en-IN" sz="2000" b="0" i="1" smtClean="0">
                                            <a:effectLst/>
                                            <a:latin typeface="Cambria Math" panose="02040503050406030204" pitchFamily="18" charset="0"/>
                                          </a:rPr>
                                          <m:t>𝑗</m:t>
                                        </m:r>
                                      </m:sub>
                                      <m:sup/>
                                      <m:e>
                                        <m:r>
                                          <m:rPr>
                                            <m:sty m:val="p"/>
                                          </m:rPr>
                                          <a:rPr lang="en-IN" sz="2000" b="0" i="0" smtClean="0">
                                            <a:effectLst/>
                                            <a:latin typeface="Cambria Math" panose="02040503050406030204" pitchFamily="18" charset="0"/>
                                          </a:rPr>
                                          <m:t>exp</m:t>
                                        </m:r>
                                        <m:r>
                                          <a:rPr lang="en-IN" sz="2000" b="0" i="1" smtClean="0">
                                            <a:effectLst/>
                                            <a:latin typeface="Cambria Math" panose="02040503050406030204" pitchFamily="18" charset="0"/>
                                          </a:rPr>
                                          <m:t>⁡(</m:t>
                                        </m:r>
                                        <m:sSub>
                                          <m:sSubPr>
                                            <m:ctrlPr>
                                              <a:rPr lang="en-IN" sz="2000" b="0" i="1" smtClean="0">
                                                <a:effectLst/>
                                                <a:latin typeface="Cambria Math" panose="02040503050406030204" pitchFamily="18" charset="0"/>
                                              </a:rPr>
                                            </m:ctrlPr>
                                          </m:sSubPr>
                                          <m:e>
                                            <m:r>
                                              <a:rPr lang="en-IN" sz="2000" b="0" i="1" smtClean="0">
                                                <a:effectLst/>
                                                <a:latin typeface="Cambria Math" panose="02040503050406030204" pitchFamily="18" charset="0"/>
                                              </a:rPr>
                                              <m:t>𝑧</m:t>
                                            </m:r>
                                          </m:e>
                                          <m:sub>
                                            <m:r>
                                              <a:rPr lang="en-IN" sz="2000" b="0" i="1" smtClean="0">
                                                <a:effectLst/>
                                                <a:latin typeface="Cambria Math" panose="02040503050406030204" pitchFamily="18" charset="0"/>
                                              </a:rPr>
                                              <m:t>𝑗</m:t>
                                            </m:r>
                                          </m:sub>
                                        </m:sSub>
                                        <m:r>
                                          <a:rPr lang="en-IN" sz="2000" b="0" i="1" smtClean="0">
                                            <a:effectLst/>
                                            <a:latin typeface="Cambria Math" panose="02040503050406030204" pitchFamily="18" charset="0"/>
                                          </a:rPr>
                                          <m:t>)</m:t>
                                        </m:r>
                                      </m:e>
                                    </m:nary>
                                  </m:den>
                                </m:f>
                              </m:oMath>
                            </m:oMathPara>
                          </a14:m>
                          <a:endParaRPr lang="en-IN" sz="2000" b="0" dirty="0">
                            <a:effectLst/>
                          </a:endParaRPr>
                        </a:p>
                        <a:p>
                          <a:pPr algn="ctr" fontAlgn="base"/>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l" fontAlgn="base"/>
                          <a:r>
                            <a:rPr lang="en-IN" sz="2000" b="0" dirty="0">
                              <a:effectLst/>
                            </a:rPr>
                            <a:t>The </a:t>
                          </a:r>
                          <a:r>
                            <a:rPr lang="en-IN" sz="2000" b="0" dirty="0" err="1">
                              <a:effectLst/>
                            </a:rPr>
                            <a:t>softmax</a:t>
                          </a:r>
                          <a:r>
                            <a:rPr lang="en-IN" sz="2000" b="0" dirty="0">
                              <a:effectLst/>
                            </a:rPr>
                            <a:t> function would squeeze the outputs for each class between 0 and 1</a:t>
                          </a: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ctr" fontAlgn="base"/>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just" fontAlgn="base"/>
                          <a:r>
                            <a:rPr lang="en-IN" sz="1800" b="0" dirty="0">
                              <a:effectLst/>
                            </a:rPr>
                            <a:t>The </a:t>
                          </a:r>
                          <a:r>
                            <a:rPr lang="en-IN" sz="1800" b="0" dirty="0" err="1">
                              <a:effectLst/>
                            </a:rPr>
                            <a:t>Softmax</a:t>
                          </a:r>
                          <a:r>
                            <a:rPr lang="en-IN" sz="1800" b="0" dirty="0">
                              <a:effectLst/>
                            </a:rPr>
                            <a:t> function is used to determine the probability of each class in a multi-class classification problem. It is often applied to the final layer of a neural network. This function works similarly to the sigmoid/logistic activation function by calculating relative probabilities.</a:t>
                          </a:r>
                        </a:p>
                      </a:txBody>
                      <a:tcPr marL="95250" marR="95250" marT="133350" marB="1333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70891381"/>
                  </p:ext>
                </p:extLst>
              </p:nvPr>
            </p:nvGraphicFramePr>
            <p:xfrm>
              <a:off x="245918" y="225420"/>
              <a:ext cx="11682846" cy="6273725"/>
            </p:xfrm>
            <a:graphic>
              <a:graphicData uri="http://schemas.openxmlformats.org/drawingml/2006/table">
                <a:tbl>
                  <a:tblPr firstRow="1" bandRow="1">
                    <a:tableStyleId>{0E3FDE45-AF77-4B5C-9715-49D594BDF05E}</a:tableStyleId>
                  </a:tblPr>
                  <a:tblGrid>
                    <a:gridCol w="1164064"/>
                    <a:gridCol w="2722012"/>
                    <a:gridCol w="2416049"/>
                    <a:gridCol w="2078435"/>
                    <a:gridCol w="3302286"/>
                  </a:tblGrid>
                  <a:tr h="1076885">
                    <a:tc>
                      <a:txBody>
                        <a:bodyPr/>
                        <a:lstStyle/>
                        <a:p>
                          <a:pPr algn="ctr" fontAlgn="base"/>
                          <a:r>
                            <a:rPr lang="en-IN" sz="2000" b="1" dirty="0" smtClean="0">
                              <a:effectLst/>
                            </a:rPr>
                            <a:t>Activation function</a:t>
                          </a:r>
                          <a:endParaRPr lang="en-IN" sz="2000" b="1" dirty="0">
                            <a:effectLst/>
                          </a:endParaRPr>
                        </a:p>
                      </a:txBody>
                      <a:tcPr marL="38100" marR="38100" marT="95250" marB="952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ctr" fontAlgn="base"/>
                          <a:r>
                            <a:rPr lang="en-IN" sz="2000" b="1" dirty="0" smtClean="0">
                              <a:effectLst/>
                            </a:rPr>
                            <a:t>Mathematical representation </a:t>
                          </a:r>
                          <a:endParaRPr lang="en-IN" sz="2000" b="1" dirty="0">
                            <a:effectLst/>
                          </a:endParaRPr>
                        </a:p>
                      </a:txBody>
                      <a:tcPr marL="95250" marR="95250" marT="95250" marB="952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gridSpan="2">
                      <a:txBody>
                        <a:bodyPr/>
                        <a:lstStyle/>
                        <a:p>
                          <a:pPr algn="ctr" fontAlgn="base"/>
                          <a:r>
                            <a:rPr lang="en-IN" sz="2000" b="1" dirty="0" smtClean="0">
                              <a:effectLst/>
                            </a:rPr>
                            <a:t>Range of output value </a:t>
                          </a:r>
                          <a:endParaRPr lang="en-IN" sz="2000" b="1" dirty="0">
                            <a:effectLst/>
                          </a:endParaRPr>
                        </a:p>
                      </a:txBody>
                      <a:tcPr marL="95250" marR="95250" marT="95250" marB="952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hMerge="1">
                      <a:txBody>
                        <a:bodyPr/>
                        <a:lstStyle/>
                        <a:p>
                          <a:pPr algn="ctr" fontAlgn="base"/>
                          <a:endParaRPr lang="en-IN" sz="2000" b="1" dirty="0">
                            <a:effectLst/>
                          </a:endParaRPr>
                        </a:p>
                      </a:txBody>
                      <a:tcPr marL="95250" marR="95250" marT="95250" marB="952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ctr" fontAlgn="base"/>
                          <a:r>
                            <a:rPr lang="en-IN" sz="2000" b="1" dirty="0" smtClean="0">
                              <a:effectLst/>
                            </a:rPr>
                            <a:t>Characteristics </a:t>
                          </a:r>
                          <a:endParaRPr lang="en-IN" sz="2000" b="1" dirty="0">
                            <a:effectLst/>
                          </a:endParaRPr>
                        </a:p>
                      </a:txBody>
                      <a:tcPr marL="95250" marR="95250" marT="95250" marB="952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r>
                  <a:tr h="2186940">
                    <a:tc>
                      <a:txBody>
                        <a:bodyPr/>
                        <a:lstStyle/>
                        <a:p>
                          <a:pPr algn="ctr" fontAlgn="base"/>
                          <a:r>
                            <a:rPr lang="en-IN" sz="2000" b="0" dirty="0" smtClean="0">
                              <a:effectLst/>
                            </a:rPr>
                            <a:t>Leaky </a:t>
                          </a:r>
                          <a:r>
                            <a:rPr lang="en-IN" sz="2000" b="0" dirty="0" err="1" smtClean="0">
                              <a:effectLst/>
                            </a:rPr>
                            <a:t>ReLU</a:t>
                          </a:r>
                          <a:endParaRPr lang="en-IN" sz="2000" b="0" dirty="0">
                            <a:effectLst/>
                          </a:endParaRPr>
                        </a:p>
                      </a:txBody>
                      <a:tcPr marL="95250" marR="95250" marT="133350" marB="1333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endParaRPr lang="en-US"/>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blipFill rotWithShape="0">
                          <a:blip r:embed="rId2"/>
                          <a:stretch>
                            <a:fillRect l="-42729" t="-49582" r="-286353" b="-138440"/>
                          </a:stretch>
                        </a:blipFill>
                      </a:tcPr>
                    </a:tc>
                    <a:tc>
                      <a:txBody>
                        <a:bodyPr/>
                        <a:lstStyle/>
                        <a:p>
                          <a:endParaRPr lang="en-US"/>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blipFill rotWithShape="0">
                          <a:blip r:embed="rId2"/>
                          <a:stretch>
                            <a:fillRect l="-161111" t="-49582" r="-223232" b="-138440"/>
                          </a:stretch>
                        </a:blipFill>
                      </a:tcPr>
                    </a:tc>
                    <a:tc>
                      <a:txBody>
                        <a:bodyPr/>
                        <a:lstStyle/>
                        <a:p>
                          <a:pPr algn="ctr" fontAlgn="base"/>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algn="just" fontAlgn="base"/>
                          <a:r>
                            <a:rPr lang="en-IN" sz="1800" b="0" dirty="0" smtClean="0">
                              <a:effectLst/>
                            </a:rPr>
                            <a:t>Instead of replacing negative inputs with zero, Leaky </a:t>
                          </a:r>
                          <a:r>
                            <a:rPr lang="en-IN" sz="1800" b="0" dirty="0" err="1" smtClean="0">
                              <a:effectLst/>
                            </a:rPr>
                            <a:t>ReLU</a:t>
                          </a:r>
                          <a:r>
                            <a:rPr lang="en-IN" sz="1800" b="0" dirty="0" smtClean="0">
                              <a:effectLst/>
                            </a:rPr>
                            <a:t> multiplies them by a small, user-defined value between 0 and 1, allowing some of the information contained in the negative inputs to be retained in the model. </a:t>
                          </a:r>
                        </a:p>
                      </a:txBody>
                      <a:tcPr marL="95250" marR="95250" marT="133350" marB="1333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r>
                  <a:tr h="3009900">
                    <a:tc>
                      <a:txBody>
                        <a:bodyPr/>
                        <a:lstStyle/>
                        <a:p>
                          <a:pPr algn="ctr" fontAlgn="base"/>
                          <a:r>
                            <a:rPr lang="en-IN" sz="2000" b="0" dirty="0" err="1" smtClean="0">
                              <a:effectLst/>
                            </a:rPr>
                            <a:t>Softmax</a:t>
                          </a:r>
                          <a:endParaRPr lang="en-IN" sz="2000" b="0" dirty="0">
                            <a:effectLst/>
                          </a:endParaRPr>
                        </a:p>
                      </a:txBody>
                      <a:tcPr marL="95250" marR="95250" marT="133350" marB="133350" anchor="ctr">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endParaRPr lang="en-US"/>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blipFill rotWithShape="0">
                          <a:blip r:embed="rId2"/>
                          <a:stretch>
                            <a:fillRect l="-42729" t="-108485" r="-286353" b="-404"/>
                          </a:stretch>
                        </a:blipFill>
                      </a:tcPr>
                    </a:tc>
                    <a:tc>
                      <a:txBody>
                        <a:bodyPr/>
                        <a:lstStyle/>
                        <a:p>
                          <a:pPr algn="l" fontAlgn="base"/>
                          <a:r>
                            <a:rPr lang="en-IN" sz="2000" b="0" dirty="0" smtClean="0">
                              <a:effectLst/>
                            </a:rPr>
                            <a:t>The </a:t>
                          </a:r>
                          <a:r>
                            <a:rPr lang="en-IN" sz="2000" b="0" dirty="0" err="1" smtClean="0">
                              <a:effectLst/>
                            </a:rPr>
                            <a:t>softmax</a:t>
                          </a:r>
                          <a:r>
                            <a:rPr lang="en-IN" sz="2000" b="0" dirty="0" smtClean="0">
                              <a:effectLst/>
                            </a:rPr>
                            <a:t> function would squeeze the outputs for each class between 0 and 1</a:t>
                          </a:r>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ctr" fontAlgn="base"/>
                          <a:endParaRPr lang="en-IN" sz="20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c>
                      <a:txBody>
                        <a:bodyPr/>
                        <a:lstStyle/>
                        <a:p>
                          <a:pPr algn="just" fontAlgn="base"/>
                          <a:r>
                            <a:rPr lang="en-IN" sz="1800" b="0" dirty="0" smtClean="0">
                              <a:effectLst/>
                            </a:rPr>
                            <a:t>The </a:t>
                          </a:r>
                          <a:r>
                            <a:rPr lang="en-IN" sz="1800" b="0" dirty="0" err="1" smtClean="0">
                              <a:effectLst/>
                            </a:rPr>
                            <a:t>Softmax</a:t>
                          </a:r>
                          <a:r>
                            <a:rPr lang="en-IN" sz="1800" b="0" dirty="0" smtClean="0">
                              <a:effectLst/>
                            </a:rPr>
                            <a:t> function is used to determine the probability of each class in a multi-class classification problem. It is often applied to the final layer of a neural network. This function works similarly to the sigmoid/logistic activation function by calculating relative probabilities.</a:t>
                          </a:r>
                          <a:endParaRPr lang="en-IN" sz="1800" b="0" dirty="0">
                            <a:effectLst/>
                          </a:endParaRPr>
                        </a:p>
                      </a:txBody>
                      <a:tcPr marL="95250" marR="95250" marT="133350" marB="133350" anchor="ctr">
                        <a:lnL w="12700" cap="flat" cmpd="sng" algn="ctr">
                          <a:solidFill>
                            <a:schemeClr val="tx2">
                              <a:lumMod val="75000"/>
                            </a:schemeClr>
                          </a:solidFill>
                          <a:prstDash val="solid"/>
                          <a:round/>
                          <a:headEnd type="none" w="med" len="med"/>
                          <a:tailEnd type="none" w="med" len="med"/>
                        </a:lnL>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tcPr>
                    </a:tc>
                  </a:tr>
                </a:tbl>
              </a:graphicData>
            </a:graphic>
          </p:graphicFrame>
        </mc:Fallback>
      </mc:AlternateContent>
      <p:pic>
        <p:nvPicPr>
          <p:cNvPr id="6" name="Picture 5"/>
          <p:cNvPicPr>
            <a:picLocks noChangeAspect="1"/>
          </p:cNvPicPr>
          <p:nvPr/>
        </p:nvPicPr>
        <p:blipFill>
          <a:blip r:embed="rId3"/>
          <a:stretch>
            <a:fillRect/>
          </a:stretch>
        </p:blipFill>
        <p:spPr>
          <a:xfrm>
            <a:off x="6879586" y="1665144"/>
            <a:ext cx="1546364" cy="1260000"/>
          </a:xfrm>
          <a:prstGeom prst="rect">
            <a:avLst/>
          </a:prstGeom>
        </p:spPr>
      </p:pic>
      <p:pic>
        <p:nvPicPr>
          <p:cNvPr id="9" name="Picture 8"/>
          <p:cNvPicPr>
            <a:picLocks noChangeAspect="1"/>
          </p:cNvPicPr>
          <p:nvPr/>
        </p:nvPicPr>
        <p:blipFill rotWithShape="1">
          <a:blip r:embed="rId4"/>
          <a:srcRect t="23246"/>
          <a:stretch/>
        </p:blipFill>
        <p:spPr>
          <a:xfrm>
            <a:off x="6627034" y="4135582"/>
            <a:ext cx="1798916" cy="1381570"/>
          </a:xfrm>
          <a:prstGeom prst="rect">
            <a:avLst/>
          </a:prstGeom>
        </p:spPr>
      </p:pic>
    </p:spTree>
    <p:extLst>
      <p:ext uri="{BB962C8B-B14F-4D97-AF65-F5344CB8AC3E}">
        <p14:creationId xmlns:p14="http://schemas.microsoft.com/office/powerpoint/2010/main" val="7102064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 to Hyperparameters </a:t>
            </a:r>
          </a:p>
        </p:txBody>
      </p:sp>
      <p:sp>
        <p:nvSpPr>
          <p:cNvPr id="3" name="Content Placeholder 2"/>
          <p:cNvSpPr>
            <a:spLocks noGrp="1"/>
          </p:cNvSpPr>
          <p:nvPr>
            <p:ph idx="1"/>
          </p:nvPr>
        </p:nvSpPr>
        <p:spPr/>
        <p:txBody>
          <a:bodyPr/>
          <a:lstStyle/>
          <a:p>
            <a:r>
              <a:rPr lang="en-IN" dirty="0"/>
              <a:t>A Machine Learning model is defined as </a:t>
            </a:r>
            <a:r>
              <a:rPr lang="en-IN" dirty="0">
                <a:solidFill>
                  <a:srgbClr val="0070C0"/>
                </a:solidFill>
              </a:rPr>
              <a:t>a mathematical model </a:t>
            </a:r>
            <a:r>
              <a:rPr lang="en-IN" dirty="0"/>
              <a:t>with several different important parameters.</a:t>
            </a:r>
          </a:p>
          <a:p>
            <a:r>
              <a:rPr lang="en-IN" dirty="0"/>
              <a:t>Some parameters need to be learned by training a model with existing data, generally referred as </a:t>
            </a:r>
            <a:r>
              <a:rPr lang="en-IN" dirty="0">
                <a:solidFill>
                  <a:srgbClr val="0070C0"/>
                </a:solidFill>
              </a:rPr>
              <a:t>Model Parameters</a:t>
            </a:r>
            <a:r>
              <a:rPr lang="en-IN" dirty="0"/>
              <a:t>, e.g., weights and bias.</a:t>
            </a:r>
          </a:p>
          <a:p>
            <a:r>
              <a:rPr lang="en-IN" dirty="0"/>
              <a:t>While the other type of parameters known as </a:t>
            </a:r>
            <a:r>
              <a:rPr lang="en-IN" dirty="0">
                <a:solidFill>
                  <a:srgbClr val="0070C0"/>
                </a:solidFill>
              </a:rPr>
              <a:t>Hyperparameters </a:t>
            </a:r>
            <a:r>
              <a:rPr lang="en-IN" dirty="0"/>
              <a:t>that cannot be directly learned from the regular training process. </a:t>
            </a:r>
          </a:p>
          <a:p>
            <a:r>
              <a:rPr lang="en-IN" dirty="0"/>
              <a:t>They are </a:t>
            </a:r>
            <a:r>
              <a:rPr lang="en-IN" dirty="0">
                <a:solidFill>
                  <a:srgbClr val="0070C0"/>
                </a:solidFill>
              </a:rPr>
              <a:t>usually fixed </a:t>
            </a:r>
            <a:r>
              <a:rPr lang="en-IN" dirty="0"/>
              <a:t>before the actual training process begins. </a:t>
            </a:r>
          </a:p>
          <a:p>
            <a:r>
              <a:rPr lang="en-IN" dirty="0"/>
              <a:t>In the context of machine learning, hyperparameters are </a:t>
            </a:r>
            <a:r>
              <a:rPr lang="en-IN" dirty="0">
                <a:solidFill>
                  <a:srgbClr val="0070C0"/>
                </a:solidFill>
              </a:rPr>
              <a:t>configuration variables </a:t>
            </a:r>
            <a:r>
              <a:rPr lang="en-IN" dirty="0"/>
              <a:t>that are set before the training process of a model begins. </a:t>
            </a:r>
          </a:p>
          <a:p>
            <a:r>
              <a:rPr lang="en-IN" dirty="0">
                <a:solidFill>
                  <a:schemeClr val="accent6"/>
                </a:solidFill>
              </a:rPr>
              <a:t>Hyperparameters are specific to the algorithm itself, these are external to the model, and their values cannot be changed during the training process.</a:t>
            </a:r>
          </a:p>
          <a:p>
            <a:endParaRPr lang="en-IN" dirty="0"/>
          </a:p>
        </p:txBody>
      </p:sp>
    </p:spTree>
    <p:extLst>
      <p:ext uri="{BB962C8B-B14F-4D97-AF65-F5344CB8AC3E}">
        <p14:creationId xmlns:p14="http://schemas.microsoft.com/office/powerpoint/2010/main" val="3778373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 to Hyperparameters </a:t>
            </a:r>
          </a:p>
        </p:txBody>
      </p:sp>
      <p:sp>
        <p:nvSpPr>
          <p:cNvPr id="3" name="Content Placeholder 2"/>
          <p:cNvSpPr>
            <a:spLocks noGrp="1"/>
          </p:cNvSpPr>
          <p:nvPr>
            <p:ph idx="1"/>
          </p:nvPr>
        </p:nvSpPr>
        <p:spPr/>
        <p:txBody>
          <a:bodyPr/>
          <a:lstStyle/>
          <a:p>
            <a:r>
              <a:rPr lang="en-IN" dirty="0"/>
              <a:t>They </a:t>
            </a:r>
            <a:r>
              <a:rPr lang="en-IN" dirty="0">
                <a:solidFill>
                  <a:srgbClr val="0070C0"/>
                </a:solidFill>
              </a:rPr>
              <a:t>control the learning process </a:t>
            </a:r>
            <a:r>
              <a:rPr lang="en-IN" dirty="0"/>
              <a:t>itself, rather than being learned from the data. </a:t>
            </a:r>
          </a:p>
          <a:p>
            <a:r>
              <a:rPr lang="en-IN" dirty="0"/>
              <a:t>These parameters </a:t>
            </a:r>
            <a:r>
              <a:rPr lang="en-IN" dirty="0">
                <a:solidFill>
                  <a:srgbClr val="0070C0"/>
                </a:solidFill>
              </a:rPr>
              <a:t>express important properties </a:t>
            </a:r>
            <a:r>
              <a:rPr lang="en-IN" dirty="0"/>
              <a:t>of the model such as its complexity or how fast it should learn. </a:t>
            </a:r>
          </a:p>
          <a:p>
            <a:r>
              <a:rPr lang="en-IN" dirty="0"/>
              <a:t>The value of Hyperparameters </a:t>
            </a:r>
            <a:r>
              <a:rPr lang="en-IN" dirty="0">
                <a:solidFill>
                  <a:srgbClr val="0070C0"/>
                </a:solidFill>
              </a:rPr>
              <a:t>affect </a:t>
            </a:r>
            <a:r>
              <a:rPr lang="en-IN" dirty="0"/>
              <a:t>the results of the model effectively. </a:t>
            </a:r>
          </a:p>
          <a:p>
            <a:r>
              <a:rPr lang="en-IN" dirty="0"/>
              <a:t>They are often </a:t>
            </a:r>
            <a:r>
              <a:rPr lang="en-IN" dirty="0">
                <a:solidFill>
                  <a:srgbClr val="0070C0"/>
                </a:solidFill>
              </a:rPr>
              <a:t>used to tune </a:t>
            </a:r>
            <a:r>
              <a:rPr lang="en-IN" dirty="0"/>
              <a:t>the performance of a model, and they can have a significant impact on the </a:t>
            </a:r>
            <a:r>
              <a:rPr lang="en-IN" dirty="0">
                <a:solidFill>
                  <a:schemeClr val="accent6"/>
                </a:solidFill>
              </a:rPr>
              <a:t>model’s accuracy, generalization, and other metrics</a:t>
            </a:r>
            <a:r>
              <a:rPr lang="en-IN" dirty="0"/>
              <a:t>.</a:t>
            </a:r>
          </a:p>
          <a:p>
            <a:r>
              <a:rPr lang="en-IN" dirty="0"/>
              <a:t>So, to obtain the best results, </a:t>
            </a:r>
            <a:r>
              <a:rPr lang="en-IN" dirty="0">
                <a:solidFill>
                  <a:srgbClr val="0070C0"/>
                </a:solidFill>
              </a:rPr>
              <a:t>the optimal values </a:t>
            </a:r>
            <a:r>
              <a:rPr lang="en-IN" dirty="0"/>
              <a:t>for these parameters should be found. </a:t>
            </a:r>
          </a:p>
          <a:p>
            <a:r>
              <a:rPr lang="en-IN" dirty="0"/>
              <a:t>Finding the most optimal combination is called </a:t>
            </a:r>
            <a:r>
              <a:rPr lang="en-IN" dirty="0">
                <a:solidFill>
                  <a:srgbClr val="0070C0"/>
                </a:solidFill>
              </a:rPr>
              <a:t>Hyperparameter Tuning</a:t>
            </a:r>
            <a:r>
              <a:rPr lang="en-IN" dirty="0"/>
              <a:t>.</a:t>
            </a:r>
          </a:p>
          <a:p>
            <a:endParaRPr lang="en-IN" dirty="0"/>
          </a:p>
          <a:p>
            <a:endParaRPr lang="en-IN" dirty="0"/>
          </a:p>
        </p:txBody>
      </p:sp>
    </p:spTree>
    <p:extLst>
      <p:ext uri="{BB962C8B-B14F-4D97-AF65-F5344CB8AC3E}">
        <p14:creationId xmlns:p14="http://schemas.microsoft.com/office/powerpoint/2010/main" val="1569666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Hyperparameters in Neural Networks</a:t>
            </a:r>
          </a:p>
        </p:txBody>
      </p:sp>
      <p:sp>
        <p:nvSpPr>
          <p:cNvPr id="3" name="Content Placeholder 2"/>
          <p:cNvSpPr>
            <a:spLocks noGrp="1"/>
          </p:cNvSpPr>
          <p:nvPr>
            <p:ph idx="1"/>
          </p:nvPr>
        </p:nvSpPr>
        <p:spPr/>
        <p:txBody>
          <a:bodyPr/>
          <a:lstStyle/>
          <a:p>
            <a:pPr marL="369888" indent="-457200">
              <a:buFont typeface="+mj-lt"/>
              <a:buAutoNum type="arabicPeriod"/>
            </a:pPr>
            <a:r>
              <a:rPr lang="en-IN" dirty="0">
                <a:solidFill>
                  <a:schemeClr val="accent6"/>
                </a:solidFill>
              </a:rPr>
              <a:t>Learning rate: </a:t>
            </a:r>
          </a:p>
          <a:p>
            <a:pPr marL="914400" lvl="1" indent="-457200"/>
            <a:r>
              <a:rPr lang="en-IN" dirty="0"/>
              <a:t>This hyperparameter controls </a:t>
            </a:r>
            <a:r>
              <a:rPr lang="en-IN" dirty="0">
                <a:solidFill>
                  <a:srgbClr val="0070C0"/>
                </a:solidFill>
              </a:rPr>
              <a:t>the step size </a:t>
            </a:r>
            <a:r>
              <a:rPr lang="en-IN" dirty="0"/>
              <a:t>taken by the optimizer during each iteration of training. </a:t>
            </a:r>
          </a:p>
          <a:p>
            <a:pPr marL="914400" lvl="1" indent="-457200"/>
            <a:r>
              <a:rPr lang="en-IN" dirty="0"/>
              <a:t>The learning rate </a:t>
            </a:r>
            <a:r>
              <a:rPr lang="en-IN" dirty="0">
                <a:solidFill>
                  <a:srgbClr val="0070C0"/>
                </a:solidFill>
              </a:rPr>
              <a:t>can significantly impact </a:t>
            </a:r>
            <a:r>
              <a:rPr lang="en-IN" dirty="0"/>
              <a:t>the model's performance, as a lower learning rate may result in slower convergence but a more accurate model. </a:t>
            </a:r>
          </a:p>
          <a:p>
            <a:pPr marL="914400" lvl="1" indent="-457200"/>
            <a:r>
              <a:rPr lang="en-IN" dirty="0"/>
              <a:t>In comparison, a larger learning rate may result in faster convergence </a:t>
            </a:r>
            <a:r>
              <a:rPr lang="en-IN" dirty="0">
                <a:solidFill>
                  <a:srgbClr val="0070C0"/>
                </a:solidFill>
              </a:rPr>
              <a:t>but can lead to </a:t>
            </a:r>
            <a:r>
              <a:rPr lang="en-IN" dirty="0"/>
              <a:t>instability and divergence..</a:t>
            </a:r>
          </a:p>
        </p:txBody>
      </p:sp>
      <p:pic>
        <p:nvPicPr>
          <p:cNvPr id="5" name="Picture 4"/>
          <p:cNvPicPr>
            <a:picLocks noChangeAspect="1"/>
          </p:cNvPicPr>
          <p:nvPr/>
        </p:nvPicPr>
        <p:blipFill>
          <a:blip r:embed="rId2"/>
          <a:stretch>
            <a:fillRect/>
          </a:stretch>
        </p:blipFill>
        <p:spPr>
          <a:xfrm>
            <a:off x="4346431" y="3283736"/>
            <a:ext cx="3207760" cy="2893274"/>
          </a:xfrm>
          <a:prstGeom prst="rect">
            <a:avLst/>
          </a:prstGeom>
        </p:spPr>
      </p:pic>
      <p:sp>
        <p:nvSpPr>
          <p:cNvPr id="6" name="Rectangle 5"/>
          <p:cNvSpPr/>
          <p:nvPr/>
        </p:nvSpPr>
        <p:spPr>
          <a:xfrm>
            <a:off x="4142580" y="6177010"/>
            <a:ext cx="3906839" cy="276999"/>
          </a:xfrm>
          <a:prstGeom prst="rect">
            <a:avLst/>
          </a:prstGeom>
        </p:spPr>
        <p:txBody>
          <a:bodyPr wrap="none">
            <a:spAutoFit/>
          </a:bodyPr>
          <a:lstStyle/>
          <a:p>
            <a:r>
              <a:rPr lang="en-IN" sz="1200" dirty="0"/>
              <a:t>Image reference: https://cs231n.github.io/neural-networks-3/</a:t>
            </a:r>
          </a:p>
        </p:txBody>
      </p:sp>
    </p:spTree>
    <p:extLst>
      <p:ext uri="{BB962C8B-B14F-4D97-AF65-F5344CB8AC3E}">
        <p14:creationId xmlns:p14="http://schemas.microsoft.com/office/powerpoint/2010/main" val="2618448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par>
                          <p:cTn id="13" fill="hold">
                            <p:stCondLst>
                              <p:cond delay="500"/>
                            </p:stCondLst>
                            <p:childTnLst>
                              <p:par>
                                <p:cTn id="14" presetID="14" presetClass="entr" presetSubtype="1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randombar(horizontal)">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500"/>
                                        <p:tgtEl>
                                          <p:spTgt spid="3">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Hyperparameters in Neural Networks</a:t>
            </a:r>
          </a:p>
        </p:txBody>
      </p:sp>
      <p:sp>
        <p:nvSpPr>
          <p:cNvPr id="3" name="Content Placeholder 2"/>
          <p:cNvSpPr>
            <a:spLocks noGrp="1"/>
          </p:cNvSpPr>
          <p:nvPr>
            <p:ph idx="1"/>
          </p:nvPr>
        </p:nvSpPr>
        <p:spPr/>
        <p:txBody>
          <a:bodyPr/>
          <a:lstStyle/>
          <a:p>
            <a:pPr marL="369888" indent="-457200">
              <a:buFont typeface="+mj-lt"/>
              <a:buAutoNum type="arabicPeriod" startAt="2"/>
            </a:pPr>
            <a:r>
              <a:rPr lang="en-IN" dirty="0">
                <a:solidFill>
                  <a:schemeClr val="accent6"/>
                </a:solidFill>
              </a:rPr>
              <a:t>Epochs &amp; Batch size: </a:t>
            </a:r>
          </a:p>
          <a:p>
            <a:pPr marL="914400" lvl="1" indent="-457200"/>
            <a:r>
              <a:rPr lang="en-IN" dirty="0"/>
              <a:t>Epoch represents </a:t>
            </a:r>
            <a:r>
              <a:rPr lang="en-IN" dirty="0">
                <a:solidFill>
                  <a:srgbClr val="0070C0"/>
                </a:solidFill>
              </a:rPr>
              <a:t>the number of times</a:t>
            </a:r>
            <a:r>
              <a:rPr lang="en-IN" dirty="0"/>
              <a:t> the entire training dataset is passed through the model during training. </a:t>
            </a:r>
          </a:p>
          <a:p>
            <a:pPr marL="914400" lvl="1" indent="-457200"/>
            <a:r>
              <a:rPr lang="en-IN" dirty="0"/>
              <a:t>An epoch is </a:t>
            </a:r>
            <a:r>
              <a:rPr lang="en-IN" dirty="0">
                <a:solidFill>
                  <a:srgbClr val="0070C0"/>
                </a:solidFill>
              </a:rPr>
              <a:t>a complete iteration through the entire training dataset </a:t>
            </a:r>
            <a:r>
              <a:rPr lang="en-IN" dirty="0"/>
              <a:t>in one cycle for training the machine learning model. </a:t>
            </a:r>
          </a:p>
          <a:p>
            <a:pPr marL="914400" lvl="1" indent="-457200"/>
            <a:r>
              <a:rPr lang="en-IN" dirty="0">
                <a:solidFill>
                  <a:srgbClr val="0070C0"/>
                </a:solidFill>
              </a:rPr>
              <a:t>During an epoch</a:t>
            </a:r>
            <a:r>
              <a:rPr lang="en-IN" dirty="0"/>
              <a:t>, every training sample in the dataset is processed by the model, and its weights and biases are updated in accordance with the computed loss or error. </a:t>
            </a:r>
          </a:p>
          <a:p>
            <a:pPr marL="914400" lvl="1" indent="-457200"/>
            <a:r>
              <a:rPr lang="en-IN" dirty="0">
                <a:solidFill>
                  <a:srgbClr val="0070C0"/>
                </a:solidFill>
              </a:rPr>
              <a:t>Increasing the number of epochs </a:t>
            </a:r>
            <a:r>
              <a:rPr lang="en-IN" dirty="0"/>
              <a:t>can improve the model’s performance but may lead to over fitting if not done carefully.</a:t>
            </a:r>
          </a:p>
          <a:p>
            <a:pPr marL="914400" lvl="1" indent="-457200"/>
            <a:r>
              <a:rPr lang="en-IN" dirty="0"/>
              <a:t>In deep learning, the training dataset is generally divided into </a:t>
            </a:r>
            <a:r>
              <a:rPr lang="en-IN" dirty="0">
                <a:solidFill>
                  <a:srgbClr val="0070C0"/>
                </a:solidFill>
              </a:rPr>
              <a:t>smaller groups called batches</a:t>
            </a:r>
            <a:r>
              <a:rPr lang="en-IN" dirty="0"/>
              <a:t>, and during each epoch, the model analyses each batch in sequence, one at a time. </a:t>
            </a:r>
          </a:p>
          <a:p>
            <a:pPr marL="914400" lvl="1" indent="-457200"/>
            <a:r>
              <a:rPr lang="en-IN" dirty="0"/>
              <a:t>The number of batches in an epoch </a:t>
            </a:r>
            <a:r>
              <a:rPr lang="en-IN" dirty="0">
                <a:solidFill>
                  <a:srgbClr val="0070C0"/>
                </a:solidFill>
              </a:rPr>
              <a:t>is determined by </a:t>
            </a:r>
            <a:r>
              <a:rPr lang="en-IN" dirty="0"/>
              <a:t>the batch size, which is also a hyperparameter that can be tuned to optimize the performance of the model. </a:t>
            </a:r>
          </a:p>
          <a:p>
            <a:pPr marL="914400" lvl="1" indent="-457200"/>
            <a:r>
              <a:rPr lang="en-IN" dirty="0"/>
              <a:t>After each epoch, the model performance </a:t>
            </a:r>
            <a:r>
              <a:rPr lang="en-IN" dirty="0">
                <a:solidFill>
                  <a:srgbClr val="0070C0"/>
                </a:solidFill>
              </a:rPr>
              <a:t>can be evaluated </a:t>
            </a:r>
            <a:r>
              <a:rPr lang="en-IN" dirty="0"/>
              <a:t>on the validation dataset. This helps to monitor the progress of the model. </a:t>
            </a:r>
          </a:p>
        </p:txBody>
      </p:sp>
    </p:spTree>
    <p:extLst>
      <p:ext uri="{BB962C8B-B14F-4D97-AF65-F5344CB8AC3E}">
        <p14:creationId xmlns:p14="http://schemas.microsoft.com/office/powerpoint/2010/main" val="1926296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33952" y="1402772"/>
            <a:ext cx="1620000" cy="3600000"/>
          </a:xfrm>
          <a:prstGeom prst="rect">
            <a:avLst/>
          </a:prstGeom>
          <a:solidFill>
            <a:schemeClr val="tx2">
              <a:lumMod val="20000"/>
              <a:lumOff val="80000"/>
            </a:schemeClr>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Batch size = 1000 samples</a:t>
            </a:r>
          </a:p>
        </p:txBody>
      </p:sp>
      <p:sp>
        <p:nvSpPr>
          <p:cNvPr id="3" name="Rectangle 2"/>
          <p:cNvSpPr/>
          <p:nvPr/>
        </p:nvSpPr>
        <p:spPr>
          <a:xfrm>
            <a:off x="4433461" y="1402772"/>
            <a:ext cx="1620000" cy="1800000"/>
          </a:xfrm>
          <a:prstGeom prst="rect">
            <a:avLst/>
          </a:prstGeom>
          <a:solidFill>
            <a:schemeClr val="tx2">
              <a:lumMod val="20000"/>
              <a:lumOff val="80000"/>
            </a:schemeClr>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Batch size = 500 samples</a:t>
            </a:r>
          </a:p>
        </p:txBody>
      </p:sp>
      <p:sp>
        <p:nvSpPr>
          <p:cNvPr id="4" name="Rectangle 3"/>
          <p:cNvSpPr/>
          <p:nvPr/>
        </p:nvSpPr>
        <p:spPr>
          <a:xfrm>
            <a:off x="4433461" y="3195735"/>
            <a:ext cx="1620000" cy="1800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C00000"/>
              </a:solidFill>
            </a:endParaRPr>
          </a:p>
        </p:txBody>
      </p:sp>
      <p:sp>
        <p:nvSpPr>
          <p:cNvPr id="5" name="Oval 4"/>
          <p:cNvSpPr/>
          <p:nvPr/>
        </p:nvSpPr>
        <p:spPr>
          <a:xfrm>
            <a:off x="7097108" y="3522380"/>
            <a:ext cx="108000" cy="108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p:cNvSpPr/>
          <p:nvPr/>
        </p:nvSpPr>
        <p:spPr>
          <a:xfrm>
            <a:off x="7405371" y="3522380"/>
            <a:ext cx="108000" cy="108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p:cNvSpPr/>
          <p:nvPr/>
        </p:nvSpPr>
        <p:spPr>
          <a:xfrm>
            <a:off x="7713634" y="3522380"/>
            <a:ext cx="108000" cy="108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8856525" y="1402772"/>
            <a:ext cx="1620000" cy="720000"/>
          </a:xfrm>
          <a:prstGeom prst="rect">
            <a:avLst/>
          </a:prstGeom>
          <a:solidFill>
            <a:schemeClr val="tx2">
              <a:lumMod val="20000"/>
              <a:lumOff val="80000"/>
            </a:schemeClr>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Batch size = 200 samples</a:t>
            </a:r>
          </a:p>
        </p:txBody>
      </p:sp>
      <p:sp>
        <p:nvSpPr>
          <p:cNvPr id="9" name="Rectangle 8"/>
          <p:cNvSpPr/>
          <p:nvPr/>
        </p:nvSpPr>
        <p:spPr>
          <a:xfrm>
            <a:off x="8856525" y="2122772"/>
            <a:ext cx="1620000" cy="720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C00000"/>
              </a:solidFill>
            </a:endParaRPr>
          </a:p>
        </p:txBody>
      </p:sp>
      <p:sp>
        <p:nvSpPr>
          <p:cNvPr id="10" name="Rectangle 9"/>
          <p:cNvSpPr/>
          <p:nvPr/>
        </p:nvSpPr>
        <p:spPr>
          <a:xfrm>
            <a:off x="1551957" y="487381"/>
            <a:ext cx="9088086" cy="461665"/>
          </a:xfrm>
          <a:prstGeom prst="rect">
            <a:avLst/>
          </a:prstGeom>
        </p:spPr>
        <p:txBody>
          <a:bodyPr wrap="square">
            <a:spAutoFit/>
          </a:bodyPr>
          <a:lstStyle/>
          <a:p>
            <a:pPr algn="just"/>
            <a:r>
              <a:rPr lang="en-IN" sz="2400" dirty="0"/>
              <a:t>One forward pass and one backward pass of all (1000) training examples </a:t>
            </a:r>
          </a:p>
        </p:txBody>
      </p:sp>
      <p:sp>
        <p:nvSpPr>
          <p:cNvPr id="11" name="Rectangle 10"/>
          <p:cNvSpPr/>
          <p:nvPr/>
        </p:nvSpPr>
        <p:spPr>
          <a:xfrm>
            <a:off x="8856525" y="2842772"/>
            <a:ext cx="1620000" cy="720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C00000"/>
              </a:solidFill>
            </a:endParaRPr>
          </a:p>
        </p:txBody>
      </p:sp>
      <p:sp>
        <p:nvSpPr>
          <p:cNvPr id="12" name="Rectangle 11"/>
          <p:cNvSpPr/>
          <p:nvPr/>
        </p:nvSpPr>
        <p:spPr>
          <a:xfrm>
            <a:off x="8856525" y="3562772"/>
            <a:ext cx="1620000" cy="720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C00000"/>
              </a:solidFill>
            </a:endParaRPr>
          </a:p>
        </p:txBody>
      </p:sp>
      <p:sp>
        <p:nvSpPr>
          <p:cNvPr id="13" name="Rectangle 12"/>
          <p:cNvSpPr/>
          <p:nvPr/>
        </p:nvSpPr>
        <p:spPr>
          <a:xfrm>
            <a:off x="8856525" y="4282773"/>
            <a:ext cx="1620000" cy="720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C00000"/>
              </a:solidFill>
            </a:endParaRPr>
          </a:p>
        </p:txBody>
      </p:sp>
      <p:sp>
        <p:nvSpPr>
          <p:cNvPr id="14" name="Rectangle 13"/>
          <p:cNvSpPr/>
          <p:nvPr/>
        </p:nvSpPr>
        <p:spPr>
          <a:xfrm>
            <a:off x="1177012" y="5164523"/>
            <a:ext cx="2133880" cy="369332"/>
          </a:xfrm>
          <a:prstGeom prst="rect">
            <a:avLst/>
          </a:prstGeom>
        </p:spPr>
        <p:txBody>
          <a:bodyPr wrap="square">
            <a:spAutoFit/>
          </a:bodyPr>
          <a:lstStyle/>
          <a:p>
            <a:pPr algn="ctr"/>
            <a:r>
              <a:rPr lang="en-IN" dirty="0"/>
              <a:t>1 iteration per Epoch </a:t>
            </a:r>
          </a:p>
        </p:txBody>
      </p:sp>
      <p:sp>
        <p:nvSpPr>
          <p:cNvPr id="15" name="Rectangle 14"/>
          <p:cNvSpPr/>
          <p:nvPr/>
        </p:nvSpPr>
        <p:spPr>
          <a:xfrm>
            <a:off x="4176521" y="5164523"/>
            <a:ext cx="2160000" cy="369332"/>
          </a:xfrm>
          <a:prstGeom prst="rect">
            <a:avLst/>
          </a:prstGeom>
        </p:spPr>
        <p:txBody>
          <a:bodyPr wrap="square">
            <a:spAutoFit/>
          </a:bodyPr>
          <a:lstStyle/>
          <a:p>
            <a:pPr algn="ctr"/>
            <a:r>
              <a:rPr lang="en-IN" dirty="0"/>
              <a:t>2 iterations per Epoch</a:t>
            </a:r>
          </a:p>
        </p:txBody>
      </p:sp>
      <p:sp>
        <p:nvSpPr>
          <p:cNvPr id="16" name="Rectangle 15"/>
          <p:cNvSpPr/>
          <p:nvPr/>
        </p:nvSpPr>
        <p:spPr>
          <a:xfrm>
            <a:off x="8586524" y="5164523"/>
            <a:ext cx="2160000" cy="369332"/>
          </a:xfrm>
          <a:prstGeom prst="rect">
            <a:avLst/>
          </a:prstGeom>
        </p:spPr>
        <p:txBody>
          <a:bodyPr wrap="square">
            <a:spAutoFit/>
          </a:bodyPr>
          <a:lstStyle/>
          <a:p>
            <a:pPr algn="ctr"/>
            <a:r>
              <a:rPr lang="en-IN" dirty="0"/>
              <a:t>5 iterations per Epoch</a:t>
            </a:r>
          </a:p>
        </p:txBody>
      </p:sp>
    </p:spTree>
    <p:extLst>
      <p:ext uri="{BB962C8B-B14F-4D97-AF65-F5344CB8AC3E}">
        <p14:creationId xmlns:p14="http://schemas.microsoft.com/office/powerpoint/2010/main" val="2100679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up)">
                                      <p:cBhvr>
                                        <p:cTn id="16" dur="500"/>
                                        <p:tgtEl>
                                          <p:spTgt spid="3"/>
                                        </p:tgtEl>
                                      </p:cBhvr>
                                    </p:animEffect>
                                  </p:childTnLst>
                                </p:cTn>
                              </p:par>
                            </p:childTnLst>
                          </p:cTn>
                        </p:par>
                        <p:par>
                          <p:cTn id="17" fill="hold">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up)">
                                      <p:cBhvr>
                                        <p:cTn id="20" dur="500"/>
                                        <p:tgtEl>
                                          <p:spTgt spid="4"/>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250"/>
                                        <p:tgtEl>
                                          <p:spTgt spid="5"/>
                                        </p:tgtEl>
                                      </p:cBhvr>
                                    </p:animEffect>
                                  </p:childTnLst>
                                </p:cTn>
                              </p:par>
                            </p:childTnLst>
                          </p:cTn>
                        </p:par>
                        <p:par>
                          <p:cTn id="30" fill="hold">
                            <p:stCondLst>
                              <p:cond delay="250"/>
                            </p:stCondLst>
                            <p:childTnLst>
                              <p:par>
                                <p:cTn id="31" presetID="22" presetClass="entr" presetSubtype="8" fill="hold" grpId="0" nodeType="after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250"/>
                                        <p:tgtEl>
                                          <p:spTgt spid="6"/>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25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up)">
                                      <p:cBhvr>
                                        <p:cTn id="42" dur="500"/>
                                        <p:tgtEl>
                                          <p:spTgt spid="8"/>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wipe(up)">
                                      <p:cBhvr>
                                        <p:cTn id="45" dur="500"/>
                                        <p:tgtEl>
                                          <p:spTgt spid="9"/>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wipe(up)">
                                      <p:cBhvr>
                                        <p:cTn id="48" dur="500"/>
                                        <p:tgtEl>
                                          <p:spTgt spid="11"/>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wipe(up)">
                                      <p:cBhvr>
                                        <p:cTn id="51" dur="500"/>
                                        <p:tgtEl>
                                          <p:spTgt spid="12"/>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up)">
                                      <p:cBhvr>
                                        <p:cTn id="54" dur="500"/>
                                        <p:tgtEl>
                                          <p:spTgt spid="13"/>
                                        </p:tgtEl>
                                      </p:cBhvr>
                                    </p:animEffect>
                                  </p:childTnLst>
                                </p:cTn>
                              </p:par>
                            </p:childTnLst>
                          </p:cTn>
                        </p:par>
                        <p:par>
                          <p:cTn id="55" fill="hold">
                            <p:stCondLst>
                              <p:cond delay="50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1" grpId="0" animBg="1"/>
      <p:bldP spid="12" grpId="0" animBg="1"/>
      <p:bldP spid="13" grpId="0" animBg="1"/>
      <p:bldP spid="14" grpId="0"/>
      <p:bldP spid="15" grpId="0"/>
      <p:bldP spid="1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Hyperparameters in Neural Networks</a:t>
            </a:r>
          </a:p>
        </p:txBody>
      </p:sp>
      <p:sp>
        <p:nvSpPr>
          <p:cNvPr id="3" name="Content Placeholder 2"/>
          <p:cNvSpPr>
            <a:spLocks noGrp="1"/>
          </p:cNvSpPr>
          <p:nvPr>
            <p:ph idx="1"/>
          </p:nvPr>
        </p:nvSpPr>
        <p:spPr/>
        <p:txBody>
          <a:bodyPr/>
          <a:lstStyle/>
          <a:p>
            <a:pPr marL="369888" indent="-457200">
              <a:buFont typeface="+mj-lt"/>
              <a:buAutoNum type="arabicPeriod" startAt="3"/>
            </a:pPr>
            <a:r>
              <a:rPr lang="en-IN" dirty="0">
                <a:solidFill>
                  <a:schemeClr val="accent6"/>
                </a:solidFill>
              </a:rPr>
              <a:t>Number of layers &amp; Number of nodes per layer </a:t>
            </a:r>
          </a:p>
          <a:p>
            <a:pPr lvl="1"/>
            <a:r>
              <a:rPr lang="en-IN" dirty="0"/>
              <a:t>The </a:t>
            </a:r>
            <a:r>
              <a:rPr lang="en-IN" dirty="0">
                <a:solidFill>
                  <a:srgbClr val="0070C0"/>
                </a:solidFill>
              </a:rPr>
              <a:t>number of hidden layers </a:t>
            </a:r>
            <a:r>
              <a:rPr lang="en-IN" dirty="0"/>
              <a:t>and </a:t>
            </a:r>
            <a:r>
              <a:rPr lang="en-IN" dirty="0">
                <a:solidFill>
                  <a:srgbClr val="0070C0"/>
                </a:solidFill>
              </a:rPr>
              <a:t>the number of neurons </a:t>
            </a:r>
            <a:r>
              <a:rPr lang="en-IN" dirty="0"/>
              <a:t>in each hidden layer define the architecture of a neural network. </a:t>
            </a:r>
          </a:p>
          <a:p>
            <a:pPr lvl="1"/>
            <a:r>
              <a:rPr lang="en-IN" dirty="0">
                <a:solidFill>
                  <a:srgbClr val="0070C0"/>
                </a:solidFill>
              </a:rPr>
              <a:t>The depth</a:t>
            </a:r>
            <a:r>
              <a:rPr lang="en-IN" dirty="0"/>
              <a:t> of a network refers to the number of hidden layers it contains, while </a:t>
            </a:r>
            <a:r>
              <a:rPr lang="en-IN" dirty="0">
                <a:solidFill>
                  <a:srgbClr val="0070C0"/>
                </a:solidFill>
              </a:rPr>
              <a:t>the width </a:t>
            </a:r>
            <a:r>
              <a:rPr lang="en-IN" dirty="0"/>
              <a:t>refers to the number of neurons in each hidden layer.</a:t>
            </a:r>
          </a:p>
          <a:p>
            <a:pPr lvl="1"/>
            <a:r>
              <a:rPr lang="en-IN" dirty="0"/>
              <a:t>The number of hidden layers can have a significant impact on its </a:t>
            </a:r>
            <a:r>
              <a:rPr lang="en-IN" dirty="0">
                <a:solidFill>
                  <a:srgbClr val="0070C0"/>
                </a:solidFill>
              </a:rPr>
              <a:t>complexity and learning ability</a:t>
            </a:r>
            <a:r>
              <a:rPr lang="en-IN" dirty="0"/>
              <a:t>.</a:t>
            </a:r>
          </a:p>
          <a:p>
            <a:pPr lvl="1"/>
            <a:r>
              <a:rPr lang="en-IN" dirty="0"/>
              <a:t>Deeper networks </a:t>
            </a:r>
            <a:r>
              <a:rPr lang="en-IN" dirty="0">
                <a:solidFill>
                  <a:srgbClr val="0070C0"/>
                </a:solidFill>
              </a:rPr>
              <a:t>with more hidden layers </a:t>
            </a:r>
            <a:r>
              <a:rPr lang="en-IN" dirty="0"/>
              <a:t>can learn more complex representations, but they also require more data and computational power to train. </a:t>
            </a:r>
          </a:p>
          <a:p>
            <a:pPr lvl="1"/>
            <a:r>
              <a:rPr lang="en-IN" dirty="0"/>
              <a:t>Conversely, wider networks </a:t>
            </a:r>
            <a:r>
              <a:rPr lang="en-IN" dirty="0">
                <a:solidFill>
                  <a:srgbClr val="0070C0"/>
                </a:solidFill>
              </a:rPr>
              <a:t>with more neurons </a:t>
            </a:r>
            <a:r>
              <a:rPr lang="en-IN" dirty="0"/>
              <a:t>can capture more information about the input data but may also lead to over-fitting if not managed properly.</a:t>
            </a:r>
          </a:p>
          <a:p>
            <a:pPr lvl="1"/>
            <a:r>
              <a:rPr lang="en-IN" dirty="0"/>
              <a:t>There are many </a:t>
            </a:r>
            <a:r>
              <a:rPr lang="en-IN" dirty="0">
                <a:solidFill>
                  <a:srgbClr val="0070C0"/>
                </a:solidFill>
              </a:rPr>
              <a:t>rule-of-thumb methods </a:t>
            </a:r>
            <a:r>
              <a:rPr lang="en-IN" dirty="0"/>
              <a:t>for determining the correct number of neurons to use in the hidden layers, such as the following:</a:t>
            </a:r>
          </a:p>
          <a:p>
            <a:pPr lvl="2"/>
            <a:r>
              <a:rPr lang="en-IN" dirty="0"/>
              <a:t>The number of hidden neurons should be between the size of the input layer and the size of the output layer.</a:t>
            </a:r>
          </a:p>
          <a:p>
            <a:pPr lvl="2"/>
            <a:r>
              <a:rPr lang="en-IN" dirty="0"/>
              <a:t>The number of hidden neurons should be 2/3 the size of the input layer, plus the size of the output layer.</a:t>
            </a:r>
          </a:p>
          <a:p>
            <a:pPr lvl="2"/>
            <a:r>
              <a:rPr lang="en-IN" dirty="0"/>
              <a:t>The number of hidden neurons should be less than twice the size of the input layer.</a:t>
            </a:r>
          </a:p>
        </p:txBody>
      </p:sp>
    </p:spTree>
    <p:extLst>
      <p:ext uri="{BB962C8B-B14F-4D97-AF65-F5344CB8AC3E}">
        <p14:creationId xmlns:p14="http://schemas.microsoft.com/office/powerpoint/2010/main" val="1149051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par>
                          <p:cTn id="38" fill="hold">
                            <p:stCondLst>
                              <p:cond delay="500"/>
                            </p:stCondLst>
                            <p:childTnLst>
                              <p:par>
                                <p:cTn id="39" presetID="10" presetClass="entr" presetSubtype="0" fill="hold" nodeType="after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fade">
                                      <p:cBhvr>
                                        <p:cTn id="41" dur="500"/>
                                        <p:tgtEl>
                                          <p:spTgt spid="3">
                                            <p:txEl>
                                              <p:pRg st="7" end="7"/>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8" end="8"/>
                                            </p:txEl>
                                          </p:spTgt>
                                        </p:tgtEl>
                                        <p:attrNameLst>
                                          <p:attrName>style.visibility</p:attrName>
                                        </p:attrNameLst>
                                      </p:cBhvr>
                                      <p:to>
                                        <p:strVal val="visible"/>
                                      </p:to>
                                    </p:set>
                                    <p:animEffect transition="in" filter="fade">
                                      <p:cBhvr>
                                        <p:cTn id="46" dur="500"/>
                                        <p:tgtEl>
                                          <p:spTgt spid="3">
                                            <p:txEl>
                                              <p:pRg st="8" end="8"/>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animEffect transition="in" filter="fade">
                                      <p:cBhvr>
                                        <p:cTn id="5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Hyperparameters in Neural Networks</a:t>
            </a:r>
          </a:p>
        </p:txBody>
      </p:sp>
      <p:sp>
        <p:nvSpPr>
          <p:cNvPr id="3" name="Content Placeholder 2"/>
          <p:cNvSpPr>
            <a:spLocks noGrp="1"/>
          </p:cNvSpPr>
          <p:nvPr>
            <p:ph idx="1"/>
          </p:nvPr>
        </p:nvSpPr>
        <p:spPr/>
        <p:txBody>
          <a:bodyPr/>
          <a:lstStyle/>
          <a:p>
            <a:pPr marL="369888" indent="-457200">
              <a:buFont typeface="+mj-lt"/>
              <a:buAutoNum type="arabicPeriod" startAt="4"/>
            </a:pPr>
            <a:r>
              <a:rPr lang="en-IN" dirty="0">
                <a:solidFill>
                  <a:schemeClr val="accent6"/>
                </a:solidFill>
              </a:rPr>
              <a:t>Activation function: </a:t>
            </a:r>
          </a:p>
          <a:p>
            <a:pPr marL="914400" lvl="1" indent="-457200"/>
            <a:r>
              <a:rPr lang="en-IN" dirty="0"/>
              <a:t>This hyperparameter introduces </a:t>
            </a:r>
            <a:r>
              <a:rPr lang="en-IN" dirty="0">
                <a:solidFill>
                  <a:srgbClr val="0070C0"/>
                </a:solidFill>
              </a:rPr>
              <a:t>non-linearity</a:t>
            </a:r>
            <a:r>
              <a:rPr lang="en-IN" dirty="0"/>
              <a:t> into the model, allowing it to learn complex decision boundaries. </a:t>
            </a:r>
          </a:p>
          <a:p>
            <a:pPr marL="914400" lvl="1" indent="-457200"/>
            <a:r>
              <a:rPr lang="en-IN" dirty="0"/>
              <a:t>Common activation functions include </a:t>
            </a:r>
            <a:r>
              <a:rPr lang="en-IN" dirty="0">
                <a:solidFill>
                  <a:srgbClr val="0070C0"/>
                </a:solidFill>
              </a:rPr>
              <a:t>sigmoid, </a:t>
            </a:r>
            <a:r>
              <a:rPr lang="en-IN" dirty="0" err="1">
                <a:solidFill>
                  <a:srgbClr val="0070C0"/>
                </a:solidFill>
              </a:rPr>
              <a:t>tanh</a:t>
            </a:r>
            <a:r>
              <a:rPr lang="en-IN" dirty="0">
                <a:solidFill>
                  <a:srgbClr val="0070C0"/>
                </a:solidFill>
              </a:rPr>
              <a:t>, and Rectified Linear Unit (</a:t>
            </a:r>
            <a:r>
              <a:rPr lang="en-IN" dirty="0" err="1">
                <a:solidFill>
                  <a:srgbClr val="0070C0"/>
                </a:solidFill>
              </a:rPr>
              <a:t>ReLU</a:t>
            </a:r>
            <a:r>
              <a:rPr lang="en-IN" dirty="0">
                <a:solidFill>
                  <a:srgbClr val="0070C0"/>
                </a:solidFill>
              </a:rPr>
              <a:t>).</a:t>
            </a:r>
          </a:p>
          <a:p>
            <a:pPr marL="914400" lvl="1" indent="-457200"/>
            <a:endParaRPr lang="en-IN" dirty="0"/>
          </a:p>
          <a:p>
            <a:pPr marL="914400" lvl="1" indent="-457200"/>
            <a:endParaRPr lang="en-IN" dirty="0"/>
          </a:p>
          <a:p>
            <a:pPr marL="369888" indent="-457200">
              <a:buFont typeface="+mj-lt"/>
              <a:buAutoNum type="arabicPeriod" startAt="5"/>
            </a:pPr>
            <a:r>
              <a:rPr lang="en-IN" dirty="0"/>
              <a:t>Momentum </a:t>
            </a:r>
          </a:p>
          <a:p>
            <a:pPr lvl="1"/>
            <a:r>
              <a:rPr lang="en-IN" dirty="0"/>
              <a:t>Momentum helps us avoid falling into local minima by resisting rapid changes to parameter values. </a:t>
            </a:r>
          </a:p>
          <a:p>
            <a:pPr lvl="1"/>
            <a:r>
              <a:rPr lang="en-IN" dirty="0"/>
              <a:t>It encourages parameters to keep changing in the direction they were already changing, which helps prevent zig-</a:t>
            </a:r>
            <a:r>
              <a:rPr lang="en-IN" dirty="0" err="1"/>
              <a:t>zagging</a:t>
            </a:r>
            <a:r>
              <a:rPr lang="en-IN" dirty="0"/>
              <a:t> on every iteration. Aim to start with low momentum values and adjust upward as needed.</a:t>
            </a:r>
          </a:p>
          <a:p>
            <a:pPr lvl="1"/>
            <a:r>
              <a:rPr lang="en-IN" dirty="0"/>
              <a:t>Momentum: This accelerates gradient descent optimization by adding a fraction of the previous update vector to the current update. It helps smooth out the optimization path and can prevent the model from getting stuck in local minima. The momentum hyperparameter typically ranges between 0 and 1. A common starting point is 0.9, but this can be adjusted based on the </a:t>
            </a:r>
            <a:r>
              <a:rPr lang="en-IN" dirty="0" err="1"/>
              <a:t>behavior</a:t>
            </a:r>
            <a:r>
              <a:rPr lang="en-IN" dirty="0"/>
              <a:t> of the model during training. Proper tuning of momentum can lead to faster convergence and improved model accuracy.</a:t>
            </a:r>
          </a:p>
        </p:txBody>
      </p:sp>
    </p:spTree>
    <p:extLst>
      <p:ext uri="{BB962C8B-B14F-4D97-AF65-F5344CB8AC3E}">
        <p14:creationId xmlns:p14="http://schemas.microsoft.com/office/powerpoint/2010/main" val="2339269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F23FB-BEBD-A810-BB56-149E46B8B3CE}"/>
              </a:ext>
            </a:extLst>
          </p:cNvPr>
          <p:cNvSpPr>
            <a:spLocks noGrp="1"/>
          </p:cNvSpPr>
          <p:nvPr>
            <p:ph type="title"/>
          </p:nvPr>
        </p:nvSpPr>
        <p:spPr/>
        <p:txBody>
          <a:bodyPr/>
          <a:lstStyle/>
          <a:p>
            <a:r>
              <a:rPr lang="en-IN" dirty="0"/>
              <a:t>Deep Learning Libraries</a:t>
            </a:r>
            <a:endParaRPr lang="en-US" dirty="0"/>
          </a:p>
        </p:txBody>
      </p:sp>
      <p:sp>
        <p:nvSpPr>
          <p:cNvPr id="4" name="Rectangle 3">
            <a:extLst>
              <a:ext uri="{FF2B5EF4-FFF2-40B4-BE49-F238E27FC236}">
                <a16:creationId xmlns:a16="http://schemas.microsoft.com/office/drawing/2014/main" id="{E2263BC1-12C5-2FA3-591D-543EF055FA25}"/>
              </a:ext>
            </a:extLst>
          </p:cNvPr>
          <p:cNvSpPr/>
          <p:nvPr/>
        </p:nvSpPr>
        <p:spPr>
          <a:xfrm>
            <a:off x="428977" y="1032932"/>
            <a:ext cx="2635955" cy="152964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defRPr sz="2160" b="1">
                <a:solidFill>
                  <a:srgbClr val="FFFFFF"/>
                </a:solidFill>
              </a:defRPr>
            </a:pPr>
            <a:r>
              <a:t>2007</a:t>
            </a:r>
          </a:p>
          <a:p>
            <a:r>
              <a:t>Theano</a:t>
            </a:r>
          </a:p>
        </p:txBody>
      </p:sp>
      <p:sp>
        <p:nvSpPr>
          <p:cNvPr id="6" name="Rectangle 5">
            <a:extLst>
              <a:ext uri="{FF2B5EF4-FFF2-40B4-BE49-F238E27FC236}">
                <a16:creationId xmlns:a16="http://schemas.microsoft.com/office/drawing/2014/main" id="{A350296C-C611-3109-05CB-E142932E7354}"/>
              </a:ext>
            </a:extLst>
          </p:cNvPr>
          <p:cNvSpPr/>
          <p:nvPr/>
        </p:nvSpPr>
        <p:spPr>
          <a:xfrm>
            <a:off x="3606799" y="1032932"/>
            <a:ext cx="2635955" cy="152964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defRPr sz="2160" b="1">
                <a:solidFill>
                  <a:srgbClr val="FFFFFF"/>
                </a:solidFill>
              </a:defRPr>
            </a:pPr>
            <a:r>
              <a:t>2010</a:t>
            </a:r>
          </a:p>
          <a:p>
            <a:r>
              <a:t>Caffe</a:t>
            </a:r>
          </a:p>
        </p:txBody>
      </p:sp>
      <p:sp>
        <p:nvSpPr>
          <p:cNvPr id="8" name="Rectangle 7">
            <a:extLst>
              <a:ext uri="{FF2B5EF4-FFF2-40B4-BE49-F238E27FC236}">
                <a16:creationId xmlns:a16="http://schemas.microsoft.com/office/drawing/2014/main" id="{6464F6D2-243A-C76B-62AC-71EE8849C465}"/>
              </a:ext>
            </a:extLst>
          </p:cNvPr>
          <p:cNvSpPr/>
          <p:nvPr/>
        </p:nvSpPr>
        <p:spPr>
          <a:xfrm>
            <a:off x="6784621" y="1032932"/>
            <a:ext cx="2635955" cy="152964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defRPr sz="2160" b="1">
                <a:solidFill>
                  <a:srgbClr val="FFFFFF"/>
                </a:solidFill>
              </a:defRPr>
            </a:pPr>
            <a:r>
              <a:rPr dirty="0"/>
              <a:t>2015</a:t>
            </a:r>
          </a:p>
          <a:p>
            <a:r>
              <a:rPr dirty="0"/>
              <a:t>TensorFlow</a:t>
            </a:r>
          </a:p>
        </p:txBody>
      </p:sp>
      <p:sp>
        <p:nvSpPr>
          <p:cNvPr id="10" name="Rectangle 9">
            <a:extLst>
              <a:ext uri="{FF2B5EF4-FFF2-40B4-BE49-F238E27FC236}">
                <a16:creationId xmlns:a16="http://schemas.microsoft.com/office/drawing/2014/main" id="{9134F231-E29E-B42C-A140-F2469583B5C6}"/>
              </a:ext>
            </a:extLst>
          </p:cNvPr>
          <p:cNvSpPr/>
          <p:nvPr/>
        </p:nvSpPr>
        <p:spPr>
          <a:xfrm>
            <a:off x="428976" y="2858909"/>
            <a:ext cx="2635955" cy="152964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defRPr sz="2160" b="1">
                <a:solidFill>
                  <a:srgbClr val="FFFFFF"/>
                </a:solidFill>
              </a:defRPr>
            </a:pPr>
            <a:r>
              <a:rPr dirty="0"/>
              <a:t>2015</a:t>
            </a:r>
          </a:p>
          <a:p>
            <a:r>
              <a:rPr dirty="0" err="1"/>
              <a:t>Keras</a:t>
            </a:r>
            <a:endParaRPr dirty="0"/>
          </a:p>
        </p:txBody>
      </p:sp>
      <p:sp>
        <p:nvSpPr>
          <p:cNvPr id="12" name="Rectangle 11">
            <a:extLst>
              <a:ext uri="{FF2B5EF4-FFF2-40B4-BE49-F238E27FC236}">
                <a16:creationId xmlns:a16="http://schemas.microsoft.com/office/drawing/2014/main" id="{2FBB9F11-AD64-29D3-8EB7-2DA7DA3FA28A}"/>
              </a:ext>
            </a:extLst>
          </p:cNvPr>
          <p:cNvSpPr/>
          <p:nvPr/>
        </p:nvSpPr>
        <p:spPr>
          <a:xfrm>
            <a:off x="3657600" y="2858909"/>
            <a:ext cx="2585154" cy="152964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defRPr sz="2160" b="1">
                <a:solidFill>
                  <a:srgbClr val="FFFFFF"/>
                </a:solidFill>
              </a:defRPr>
            </a:pPr>
            <a:r>
              <a:t>2016</a:t>
            </a:r>
          </a:p>
          <a:p>
            <a:r>
              <a:t>MXNet</a:t>
            </a:r>
          </a:p>
        </p:txBody>
      </p:sp>
      <p:sp>
        <p:nvSpPr>
          <p:cNvPr id="14" name="Rectangle 13">
            <a:extLst>
              <a:ext uri="{FF2B5EF4-FFF2-40B4-BE49-F238E27FC236}">
                <a16:creationId xmlns:a16="http://schemas.microsoft.com/office/drawing/2014/main" id="{AC340BF6-A0D5-4924-FD10-AC6F6802E25A}"/>
              </a:ext>
            </a:extLst>
          </p:cNvPr>
          <p:cNvSpPr/>
          <p:nvPr/>
        </p:nvSpPr>
        <p:spPr>
          <a:xfrm>
            <a:off x="6784621" y="2836327"/>
            <a:ext cx="2635954" cy="152964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defRPr sz="2160" b="1">
                <a:solidFill>
                  <a:srgbClr val="FFFFFF"/>
                </a:solidFill>
              </a:defRPr>
            </a:pPr>
            <a:r>
              <a:t>2017</a:t>
            </a:r>
          </a:p>
          <a:p>
            <a:r>
              <a:t>PyTorch</a:t>
            </a:r>
          </a:p>
        </p:txBody>
      </p:sp>
      <p:sp>
        <p:nvSpPr>
          <p:cNvPr id="16" name="Rectangle 15">
            <a:extLst>
              <a:ext uri="{FF2B5EF4-FFF2-40B4-BE49-F238E27FC236}">
                <a16:creationId xmlns:a16="http://schemas.microsoft.com/office/drawing/2014/main" id="{80E99218-1F51-209E-0252-DCC5D4FE39B9}"/>
              </a:ext>
            </a:extLst>
          </p:cNvPr>
          <p:cNvSpPr/>
          <p:nvPr/>
        </p:nvSpPr>
        <p:spPr>
          <a:xfrm>
            <a:off x="428975" y="4710283"/>
            <a:ext cx="2635955" cy="152964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defRPr sz="2160" b="1">
                <a:solidFill>
                  <a:srgbClr val="FFFFFF"/>
                </a:solidFill>
              </a:defRPr>
            </a:pPr>
            <a:r>
              <a:t>2023</a:t>
            </a:r>
          </a:p>
          <a:p>
            <a:r>
              <a:t>JAX</a:t>
            </a:r>
          </a:p>
        </p:txBody>
      </p:sp>
    </p:spTree>
    <p:extLst>
      <p:ext uri="{BB962C8B-B14F-4D97-AF65-F5344CB8AC3E}">
        <p14:creationId xmlns:p14="http://schemas.microsoft.com/office/powerpoint/2010/main" val="2014949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P spid="12" grpId="0" animBg="1"/>
      <p:bldP spid="14" grpId="0" animBg="1"/>
      <p:bldP spid="1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AABF3-8F17-C7FD-671E-89FC5B153039}"/>
              </a:ext>
            </a:extLst>
          </p:cNvPr>
          <p:cNvSpPr>
            <a:spLocks noGrp="1"/>
          </p:cNvSpPr>
          <p:nvPr>
            <p:ph type="title"/>
          </p:nvPr>
        </p:nvSpPr>
        <p:spPr/>
        <p:txBody>
          <a:bodyPr>
            <a:normAutofit/>
          </a:bodyPr>
          <a:lstStyle/>
          <a:p>
            <a:r>
              <a:rPr lang="en-IN" dirty="0"/>
              <a:t>TensorFlow &amp; </a:t>
            </a:r>
            <a:r>
              <a:rPr lang="en-IN" dirty="0" err="1"/>
              <a:t>Keras</a:t>
            </a:r>
            <a:endParaRPr lang="en-US" dirty="0"/>
          </a:p>
        </p:txBody>
      </p:sp>
      <p:sp>
        <p:nvSpPr>
          <p:cNvPr id="3" name="Content Placeholder 2">
            <a:extLst>
              <a:ext uri="{FF2B5EF4-FFF2-40B4-BE49-F238E27FC236}">
                <a16:creationId xmlns:a16="http://schemas.microsoft.com/office/drawing/2014/main" id="{500A5F82-604A-29F5-79D4-7CEA3857EB5D}"/>
              </a:ext>
            </a:extLst>
          </p:cNvPr>
          <p:cNvSpPr>
            <a:spLocks noGrp="1"/>
          </p:cNvSpPr>
          <p:nvPr>
            <p:ph idx="1"/>
          </p:nvPr>
        </p:nvSpPr>
        <p:spPr/>
        <p:txBody>
          <a:bodyPr/>
          <a:lstStyle/>
          <a:p>
            <a:r>
              <a:rPr lang="en-US" b="1" dirty="0">
                <a:solidFill>
                  <a:srgbClr val="C00000"/>
                </a:solidFill>
              </a:rPr>
              <a:t>TensorFlow</a:t>
            </a:r>
          </a:p>
          <a:p>
            <a:r>
              <a:rPr lang="en-US" dirty="0"/>
              <a:t>Developed by </a:t>
            </a:r>
            <a:r>
              <a:rPr lang="en-US" dirty="0">
                <a:solidFill>
                  <a:srgbClr val="C00000"/>
                </a:solidFill>
              </a:rPr>
              <a:t>Google</a:t>
            </a:r>
            <a:r>
              <a:rPr lang="en-US" dirty="0"/>
              <a:t>, </a:t>
            </a:r>
            <a:r>
              <a:rPr lang="en-US" dirty="0">
                <a:solidFill>
                  <a:srgbClr val="C00000"/>
                </a:solidFill>
              </a:rPr>
              <a:t>TensorFlow </a:t>
            </a:r>
            <a:r>
              <a:rPr lang="en-US" dirty="0"/>
              <a:t>is an </a:t>
            </a:r>
            <a:r>
              <a:rPr lang="en-US" dirty="0">
                <a:solidFill>
                  <a:srgbClr val="C00000"/>
                </a:solidFill>
              </a:rPr>
              <a:t>open-source machine learning framework</a:t>
            </a:r>
            <a:r>
              <a:rPr lang="en-US" dirty="0"/>
              <a:t>.</a:t>
            </a:r>
          </a:p>
          <a:p>
            <a:r>
              <a:rPr lang="en-US" dirty="0"/>
              <a:t>It is highly optimized for </a:t>
            </a:r>
            <a:r>
              <a:rPr lang="en-US" dirty="0">
                <a:solidFill>
                  <a:srgbClr val="C00000"/>
                </a:solidFill>
              </a:rPr>
              <a:t>numerical computation </a:t>
            </a:r>
            <a:r>
              <a:rPr lang="en-US" dirty="0"/>
              <a:t>using </a:t>
            </a:r>
            <a:r>
              <a:rPr lang="en-US" dirty="0">
                <a:solidFill>
                  <a:srgbClr val="C00000"/>
                </a:solidFill>
              </a:rPr>
              <a:t>data flow graphs</a:t>
            </a:r>
            <a:r>
              <a:rPr lang="en-US" dirty="0"/>
              <a:t>.</a:t>
            </a:r>
          </a:p>
          <a:p>
            <a:r>
              <a:rPr lang="en-US" dirty="0"/>
              <a:t>Supports </a:t>
            </a:r>
            <a:r>
              <a:rPr lang="en-US" dirty="0">
                <a:solidFill>
                  <a:srgbClr val="C00000"/>
                </a:solidFill>
              </a:rPr>
              <a:t>GPU acceleration and distributed computing </a:t>
            </a:r>
            <a:r>
              <a:rPr lang="en-US" dirty="0"/>
              <a:t>for handling </a:t>
            </a:r>
            <a:r>
              <a:rPr lang="en-US" dirty="0">
                <a:solidFill>
                  <a:srgbClr val="C00000"/>
                </a:solidFill>
              </a:rPr>
              <a:t>large-scale ML models</a:t>
            </a:r>
            <a:r>
              <a:rPr lang="en-US" dirty="0"/>
              <a:t>.</a:t>
            </a:r>
          </a:p>
          <a:p>
            <a:r>
              <a:rPr lang="en-US" dirty="0"/>
              <a:t>TensorFlow has both </a:t>
            </a:r>
            <a:r>
              <a:rPr lang="en-US" dirty="0">
                <a:solidFill>
                  <a:srgbClr val="C00000"/>
                </a:solidFill>
              </a:rPr>
              <a:t>low-level control and high-level APIs </a:t>
            </a:r>
            <a:r>
              <a:rPr lang="en-US" dirty="0"/>
              <a:t>(like </a:t>
            </a:r>
            <a:r>
              <a:rPr lang="en-US" dirty="0" err="1"/>
              <a:t>Keras</a:t>
            </a:r>
            <a:r>
              <a:rPr lang="en-US" dirty="0"/>
              <a:t>) for building neural networks.</a:t>
            </a:r>
          </a:p>
          <a:p>
            <a:r>
              <a:rPr lang="en-US" b="1" dirty="0" err="1">
                <a:solidFill>
                  <a:srgbClr val="C00000"/>
                </a:solidFill>
              </a:rPr>
              <a:t>Keras</a:t>
            </a:r>
            <a:endParaRPr lang="en-US" b="1" dirty="0">
              <a:solidFill>
                <a:srgbClr val="C00000"/>
              </a:solidFill>
            </a:endParaRPr>
          </a:p>
          <a:p>
            <a:r>
              <a:rPr lang="en-US" dirty="0"/>
              <a:t>Originally an independent library, </a:t>
            </a:r>
            <a:r>
              <a:rPr lang="en-US" dirty="0" err="1">
                <a:solidFill>
                  <a:srgbClr val="C00000"/>
                </a:solidFill>
              </a:rPr>
              <a:t>Keras</a:t>
            </a:r>
            <a:r>
              <a:rPr lang="en-US" dirty="0">
                <a:solidFill>
                  <a:srgbClr val="C00000"/>
                </a:solidFill>
              </a:rPr>
              <a:t> is now integrated into TensorFlow </a:t>
            </a:r>
            <a:r>
              <a:rPr lang="en-US" dirty="0"/>
              <a:t>as </a:t>
            </a:r>
            <a:r>
              <a:rPr lang="en-US" dirty="0" err="1"/>
              <a:t>tf.keras</a:t>
            </a:r>
            <a:r>
              <a:rPr lang="en-US" dirty="0"/>
              <a:t>.</a:t>
            </a:r>
          </a:p>
          <a:p>
            <a:r>
              <a:rPr lang="en-US" dirty="0"/>
              <a:t>It provides a </a:t>
            </a:r>
            <a:r>
              <a:rPr lang="en-US" dirty="0">
                <a:solidFill>
                  <a:srgbClr val="C00000"/>
                </a:solidFill>
              </a:rPr>
              <a:t>user-friendly, high-level API for building deep learning models quickly</a:t>
            </a:r>
            <a:r>
              <a:rPr lang="en-US" dirty="0"/>
              <a:t>.</a:t>
            </a:r>
          </a:p>
          <a:p>
            <a:r>
              <a:rPr lang="en-US" dirty="0"/>
              <a:t>Offers modular and </a:t>
            </a:r>
            <a:r>
              <a:rPr lang="en-US" dirty="0">
                <a:solidFill>
                  <a:srgbClr val="C00000"/>
                </a:solidFill>
              </a:rPr>
              <a:t>extensible components, making it easy to build complex networks</a:t>
            </a:r>
            <a:r>
              <a:rPr lang="en-US" dirty="0"/>
              <a:t>.</a:t>
            </a:r>
          </a:p>
          <a:p>
            <a:pPr lvl="1"/>
            <a:endParaRPr lang="en-US" dirty="0"/>
          </a:p>
        </p:txBody>
      </p:sp>
    </p:spTree>
    <p:extLst>
      <p:ext uri="{BB962C8B-B14F-4D97-AF65-F5344CB8AC3E}">
        <p14:creationId xmlns:p14="http://schemas.microsoft.com/office/powerpoint/2010/main" val="986516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D05E4-2DB0-7429-1C16-FD9CD8DC1297}"/>
              </a:ext>
            </a:extLst>
          </p:cNvPr>
          <p:cNvSpPr>
            <a:spLocks noGrp="1"/>
          </p:cNvSpPr>
          <p:nvPr>
            <p:ph type="title"/>
          </p:nvPr>
        </p:nvSpPr>
        <p:spPr/>
        <p:txBody>
          <a:bodyPr/>
          <a:lstStyle/>
          <a:p>
            <a:r>
              <a:rPr lang="en-US" dirty="0" err="1"/>
              <a:t>Mnist</a:t>
            </a:r>
            <a:r>
              <a:rPr lang="en-US" dirty="0"/>
              <a:t> - Example</a:t>
            </a:r>
          </a:p>
        </p:txBody>
      </p:sp>
      <p:sp>
        <p:nvSpPr>
          <p:cNvPr id="4" name="Rectangle 3">
            <a:extLst>
              <a:ext uri="{FF2B5EF4-FFF2-40B4-BE49-F238E27FC236}">
                <a16:creationId xmlns:a16="http://schemas.microsoft.com/office/drawing/2014/main" id="{268D1938-51DF-B3D7-E270-A2112D1DA30B}"/>
              </a:ext>
            </a:extLst>
          </p:cNvPr>
          <p:cNvSpPr/>
          <p:nvPr/>
        </p:nvSpPr>
        <p:spPr>
          <a:xfrm>
            <a:off x="715063" y="1122101"/>
            <a:ext cx="11261866" cy="5262979"/>
          </a:xfrm>
          <a:prstGeom prst="rect">
            <a:avLst/>
          </a:prstGeom>
          <a:solidFill>
            <a:schemeClr val="bg1">
              <a:lumMod val="95000"/>
            </a:schemeClr>
          </a:solidFill>
          <a:ln>
            <a:noFill/>
          </a:ln>
        </p:spPr>
        <p:txBody>
          <a:bodyPr wrap="square">
            <a:spAutoFit/>
          </a:bodyPr>
          <a:lstStyle/>
          <a:p>
            <a:r>
              <a:rPr lang="en-IN" sz="1600" dirty="0">
                <a:solidFill>
                  <a:srgbClr val="AF00DB"/>
                </a:solidFill>
                <a:latin typeface="Consolas" panose="020B0609020204030204" pitchFamily="49" charset="0"/>
                <a:cs typeface="Consolas" panose="020B0609020204030204" pitchFamily="49" charset="0"/>
              </a:rPr>
              <a:t>import</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0000"/>
                </a:solidFill>
                <a:latin typeface="Consolas" panose="020B0609020204030204" pitchFamily="49" charset="0"/>
                <a:cs typeface="Consolas" panose="020B0609020204030204" pitchFamily="49" charset="0"/>
              </a:rPr>
              <a:t>tensorflow</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AF00DB"/>
                </a:solidFill>
                <a:latin typeface="Consolas" panose="020B0609020204030204" pitchFamily="49" charset="0"/>
                <a:cs typeface="Consolas" panose="020B0609020204030204" pitchFamily="49" charset="0"/>
              </a:rPr>
              <a:t>as</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267F99"/>
                </a:solidFill>
                <a:latin typeface="Consolas" panose="020B0609020204030204" pitchFamily="49" charset="0"/>
                <a:cs typeface="Consolas" panose="020B0609020204030204" pitchFamily="49" charset="0"/>
              </a:rPr>
              <a:t>tf</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AF00DB"/>
                </a:solidFill>
                <a:latin typeface="Consolas" panose="020B0609020204030204" pitchFamily="49" charset="0"/>
                <a:cs typeface="Consolas" panose="020B0609020204030204" pitchFamily="49" charset="0"/>
              </a:rPr>
              <a:t>from</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0000"/>
                </a:solidFill>
                <a:latin typeface="Consolas" panose="020B0609020204030204" pitchFamily="49" charset="0"/>
                <a:cs typeface="Consolas" panose="020B0609020204030204" pitchFamily="49" charset="0"/>
              </a:rPr>
              <a:t>tensorflow</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AF00DB"/>
                </a:solidFill>
                <a:latin typeface="Consolas" panose="020B0609020204030204" pitchFamily="49" charset="0"/>
                <a:cs typeface="Consolas" panose="020B0609020204030204" pitchFamily="49" charset="0"/>
              </a:rPr>
              <a:t>import</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0000"/>
                </a:solidFill>
                <a:latin typeface="Consolas" panose="020B0609020204030204" pitchFamily="49" charset="0"/>
                <a:cs typeface="Consolas" panose="020B0609020204030204" pitchFamily="49" charset="0"/>
              </a:rPr>
              <a:t>keras</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AF00DB"/>
                </a:solidFill>
                <a:latin typeface="Consolas" panose="020B0609020204030204" pitchFamily="49" charset="0"/>
                <a:cs typeface="Consolas" panose="020B0609020204030204" pitchFamily="49" charset="0"/>
              </a:rPr>
              <a:t>import</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267F99"/>
                </a:solidFill>
                <a:latin typeface="Consolas" panose="020B0609020204030204" pitchFamily="49" charset="0"/>
                <a:cs typeface="Consolas" panose="020B0609020204030204" pitchFamily="49" charset="0"/>
              </a:rPr>
              <a:t>matplotlib</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267F99"/>
                </a:solidFill>
                <a:latin typeface="Consolas" panose="020B0609020204030204" pitchFamily="49" charset="0"/>
                <a:cs typeface="Consolas" panose="020B0609020204030204" pitchFamily="49" charset="0"/>
              </a:rPr>
              <a:t>pyplot</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AF00DB"/>
                </a:solidFill>
                <a:latin typeface="Consolas" panose="020B0609020204030204" pitchFamily="49" charset="0"/>
                <a:cs typeface="Consolas" panose="020B0609020204030204" pitchFamily="49" charset="0"/>
              </a:rPr>
              <a:t>as</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267F99"/>
                </a:solidFill>
                <a:latin typeface="Consolas" panose="020B0609020204030204" pitchFamily="49" charset="0"/>
                <a:cs typeface="Consolas" panose="020B0609020204030204" pitchFamily="49" charset="0"/>
              </a:rPr>
              <a:t>plt</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a:solidFill>
                  <a:srgbClr val="000000"/>
                </a:solidFill>
                <a:latin typeface="Consolas" panose="020B0609020204030204" pitchFamily="49" charset="0"/>
                <a:cs typeface="Consolas" panose="020B0609020204030204" pitchFamily="49" charset="0"/>
              </a:rPr>
              <a:t>(</a:t>
            </a:r>
            <a:r>
              <a:rPr lang="en-IN" sz="1600" dirty="0" err="1">
                <a:solidFill>
                  <a:srgbClr val="001080"/>
                </a:solidFill>
                <a:latin typeface="Consolas" panose="020B0609020204030204" pitchFamily="49" charset="0"/>
                <a:cs typeface="Consolas" panose="020B0609020204030204" pitchFamily="49" charset="0"/>
              </a:rPr>
              <a:t>x_train</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y_train</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x_test</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y_test</a:t>
            </a:r>
            <a:r>
              <a:rPr lang="en-IN" sz="1600" dirty="0">
                <a:solidFill>
                  <a:srgbClr val="000000"/>
                </a:solidFill>
                <a:latin typeface="Consolas" panose="020B0609020204030204" pitchFamily="49" charset="0"/>
                <a:cs typeface="Consolas" panose="020B0609020204030204" pitchFamily="49" charset="0"/>
              </a:rPr>
              <a:t>) = </a:t>
            </a:r>
            <a:r>
              <a:rPr lang="en-IN" sz="1600" dirty="0" err="1">
                <a:solidFill>
                  <a:srgbClr val="000000"/>
                </a:solidFill>
                <a:latin typeface="Consolas" panose="020B0609020204030204" pitchFamily="49" charset="0"/>
                <a:cs typeface="Consolas" panose="020B0609020204030204" pitchFamily="49" charset="0"/>
              </a:rPr>
              <a:t>keras.datasets.mnist.load_data</a:t>
            </a:r>
            <a:r>
              <a:rPr lang="en-IN" sz="1600" dirty="0">
                <a:solidFill>
                  <a:srgbClr val="000000"/>
                </a:solidFill>
                <a:latin typeface="Consolas" panose="020B0609020204030204" pitchFamily="49" charset="0"/>
                <a:cs typeface="Consolas" panose="020B0609020204030204" pitchFamily="49" charset="0"/>
              </a:rPr>
              <a:t>()</a:t>
            </a:r>
            <a:br>
              <a:rPr lang="en-IN" sz="1600" dirty="0">
                <a:solidFill>
                  <a:srgbClr val="000000"/>
                </a:solidFill>
                <a:latin typeface="Consolas" panose="020B0609020204030204" pitchFamily="49" charset="0"/>
                <a:cs typeface="Consolas" panose="020B0609020204030204" pitchFamily="49" charset="0"/>
              </a:rPr>
            </a:br>
            <a:r>
              <a:rPr lang="en-IN" sz="1600" dirty="0" err="1">
                <a:solidFill>
                  <a:srgbClr val="001080"/>
                </a:solidFill>
                <a:latin typeface="Consolas" panose="020B0609020204030204" pitchFamily="49" charset="0"/>
                <a:cs typeface="Consolas" panose="020B0609020204030204" pitchFamily="49" charset="0"/>
              </a:rPr>
              <a:t>x_train</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x_test</a:t>
            </a:r>
            <a:r>
              <a:rPr lang="en-IN" sz="1600" dirty="0">
                <a:solidFill>
                  <a:srgbClr val="000000"/>
                </a:solidFill>
                <a:latin typeface="Consolas" panose="020B0609020204030204" pitchFamily="49" charset="0"/>
                <a:cs typeface="Consolas" panose="020B0609020204030204" pitchFamily="49" charset="0"/>
              </a:rPr>
              <a:t> = </a:t>
            </a:r>
            <a:r>
              <a:rPr lang="en-IN" sz="1600" dirty="0" err="1">
                <a:solidFill>
                  <a:srgbClr val="001080"/>
                </a:solidFill>
                <a:latin typeface="Consolas" panose="020B0609020204030204" pitchFamily="49" charset="0"/>
                <a:cs typeface="Consolas" panose="020B0609020204030204" pitchFamily="49" charset="0"/>
              </a:rPr>
              <a:t>x_train</a:t>
            </a:r>
            <a:r>
              <a:rPr lang="en-IN" sz="1600" dirty="0">
                <a:solidFill>
                  <a:srgbClr val="000000"/>
                </a:solidFill>
                <a:latin typeface="Consolas" panose="020B0609020204030204" pitchFamily="49" charset="0"/>
                <a:cs typeface="Consolas" panose="020B0609020204030204" pitchFamily="49" charset="0"/>
              </a:rPr>
              <a:t> / </a:t>
            </a:r>
            <a:r>
              <a:rPr lang="en-IN" sz="1600" dirty="0">
                <a:solidFill>
                  <a:srgbClr val="098658"/>
                </a:solidFill>
                <a:latin typeface="Consolas" panose="020B0609020204030204" pitchFamily="49" charset="0"/>
                <a:cs typeface="Consolas" panose="020B0609020204030204" pitchFamily="49" charset="0"/>
              </a:rPr>
              <a:t>255.0</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x_test</a:t>
            </a:r>
            <a:r>
              <a:rPr lang="en-IN" sz="1600" dirty="0">
                <a:solidFill>
                  <a:srgbClr val="000000"/>
                </a:solidFill>
                <a:latin typeface="Consolas" panose="020B0609020204030204" pitchFamily="49" charset="0"/>
                <a:cs typeface="Consolas" panose="020B0609020204030204" pitchFamily="49" charset="0"/>
              </a:rPr>
              <a:t> / </a:t>
            </a:r>
            <a:r>
              <a:rPr lang="en-IN" sz="1600" dirty="0">
                <a:solidFill>
                  <a:srgbClr val="098658"/>
                </a:solidFill>
                <a:latin typeface="Consolas" panose="020B0609020204030204" pitchFamily="49" charset="0"/>
                <a:cs typeface="Consolas" panose="020B0609020204030204" pitchFamily="49" charset="0"/>
              </a:rPr>
              <a:t>255.0</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a:solidFill>
                  <a:srgbClr val="001080"/>
                </a:solidFill>
                <a:latin typeface="Consolas" panose="020B0609020204030204" pitchFamily="49" charset="0"/>
                <a:cs typeface="Consolas" panose="020B0609020204030204" pitchFamily="49" charset="0"/>
              </a:rPr>
              <a:t>model</a:t>
            </a:r>
            <a:r>
              <a:rPr lang="en-IN" sz="1600" dirty="0">
                <a:solidFill>
                  <a:srgbClr val="000000"/>
                </a:solidFill>
                <a:latin typeface="Consolas" panose="020B0609020204030204" pitchFamily="49" charset="0"/>
                <a:cs typeface="Consolas" panose="020B0609020204030204" pitchFamily="49" charset="0"/>
              </a:rPr>
              <a:t> = </a:t>
            </a:r>
            <a:r>
              <a:rPr lang="en-IN" sz="1600" dirty="0" err="1">
                <a:solidFill>
                  <a:srgbClr val="000000"/>
                </a:solidFill>
                <a:latin typeface="Consolas" panose="020B0609020204030204" pitchFamily="49" charset="0"/>
                <a:cs typeface="Consolas" panose="020B0609020204030204" pitchFamily="49" charset="0"/>
              </a:rPr>
              <a:t>keras.Sequential</a:t>
            </a:r>
            <a:r>
              <a:rPr lang="en-IN" sz="1600" dirty="0">
                <a:solidFill>
                  <a:srgbClr val="000000"/>
                </a:solidFill>
                <a:latin typeface="Consolas" panose="020B0609020204030204" pitchFamily="49" charset="0"/>
                <a:cs typeface="Consolas" panose="020B0609020204030204" pitchFamily="49" charset="0"/>
              </a:rPr>
              <a:t>([</a:t>
            </a:r>
          </a:p>
          <a:p>
            <a:r>
              <a:rPr lang="en-IN" sz="1600" dirty="0" err="1">
                <a:solidFill>
                  <a:srgbClr val="000000"/>
                </a:solidFill>
                <a:latin typeface="Consolas" panose="020B0609020204030204" pitchFamily="49" charset="0"/>
                <a:cs typeface="Consolas" panose="020B0609020204030204" pitchFamily="49" charset="0"/>
              </a:rPr>
              <a:t>keras.layers.Flatten</a:t>
            </a:r>
            <a:r>
              <a:rPr lang="en-IN" sz="1600" dirty="0">
                <a:solidFill>
                  <a:srgbClr val="000000"/>
                </a:solidFill>
                <a:latin typeface="Consolas" panose="020B0609020204030204" pitchFamily="49" charset="0"/>
                <a:cs typeface="Consolas" panose="020B0609020204030204" pitchFamily="49" charset="0"/>
              </a:rPr>
              <a:t>(</a:t>
            </a:r>
            <a:r>
              <a:rPr lang="en-IN" sz="1600" dirty="0" err="1">
                <a:solidFill>
                  <a:srgbClr val="001080"/>
                </a:solidFill>
                <a:latin typeface="Consolas" panose="020B0609020204030204" pitchFamily="49" charset="0"/>
                <a:cs typeface="Consolas" panose="020B0609020204030204" pitchFamily="49" charset="0"/>
              </a:rPr>
              <a:t>input_shape</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28</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98658"/>
                </a:solidFill>
                <a:latin typeface="Consolas" panose="020B0609020204030204" pitchFamily="49" charset="0"/>
                <a:cs typeface="Consolas" panose="020B0609020204030204" pitchFamily="49" charset="0"/>
              </a:rPr>
              <a:t>28</a:t>
            </a:r>
            <a:r>
              <a:rPr lang="en-IN" sz="1600" dirty="0">
                <a:solidFill>
                  <a:srgbClr val="000000"/>
                </a:solidFill>
                <a:latin typeface="Consolas" panose="020B0609020204030204" pitchFamily="49" charset="0"/>
                <a:cs typeface="Consolas" panose="020B0609020204030204" pitchFamily="49" charset="0"/>
              </a:rPr>
              <a:t>)), </a:t>
            </a:r>
          </a:p>
          <a:p>
            <a:r>
              <a:rPr lang="en-IN" sz="1600" dirty="0" err="1">
                <a:solidFill>
                  <a:srgbClr val="000000"/>
                </a:solidFill>
                <a:latin typeface="Consolas" panose="020B0609020204030204" pitchFamily="49" charset="0"/>
                <a:cs typeface="Consolas" panose="020B0609020204030204" pitchFamily="49" charset="0"/>
              </a:rPr>
              <a:t>keras.layers.Dense</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128</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1080"/>
                </a:solidFill>
                <a:latin typeface="Consolas" panose="020B0609020204030204" pitchFamily="49" charset="0"/>
                <a:cs typeface="Consolas" panose="020B0609020204030204" pitchFamily="49" charset="0"/>
              </a:rPr>
              <a:t>activation</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relu</a:t>
            </a:r>
            <a:r>
              <a:rPr lang="en-IN" sz="1600" dirty="0">
                <a:solidFill>
                  <a:srgbClr val="A31515"/>
                </a:solidFill>
                <a:latin typeface="Consolas" panose="020B0609020204030204" pitchFamily="49" charset="0"/>
                <a:cs typeface="Consolas" panose="020B0609020204030204" pitchFamily="49" charset="0"/>
              </a:rPr>
              <a:t>'</a:t>
            </a:r>
            <a:r>
              <a:rPr lang="en-IN" sz="1600" dirty="0">
                <a:solidFill>
                  <a:srgbClr val="000000"/>
                </a:solidFill>
                <a:latin typeface="Consolas" panose="020B0609020204030204" pitchFamily="49" charset="0"/>
                <a:cs typeface="Consolas" panose="020B0609020204030204" pitchFamily="49" charset="0"/>
              </a:rPr>
              <a:t>), </a:t>
            </a:r>
          </a:p>
          <a:p>
            <a:r>
              <a:rPr lang="en-IN" sz="1600" dirty="0" err="1">
                <a:solidFill>
                  <a:srgbClr val="000000"/>
                </a:solidFill>
                <a:latin typeface="Consolas" panose="020B0609020204030204" pitchFamily="49" charset="0"/>
                <a:cs typeface="Consolas" panose="020B0609020204030204" pitchFamily="49" charset="0"/>
              </a:rPr>
              <a:t>keras.layers.Dense</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10</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1080"/>
                </a:solidFill>
                <a:latin typeface="Consolas" panose="020B0609020204030204" pitchFamily="49" charset="0"/>
                <a:cs typeface="Consolas" panose="020B0609020204030204" pitchFamily="49" charset="0"/>
              </a:rPr>
              <a:t>activation</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softmax</a:t>
            </a:r>
            <a:r>
              <a:rPr lang="en-IN" sz="1600" dirty="0">
                <a:solidFill>
                  <a:srgbClr val="A31515"/>
                </a:solidFill>
                <a:latin typeface="Consolas" panose="020B0609020204030204" pitchFamily="49" charset="0"/>
                <a:cs typeface="Consolas" panose="020B0609020204030204" pitchFamily="49" charset="0"/>
              </a:rPr>
              <a:t>'</a:t>
            </a:r>
            <a:r>
              <a:rPr lang="en-IN" sz="1600" dirty="0">
                <a:solidFill>
                  <a:srgbClr val="000000"/>
                </a:solidFill>
                <a:latin typeface="Consolas" panose="020B0609020204030204" pitchFamily="49" charset="0"/>
                <a:cs typeface="Consolas" panose="020B0609020204030204" pitchFamily="49" charset="0"/>
              </a:rPr>
              <a:t>) </a:t>
            </a:r>
          </a:p>
          <a:p>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err="1">
                <a:solidFill>
                  <a:srgbClr val="001080"/>
                </a:solidFill>
                <a:latin typeface="Consolas" panose="020B0609020204030204" pitchFamily="49" charset="0"/>
                <a:cs typeface="Consolas" panose="020B0609020204030204" pitchFamily="49" charset="0"/>
              </a:rPr>
              <a:t>model</a:t>
            </a:r>
            <a:r>
              <a:rPr lang="en-IN" sz="1600" dirty="0" err="1">
                <a:solidFill>
                  <a:srgbClr val="000000"/>
                </a:solidFill>
                <a:latin typeface="Consolas" panose="020B0609020204030204" pitchFamily="49" charset="0"/>
                <a:cs typeface="Consolas" panose="020B0609020204030204" pitchFamily="49" charset="0"/>
              </a:rPr>
              <a:t>.compile</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01080"/>
                </a:solidFill>
                <a:latin typeface="Consolas" panose="020B0609020204030204" pitchFamily="49" charset="0"/>
                <a:cs typeface="Consolas" panose="020B0609020204030204" pitchFamily="49" charset="0"/>
              </a:rPr>
              <a:t>optimizer</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adam</a:t>
            </a:r>
            <a:r>
              <a:rPr lang="en-IN" sz="1600" dirty="0">
                <a:solidFill>
                  <a:srgbClr val="A31515"/>
                </a:solidFill>
                <a:latin typeface="Consolas" panose="020B0609020204030204" pitchFamily="49" charset="0"/>
                <a:cs typeface="Consolas" panose="020B0609020204030204" pitchFamily="49" charset="0"/>
              </a:rPr>
              <a:t>'</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1080"/>
                </a:solidFill>
                <a:latin typeface="Consolas" panose="020B0609020204030204" pitchFamily="49" charset="0"/>
                <a:cs typeface="Consolas" panose="020B0609020204030204" pitchFamily="49" charset="0"/>
              </a:rPr>
              <a:t>loss</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sparse_categorical_crossentropy</a:t>
            </a:r>
            <a:r>
              <a:rPr lang="en-IN" sz="1600" dirty="0">
                <a:solidFill>
                  <a:srgbClr val="A31515"/>
                </a:solidFill>
                <a:latin typeface="Consolas" panose="020B0609020204030204" pitchFamily="49" charset="0"/>
                <a:cs typeface="Consolas" panose="020B0609020204030204" pitchFamily="49" charset="0"/>
              </a:rPr>
              <a:t>'</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1080"/>
                </a:solidFill>
                <a:latin typeface="Consolas" panose="020B0609020204030204" pitchFamily="49" charset="0"/>
                <a:cs typeface="Consolas" panose="020B0609020204030204" pitchFamily="49" charset="0"/>
              </a:rPr>
              <a:t>metrics</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'accuracy'</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err="1">
                <a:solidFill>
                  <a:srgbClr val="001080"/>
                </a:solidFill>
                <a:latin typeface="Consolas" panose="020B0609020204030204" pitchFamily="49" charset="0"/>
                <a:cs typeface="Consolas" panose="020B0609020204030204" pitchFamily="49" charset="0"/>
              </a:rPr>
              <a:t>model</a:t>
            </a:r>
            <a:r>
              <a:rPr lang="en-IN" sz="1600" dirty="0" err="1">
                <a:solidFill>
                  <a:srgbClr val="000000"/>
                </a:solidFill>
                <a:latin typeface="Consolas" panose="020B0609020204030204" pitchFamily="49" charset="0"/>
                <a:cs typeface="Consolas" panose="020B0609020204030204" pitchFamily="49" charset="0"/>
              </a:rPr>
              <a:t>.fit</a:t>
            </a:r>
            <a:r>
              <a:rPr lang="en-IN" sz="1600" dirty="0">
                <a:solidFill>
                  <a:srgbClr val="000000"/>
                </a:solidFill>
                <a:latin typeface="Consolas" panose="020B0609020204030204" pitchFamily="49" charset="0"/>
                <a:cs typeface="Consolas" panose="020B0609020204030204" pitchFamily="49" charset="0"/>
              </a:rPr>
              <a:t>(</a:t>
            </a:r>
            <a:r>
              <a:rPr lang="en-IN" sz="1600" dirty="0" err="1">
                <a:solidFill>
                  <a:srgbClr val="001080"/>
                </a:solidFill>
                <a:latin typeface="Consolas" panose="020B0609020204030204" pitchFamily="49" charset="0"/>
                <a:cs typeface="Consolas" panose="020B0609020204030204" pitchFamily="49" charset="0"/>
              </a:rPr>
              <a:t>x_train</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y_train</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1080"/>
                </a:solidFill>
                <a:latin typeface="Consolas" panose="020B0609020204030204" pitchFamily="49" charset="0"/>
                <a:cs typeface="Consolas" panose="020B0609020204030204" pitchFamily="49" charset="0"/>
              </a:rPr>
              <a:t>epochs</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50</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err="1">
                <a:solidFill>
                  <a:srgbClr val="001080"/>
                </a:solidFill>
                <a:latin typeface="Consolas" panose="020B0609020204030204" pitchFamily="49" charset="0"/>
                <a:cs typeface="Consolas" panose="020B0609020204030204" pitchFamily="49" charset="0"/>
              </a:rPr>
              <a:t>test_loss</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test_acc</a:t>
            </a:r>
            <a:r>
              <a:rPr lang="en-IN" sz="1600" dirty="0">
                <a:solidFill>
                  <a:srgbClr val="000000"/>
                </a:solidFill>
                <a:latin typeface="Consolas" panose="020B0609020204030204" pitchFamily="49" charset="0"/>
                <a:cs typeface="Consolas" panose="020B0609020204030204" pitchFamily="49" charset="0"/>
              </a:rPr>
              <a:t> = </a:t>
            </a:r>
            <a:r>
              <a:rPr lang="en-IN" sz="1600" dirty="0" err="1">
                <a:solidFill>
                  <a:srgbClr val="001080"/>
                </a:solidFill>
                <a:latin typeface="Consolas" panose="020B0609020204030204" pitchFamily="49" charset="0"/>
                <a:cs typeface="Consolas" panose="020B0609020204030204" pitchFamily="49" charset="0"/>
              </a:rPr>
              <a:t>model</a:t>
            </a:r>
            <a:r>
              <a:rPr lang="en-IN" sz="1600" dirty="0" err="1">
                <a:solidFill>
                  <a:srgbClr val="000000"/>
                </a:solidFill>
                <a:latin typeface="Consolas" panose="020B0609020204030204" pitchFamily="49" charset="0"/>
                <a:cs typeface="Consolas" panose="020B0609020204030204" pitchFamily="49" charset="0"/>
              </a:rPr>
              <a:t>.evaluate</a:t>
            </a:r>
            <a:r>
              <a:rPr lang="en-IN" sz="1600" dirty="0">
                <a:solidFill>
                  <a:srgbClr val="000000"/>
                </a:solidFill>
                <a:latin typeface="Consolas" panose="020B0609020204030204" pitchFamily="49" charset="0"/>
                <a:cs typeface="Consolas" panose="020B0609020204030204" pitchFamily="49" charset="0"/>
              </a:rPr>
              <a:t>(</a:t>
            </a:r>
            <a:r>
              <a:rPr lang="en-IN" sz="1600" dirty="0" err="1">
                <a:solidFill>
                  <a:srgbClr val="001080"/>
                </a:solidFill>
                <a:latin typeface="Consolas" panose="020B0609020204030204" pitchFamily="49" charset="0"/>
                <a:cs typeface="Consolas" panose="020B0609020204030204" pitchFamily="49" charset="0"/>
              </a:rPr>
              <a:t>x_test</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y_test</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795E26"/>
                </a:solidFill>
                <a:latin typeface="Consolas" panose="020B0609020204030204" pitchFamily="49" charset="0"/>
                <a:cs typeface="Consolas" panose="020B0609020204030204" pitchFamily="49" charset="0"/>
              </a:rPr>
              <a:t>print</a:t>
            </a:r>
            <a:r>
              <a:rPr lang="en-IN" sz="1600" dirty="0">
                <a:solidFill>
                  <a:srgbClr val="000000"/>
                </a:solidFill>
                <a:latin typeface="Consolas" panose="020B0609020204030204" pitchFamily="49" charset="0"/>
                <a:cs typeface="Consolas" panose="020B0609020204030204" pitchFamily="49" charset="0"/>
              </a:rPr>
              <a:t>(</a:t>
            </a:r>
            <a:r>
              <a:rPr lang="en-IN" sz="1600" dirty="0" err="1">
                <a:solidFill>
                  <a:srgbClr val="0000FF"/>
                </a:solidFill>
                <a:latin typeface="Consolas" panose="020B0609020204030204" pitchFamily="49" charset="0"/>
                <a:cs typeface="Consolas" panose="020B0609020204030204" pitchFamily="49" charset="0"/>
              </a:rPr>
              <a:t>f</a:t>
            </a:r>
            <a:r>
              <a:rPr lang="en-IN" sz="1600" dirty="0" err="1">
                <a:solidFill>
                  <a:srgbClr val="A31515"/>
                </a:solidFill>
                <a:latin typeface="Consolas" panose="020B0609020204030204" pitchFamily="49" charset="0"/>
                <a:cs typeface="Consolas" panose="020B0609020204030204" pitchFamily="49" charset="0"/>
              </a:rPr>
              <a:t>"Test</a:t>
            </a:r>
            <a:r>
              <a:rPr lang="en-IN" sz="1600" dirty="0">
                <a:solidFill>
                  <a:srgbClr val="A31515"/>
                </a:solidFill>
                <a:latin typeface="Consolas" panose="020B0609020204030204" pitchFamily="49" charset="0"/>
                <a:cs typeface="Consolas" panose="020B0609020204030204" pitchFamily="49" charset="0"/>
              </a:rPr>
              <a:t> Accuracy: </a:t>
            </a:r>
            <a:r>
              <a:rPr lang="en-IN" sz="1600" dirty="0">
                <a:solidFill>
                  <a:srgbClr val="0000FF"/>
                </a:solidFill>
                <a:latin typeface="Consolas" panose="020B0609020204030204" pitchFamily="49" charset="0"/>
                <a:cs typeface="Consolas" panose="020B0609020204030204" pitchFamily="49" charset="0"/>
              </a:rPr>
              <a:t>{</a:t>
            </a:r>
            <a:r>
              <a:rPr lang="en-IN" sz="1600" dirty="0">
                <a:solidFill>
                  <a:srgbClr val="001080"/>
                </a:solidFill>
                <a:latin typeface="Consolas" panose="020B0609020204030204" pitchFamily="49" charset="0"/>
                <a:cs typeface="Consolas" panose="020B0609020204030204" pitchFamily="49" charset="0"/>
              </a:rPr>
              <a:t>test_acc</a:t>
            </a:r>
            <a:r>
              <a:rPr lang="en-IN" sz="1600" dirty="0">
                <a:solidFill>
                  <a:srgbClr val="0000FF"/>
                </a:solidFill>
                <a:latin typeface="Consolas" panose="020B0609020204030204" pitchFamily="49" charset="0"/>
                <a:cs typeface="Consolas" panose="020B0609020204030204" pitchFamily="49" charset="0"/>
              </a:rPr>
              <a:t>:.4f}</a:t>
            </a:r>
            <a:r>
              <a:rPr lang="en-IN" sz="1600" dirty="0">
                <a:solidFill>
                  <a:srgbClr val="A31515"/>
                </a:solidFill>
                <a:latin typeface="Consolas" panose="020B0609020204030204" pitchFamily="49" charset="0"/>
                <a:cs typeface="Consolas" panose="020B0609020204030204" pitchFamily="49" charset="0"/>
              </a:rPr>
              <a:t>"</a:t>
            </a:r>
            <a:r>
              <a:rPr lang="en-IN" sz="1600" dirty="0">
                <a:solidFill>
                  <a:srgbClr val="000000"/>
                </a:solidFill>
                <a:latin typeface="Consolas" panose="020B0609020204030204" pitchFamily="49" charset="0"/>
                <a:cs typeface="Consolas" panose="020B0609020204030204" pitchFamily="49" charset="0"/>
              </a:rPr>
              <a:t>)</a:t>
            </a:r>
          </a:p>
        </p:txBody>
      </p:sp>
      <p:sp>
        <p:nvSpPr>
          <p:cNvPr id="5" name="Rectangle 4">
            <a:extLst>
              <a:ext uri="{FF2B5EF4-FFF2-40B4-BE49-F238E27FC236}">
                <a16:creationId xmlns:a16="http://schemas.microsoft.com/office/drawing/2014/main" id="{17916B16-B24C-EDD3-15DF-29EB92ED0D4E}"/>
              </a:ext>
            </a:extLst>
          </p:cNvPr>
          <p:cNvSpPr/>
          <p:nvPr/>
        </p:nvSpPr>
        <p:spPr>
          <a:xfrm>
            <a:off x="215071" y="1122101"/>
            <a:ext cx="499993" cy="5262979"/>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a:p>
            <a:pPr algn="r"/>
            <a:r>
              <a:rPr lang="en-IN" sz="1600" b="1" dirty="0">
                <a:solidFill>
                  <a:schemeClr val="tx1">
                    <a:lumMod val="75000"/>
                    <a:lumOff val="25000"/>
                  </a:schemeClr>
                </a:solidFill>
                <a:latin typeface="Consolas" panose="020B0609020204030204" pitchFamily="49" charset="0"/>
              </a:rPr>
              <a:t>9</a:t>
            </a:r>
          </a:p>
          <a:p>
            <a:pPr algn="r"/>
            <a:r>
              <a:rPr lang="en-IN" sz="1600" b="1" dirty="0">
                <a:solidFill>
                  <a:schemeClr val="tx1">
                    <a:lumMod val="75000"/>
                    <a:lumOff val="25000"/>
                  </a:schemeClr>
                </a:solidFill>
                <a:latin typeface="Consolas" panose="020B0609020204030204" pitchFamily="49" charset="0"/>
              </a:rPr>
              <a:t>10</a:t>
            </a:r>
          </a:p>
          <a:p>
            <a:pPr algn="r"/>
            <a:r>
              <a:rPr lang="en-IN" sz="1600" b="1" dirty="0">
                <a:solidFill>
                  <a:schemeClr val="tx1">
                    <a:lumMod val="75000"/>
                    <a:lumOff val="25000"/>
                  </a:schemeClr>
                </a:solidFill>
                <a:latin typeface="Consolas" panose="020B0609020204030204" pitchFamily="49" charset="0"/>
              </a:rPr>
              <a:t>11</a:t>
            </a:r>
          </a:p>
          <a:p>
            <a:pPr algn="r"/>
            <a:r>
              <a:rPr lang="en-IN" sz="1600" b="1" dirty="0">
                <a:solidFill>
                  <a:schemeClr val="tx1">
                    <a:lumMod val="75000"/>
                    <a:lumOff val="25000"/>
                  </a:schemeClr>
                </a:solidFill>
                <a:latin typeface="Consolas" panose="020B0609020204030204" pitchFamily="49" charset="0"/>
              </a:rPr>
              <a:t>12</a:t>
            </a:r>
          </a:p>
          <a:p>
            <a:pPr algn="r"/>
            <a:r>
              <a:rPr lang="en-IN" sz="1600" b="1" dirty="0">
                <a:solidFill>
                  <a:schemeClr val="tx1">
                    <a:lumMod val="75000"/>
                    <a:lumOff val="25000"/>
                  </a:schemeClr>
                </a:solidFill>
                <a:latin typeface="Consolas" panose="020B0609020204030204" pitchFamily="49" charset="0"/>
              </a:rPr>
              <a:t>13</a:t>
            </a:r>
          </a:p>
          <a:p>
            <a:pPr algn="r"/>
            <a:r>
              <a:rPr lang="en-IN" sz="1600" b="1" dirty="0">
                <a:solidFill>
                  <a:schemeClr val="tx1">
                    <a:lumMod val="75000"/>
                    <a:lumOff val="25000"/>
                  </a:schemeClr>
                </a:solidFill>
                <a:latin typeface="Consolas" panose="020B0609020204030204" pitchFamily="49" charset="0"/>
              </a:rPr>
              <a:t>14</a:t>
            </a:r>
          </a:p>
          <a:p>
            <a:pPr algn="r"/>
            <a:r>
              <a:rPr lang="en-IN" sz="1600" b="1" dirty="0">
                <a:solidFill>
                  <a:schemeClr val="tx1">
                    <a:lumMod val="75000"/>
                    <a:lumOff val="25000"/>
                  </a:schemeClr>
                </a:solidFill>
                <a:latin typeface="Consolas" panose="020B0609020204030204" pitchFamily="49" charset="0"/>
              </a:rPr>
              <a:t>15</a:t>
            </a:r>
          </a:p>
          <a:p>
            <a:pPr algn="r"/>
            <a:r>
              <a:rPr lang="en-IN" sz="1600" b="1" dirty="0">
                <a:solidFill>
                  <a:schemeClr val="tx1">
                    <a:lumMod val="75000"/>
                    <a:lumOff val="25000"/>
                  </a:schemeClr>
                </a:solidFill>
                <a:latin typeface="Consolas" panose="020B0609020204030204" pitchFamily="49" charset="0"/>
              </a:rPr>
              <a:t>16</a:t>
            </a:r>
          </a:p>
          <a:p>
            <a:pPr algn="r"/>
            <a:r>
              <a:rPr lang="en-IN" sz="1600" b="1" dirty="0">
                <a:solidFill>
                  <a:schemeClr val="tx1">
                    <a:lumMod val="75000"/>
                    <a:lumOff val="25000"/>
                  </a:schemeClr>
                </a:solidFill>
                <a:latin typeface="Consolas" panose="020B0609020204030204" pitchFamily="49" charset="0"/>
              </a:rPr>
              <a:t>17</a:t>
            </a:r>
          </a:p>
          <a:p>
            <a:pPr algn="r"/>
            <a:r>
              <a:rPr lang="en-IN" sz="1600" b="1" dirty="0">
                <a:solidFill>
                  <a:schemeClr val="tx1">
                    <a:lumMod val="75000"/>
                    <a:lumOff val="25000"/>
                  </a:schemeClr>
                </a:solidFill>
                <a:latin typeface="Consolas" panose="020B0609020204030204" pitchFamily="49" charset="0"/>
              </a:rPr>
              <a:t>18</a:t>
            </a:r>
          </a:p>
          <a:p>
            <a:pPr algn="r"/>
            <a:r>
              <a:rPr lang="en-IN" sz="1600" b="1" dirty="0">
                <a:solidFill>
                  <a:schemeClr val="tx1">
                    <a:lumMod val="75000"/>
                    <a:lumOff val="25000"/>
                  </a:schemeClr>
                </a:solidFill>
                <a:latin typeface="Consolas" panose="020B0609020204030204" pitchFamily="49" charset="0"/>
              </a:rPr>
              <a:t>19</a:t>
            </a:r>
          </a:p>
          <a:p>
            <a:pPr algn="r"/>
            <a:r>
              <a:rPr lang="en-IN" sz="1600" b="1" dirty="0">
                <a:solidFill>
                  <a:schemeClr val="tx1">
                    <a:lumMod val="75000"/>
                    <a:lumOff val="25000"/>
                  </a:schemeClr>
                </a:solidFill>
                <a:latin typeface="Consolas" panose="020B0609020204030204" pitchFamily="49" charset="0"/>
              </a:rPr>
              <a:t>20</a:t>
            </a:r>
          </a:p>
          <a:p>
            <a:pPr algn="r"/>
            <a:r>
              <a:rPr lang="en-IN" sz="1600" b="1" dirty="0">
                <a:solidFill>
                  <a:schemeClr val="tx1">
                    <a:lumMod val="75000"/>
                    <a:lumOff val="25000"/>
                  </a:schemeClr>
                </a:solidFill>
                <a:latin typeface="Consolas" panose="020B0609020204030204" pitchFamily="49" charset="0"/>
              </a:rPr>
              <a:t>21</a:t>
            </a:r>
          </a:p>
        </p:txBody>
      </p:sp>
      <p:sp>
        <p:nvSpPr>
          <p:cNvPr id="6" name="Rectangle: Top Corners Rounded 6">
            <a:extLst>
              <a:ext uri="{FF2B5EF4-FFF2-40B4-BE49-F238E27FC236}">
                <a16:creationId xmlns:a16="http://schemas.microsoft.com/office/drawing/2014/main" id="{CF40F74F-D6C4-F213-A0FA-1A94ABB1EEA8}"/>
              </a:ext>
            </a:extLst>
          </p:cNvPr>
          <p:cNvSpPr/>
          <p:nvPr/>
        </p:nvSpPr>
        <p:spPr>
          <a:xfrm>
            <a:off x="215071" y="792917"/>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t>mnist</a:t>
            </a:r>
            <a:r>
              <a:rPr lang="en-US" sz="1600" dirty="0" err="1">
                <a:solidFill>
                  <a:schemeClr val="bg1"/>
                </a:solidFill>
              </a:rPr>
              <a:t>.py</a:t>
            </a:r>
            <a:endParaRPr lang="en-US" sz="1600" dirty="0">
              <a:solidFill>
                <a:schemeClr val="bg1"/>
              </a:solidFill>
            </a:endParaRPr>
          </a:p>
        </p:txBody>
      </p:sp>
    </p:spTree>
    <p:extLst>
      <p:ext uri="{BB962C8B-B14F-4D97-AF65-F5344CB8AC3E}">
        <p14:creationId xmlns:p14="http://schemas.microsoft.com/office/powerpoint/2010/main" val="2437942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Deep Learning Architectures</a:t>
            </a:r>
          </a:p>
        </p:txBody>
      </p:sp>
      <p:sp>
        <p:nvSpPr>
          <p:cNvPr id="3" name="Content Placeholder 2"/>
          <p:cNvSpPr>
            <a:spLocks noGrp="1"/>
          </p:cNvSpPr>
          <p:nvPr>
            <p:ph idx="1"/>
          </p:nvPr>
        </p:nvSpPr>
        <p:spPr/>
        <p:txBody>
          <a:bodyPr/>
          <a:lstStyle/>
          <a:p>
            <a:r>
              <a:rPr lang="en-IN" dirty="0"/>
              <a:t>Some of the popular </a:t>
            </a:r>
            <a:r>
              <a:rPr lang="en-IN" dirty="0">
                <a:solidFill>
                  <a:srgbClr val="0070C0"/>
                </a:solidFill>
              </a:rPr>
              <a:t>Deep Learning architectures </a:t>
            </a:r>
            <a:r>
              <a:rPr lang="en-IN" dirty="0"/>
              <a:t>include:</a:t>
            </a:r>
          </a:p>
          <a:p>
            <a:pPr marL="1001712" lvl="1" indent="-457200">
              <a:buFont typeface="+mj-lt"/>
              <a:buAutoNum type="arabicPeriod"/>
            </a:pPr>
            <a:r>
              <a:rPr lang="en-IN" dirty="0"/>
              <a:t>Convolutional Neural Networks (CNNs)</a:t>
            </a:r>
          </a:p>
          <a:p>
            <a:pPr marL="1001712" lvl="1" indent="-457200">
              <a:buFont typeface="+mj-lt"/>
              <a:buAutoNum type="arabicPeriod"/>
            </a:pPr>
            <a:r>
              <a:rPr lang="en-IN" dirty="0"/>
              <a:t>Recurrent Neural Networks (RNNs)</a:t>
            </a:r>
          </a:p>
          <a:p>
            <a:pPr marL="1001712" lvl="1" indent="-457200">
              <a:buFont typeface="+mj-lt"/>
              <a:buAutoNum type="arabicPeriod"/>
            </a:pPr>
            <a:r>
              <a:rPr lang="en-IN" dirty="0"/>
              <a:t>Long Short-Term Memory (LSTM) </a:t>
            </a:r>
          </a:p>
        </p:txBody>
      </p:sp>
    </p:spTree>
    <p:extLst>
      <p:ext uri="{BB962C8B-B14F-4D97-AF65-F5344CB8AC3E}">
        <p14:creationId xmlns:p14="http://schemas.microsoft.com/office/powerpoint/2010/main" val="4016345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1. Convolutional Neural Networks (CNNs)</a:t>
            </a:r>
          </a:p>
        </p:txBody>
      </p:sp>
      <p:sp>
        <p:nvSpPr>
          <p:cNvPr id="3" name="Content Placeholder 2"/>
          <p:cNvSpPr>
            <a:spLocks noGrp="1"/>
          </p:cNvSpPr>
          <p:nvPr>
            <p:ph idx="1"/>
          </p:nvPr>
        </p:nvSpPr>
        <p:spPr/>
        <p:txBody>
          <a:bodyPr/>
          <a:lstStyle/>
          <a:p>
            <a:r>
              <a:rPr lang="en-IN" dirty="0"/>
              <a:t>CNNs are a deep learning algorithm that processes </a:t>
            </a:r>
            <a:r>
              <a:rPr lang="en-IN" dirty="0">
                <a:solidFill>
                  <a:srgbClr val="0070C0"/>
                </a:solidFill>
              </a:rPr>
              <a:t>structured grid data like images</a:t>
            </a:r>
            <a:r>
              <a:rPr lang="en-IN" dirty="0"/>
              <a:t>. </a:t>
            </a:r>
          </a:p>
          <a:p>
            <a:r>
              <a:rPr lang="en-IN" dirty="0"/>
              <a:t>This architecture is commonly used for image processing, image recognition, video analysis, and NLP.</a:t>
            </a:r>
          </a:p>
          <a:p>
            <a:r>
              <a:rPr lang="en-IN" dirty="0"/>
              <a:t>The name </a:t>
            </a:r>
            <a:r>
              <a:rPr lang="en-IN" dirty="0">
                <a:solidFill>
                  <a:srgbClr val="0070C0"/>
                </a:solidFill>
              </a:rPr>
              <a:t>‘convolutional’ </a:t>
            </a:r>
            <a:r>
              <a:rPr lang="en-IN" dirty="0"/>
              <a:t>derives from a mathematical operation involving the convolution of different functions. </a:t>
            </a:r>
          </a:p>
          <a:p>
            <a:r>
              <a:rPr lang="en-IN" dirty="0"/>
              <a:t>CNNs consist of an input and an output layer, as well as </a:t>
            </a:r>
            <a:r>
              <a:rPr lang="en-IN" dirty="0">
                <a:solidFill>
                  <a:srgbClr val="0070C0"/>
                </a:solidFill>
              </a:rPr>
              <a:t>multiple hidden layers</a:t>
            </a:r>
            <a:r>
              <a:rPr lang="en-IN" dirty="0"/>
              <a:t>. The CNN’s hidden layers </a:t>
            </a:r>
            <a:r>
              <a:rPr lang="en-IN" dirty="0">
                <a:solidFill>
                  <a:srgbClr val="0070C0"/>
                </a:solidFill>
              </a:rPr>
              <a:t>typically consist of </a:t>
            </a:r>
            <a:r>
              <a:rPr lang="en-IN" dirty="0"/>
              <a:t>a series of convolutional layers.</a:t>
            </a:r>
          </a:p>
        </p:txBody>
      </p:sp>
      <p:pic>
        <p:nvPicPr>
          <p:cNvPr id="4" name="Picture 3"/>
          <p:cNvPicPr>
            <a:picLocks noChangeAspect="1"/>
          </p:cNvPicPr>
          <p:nvPr/>
        </p:nvPicPr>
        <p:blipFill>
          <a:blip r:embed="rId2"/>
          <a:stretch>
            <a:fillRect/>
          </a:stretch>
        </p:blipFill>
        <p:spPr>
          <a:xfrm>
            <a:off x="4288135" y="4140127"/>
            <a:ext cx="4737073" cy="2340000"/>
          </a:xfrm>
          <a:prstGeom prst="rect">
            <a:avLst/>
          </a:prstGeom>
        </p:spPr>
      </p:pic>
      <p:sp>
        <p:nvSpPr>
          <p:cNvPr id="5" name="Rectangle 4"/>
          <p:cNvSpPr/>
          <p:nvPr/>
        </p:nvSpPr>
        <p:spPr>
          <a:xfrm>
            <a:off x="1199647" y="5807678"/>
            <a:ext cx="2937317" cy="646331"/>
          </a:xfrm>
          <a:prstGeom prst="rect">
            <a:avLst/>
          </a:prstGeom>
        </p:spPr>
        <p:txBody>
          <a:bodyPr wrap="square">
            <a:spAutoFit/>
          </a:bodyPr>
          <a:lstStyle/>
          <a:p>
            <a:r>
              <a:rPr lang="en-IN" sz="1200" dirty="0"/>
              <a:t>Image reference: https://www.upgrad.com/blog/basic-cnn-architecture/</a:t>
            </a:r>
          </a:p>
        </p:txBody>
      </p:sp>
    </p:spTree>
    <p:extLst>
      <p:ext uri="{BB962C8B-B14F-4D97-AF65-F5344CB8AC3E}">
        <p14:creationId xmlns:p14="http://schemas.microsoft.com/office/powerpoint/2010/main" val="3899444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par>
                          <p:cTn id="18" fill="hold">
                            <p:stCondLst>
                              <p:cond delay="500"/>
                            </p:stCondLst>
                            <p:childTnLst>
                              <p:par>
                                <p:cTn id="19" presetID="14" presetClass="entr" presetSubtype="10"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randombar(horizontal)">
                                      <p:cBhvr>
                                        <p:cTn id="21" dur="500"/>
                                        <p:tgtEl>
                                          <p:spTgt spid="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CNN works? </a:t>
            </a:r>
          </a:p>
        </p:txBody>
      </p:sp>
      <p:sp>
        <p:nvSpPr>
          <p:cNvPr id="3" name="Content Placeholder 2"/>
          <p:cNvSpPr>
            <a:spLocks noGrp="1"/>
          </p:cNvSpPr>
          <p:nvPr>
            <p:ph idx="1"/>
          </p:nvPr>
        </p:nvSpPr>
        <p:spPr/>
        <p:txBody>
          <a:bodyPr/>
          <a:lstStyle/>
          <a:p>
            <a:r>
              <a:rPr lang="en-IN" dirty="0"/>
              <a:t>The input is received by the network. Each input (for instance, image) will pass through </a:t>
            </a:r>
            <a:r>
              <a:rPr lang="en-IN" dirty="0">
                <a:solidFill>
                  <a:srgbClr val="0070C0"/>
                </a:solidFill>
              </a:rPr>
              <a:t>a series of convolution layers</a:t>
            </a:r>
            <a:r>
              <a:rPr lang="en-IN" dirty="0"/>
              <a:t> with various filters. </a:t>
            </a:r>
          </a:p>
          <a:p>
            <a:r>
              <a:rPr lang="en-IN" dirty="0">
                <a:solidFill>
                  <a:schemeClr val="accent6"/>
                </a:solidFill>
              </a:rPr>
              <a:t>Convolutional Layer: </a:t>
            </a:r>
            <a:r>
              <a:rPr lang="en-IN" dirty="0"/>
              <a:t>This layer applies a set of filters (kernels) to the input image, where each filter </a:t>
            </a:r>
            <a:r>
              <a:rPr lang="en-IN" dirty="0">
                <a:solidFill>
                  <a:srgbClr val="0070C0"/>
                </a:solidFill>
              </a:rPr>
              <a:t>slides (convolves) </a:t>
            </a:r>
            <a:r>
              <a:rPr lang="en-IN" dirty="0"/>
              <a:t>across the image to produce a feature map. </a:t>
            </a:r>
          </a:p>
          <a:p>
            <a:r>
              <a:rPr lang="en-IN" dirty="0"/>
              <a:t>This helps detect various features such as </a:t>
            </a:r>
            <a:r>
              <a:rPr lang="en-IN" dirty="0">
                <a:solidFill>
                  <a:srgbClr val="0070C0"/>
                </a:solidFill>
              </a:rPr>
              <a:t>edges, textures, and patterns</a:t>
            </a:r>
            <a:r>
              <a:rPr lang="en-IN" dirty="0"/>
              <a:t>. </a:t>
            </a:r>
          </a:p>
          <a:p>
            <a:r>
              <a:rPr lang="en-IN" dirty="0"/>
              <a:t>The convolutional layer incorporates non-linear activation functions, with </a:t>
            </a:r>
            <a:r>
              <a:rPr lang="en-IN" dirty="0">
                <a:solidFill>
                  <a:srgbClr val="0070C0"/>
                </a:solidFill>
              </a:rPr>
              <a:t>Rectified Linear Unit (</a:t>
            </a:r>
            <a:r>
              <a:rPr lang="en-IN" dirty="0" err="1">
                <a:solidFill>
                  <a:srgbClr val="0070C0"/>
                </a:solidFill>
              </a:rPr>
              <a:t>ReLU</a:t>
            </a:r>
            <a:r>
              <a:rPr lang="en-IN" dirty="0">
                <a:solidFill>
                  <a:srgbClr val="0070C0"/>
                </a:solidFill>
              </a:rPr>
              <a:t>)</a:t>
            </a:r>
            <a:r>
              <a:rPr lang="en-IN" dirty="0"/>
              <a:t> being the most widely used. </a:t>
            </a:r>
          </a:p>
          <a:p>
            <a:endParaRPr lang="en-IN" dirty="0"/>
          </a:p>
          <a:p>
            <a:endParaRPr lang="en-IN" dirty="0"/>
          </a:p>
          <a:p>
            <a:endParaRPr lang="en-IN" dirty="0"/>
          </a:p>
        </p:txBody>
      </p:sp>
      <p:pic>
        <p:nvPicPr>
          <p:cNvPr id="4" name="Content Placeholder 3"/>
          <p:cNvPicPr>
            <a:picLocks noChangeAspect="1"/>
          </p:cNvPicPr>
          <p:nvPr/>
        </p:nvPicPr>
        <p:blipFill rotWithShape="1">
          <a:blip r:embed="rId2"/>
          <a:srcRect t="17634" b="19364"/>
          <a:stretch/>
        </p:blipFill>
        <p:spPr>
          <a:xfrm>
            <a:off x="4036816" y="4118819"/>
            <a:ext cx="6200672" cy="2340000"/>
          </a:xfrm>
          <a:prstGeom prst="rect">
            <a:avLst/>
          </a:prstGeom>
        </p:spPr>
      </p:pic>
      <p:sp>
        <p:nvSpPr>
          <p:cNvPr id="5" name="Rectangle 4"/>
          <p:cNvSpPr/>
          <p:nvPr/>
        </p:nvSpPr>
        <p:spPr>
          <a:xfrm>
            <a:off x="1228581" y="5812488"/>
            <a:ext cx="2535876" cy="646331"/>
          </a:xfrm>
          <a:prstGeom prst="rect">
            <a:avLst/>
          </a:prstGeom>
        </p:spPr>
        <p:txBody>
          <a:bodyPr wrap="square">
            <a:spAutoFit/>
          </a:bodyPr>
          <a:lstStyle/>
          <a:p>
            <a:r>
              <a:rPr lang="en-IN" sz="1200" dirty="0"/>
              <a:t>Image reference: https://www.projectpro.io/article/deep-learning-architectures/996</a:t>
            </a:r>
          </a:p>
        </p:txBody>
      </p:sp>
    </p:spTree>
    <p:extLst>
      <p:ext uri="{BB962C8B-B14F-4D97-AF65-F5344CB8AC3E}">
        <p14:creationId xmlns:p14="http://schemas.microsoft.com/office/powerpoint/2010/main" val="3345708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par>
                          <p:cTn id="13" fill="hold">
                            <p:stCondLst>
                              <p:cond delay="500"/>
                            </p:stCondLst>
                            <p:childTnLst>
                              <p:par>
                                <p:cTn id="14" presetID="14" presetClass="entr" presetSubtype="1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randombar(horizontal)">
                                      <p:cBhvr>
                                        <p:cTn id="16" dur="500"/>
                                        <p:tgtEl>
                                          <p:spTgt spid="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500"/>
                                        <p:tgtEl>
                                          <p:spTgt spid="3">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CNN works? </a:t>
            </a:r>
          </a:p>
        </p:txBody>
      </p:sp>
      <p:sp>
        <p:nvSpPr>
          <p:cNvPr id="3" name="Content Placeholder 2"/>
          <p:cNvSpPr>
            <a:spLocks noGrp="1"/>
          </p:cNvSpPr>
          <p:nvPr>
            <p:ph idx="1"/>
          </p:nvPr>
        </p:nvSpPr>
        <p:spPr/>
        <p:txBody>
          <a:bodyPr/>
          <a:lstStyle/>
          <a:p>
            <a:r>
              <a:rPr lang="en-IN" dirty="0">
                <a:solidFill>
                  <a:schemeClr val="accent6"/>
                </a:solidFill>
              </a:rPr>
              <a:t>Pooling Layer: </a:t>
            </a:r>
            <a:r>
              <a:rPr lang="en-IN" dirty="0"/>
              <a:t>This layer </a:t>
            </a:r>
            <a:r>
              <a:rPr lang="en-IN" dirty="0">
                <a:solidFill>
                  <a:srgbClr val="0070C0"/>
                </a:solidFill>
              </a:rPr>
              <a:t>reduces the dimensionality </a:t>
            </a:r>
            <a:r>
              <a:rPr lang="en-IN" dirty="0"/>
              <a:t>of the feature maps while retaining the most essential information. Common types include max pooling and average pooling.</a:t>
            </a:r>
          </a:p>
          <a:p>
            <a:r>
              <a:rPr lang="en-IN" dirty="0"/>
              <a:t>These operations are repeated over </a:t>
            </a:r>
            <a:r>
              <a:rPr lang="en-IN" dirty="0">
                <a:solidFill>
                  <a:srgbClr val="0070C0"/>
                </a:solidFill>
              </a:rPr>
              <a:t>tens or hundreds of layers</a:t>
            </a:r>
            <a:r>
              <a:rPr lang="en-IN" dirty="0"/>
              <a:t>, with each layer learning to identify different features.</a:t>
            </a:r>
          </a:p>
          <a:p>
            <a:r>
              <a:rPr lang="en-IN" dirty="0">
                <a:solidFill>
                  <a:schemeClr val="accent6"/>
                </a:solidFill>
              </a:rPr>
              <a:t>Fully Connected Layer: </a:t>
            </a:r>
            <a:r>
              <a:rPr lang="en-IN" dirty="0"/>
              <a:t>After several convolutional and pooling layers, the output is </a:t>
            </a:r>
            <a:r>
              <a:rPr lang="en-IN" dirty="0">
                <a:solidFill>
                  <a:srgbClr val="0070C0"/>
                </a:solidFill>
              </a:rPr>
              <a:t>flattened and fed</a:t>
            </a:r>
            <a:r>
              <a:rPr lang="en-IN" dirty="0"/>
              <a:t> into one or more fully connected (dense) layers, culminating in the output layer that makes the final classification or prediction</a:t>
            </a:r>
          </a:p>
          <a:p>
            <a:endParaRPr lang="en-IN" dirty="0"/>
          </a:p>
          <a:p>
            <a:endParaRPr lang="en-IN" dirty="0"/>
          </a:p>
        </p:txBody>
      </p:sp>
      <p:pic>
        <p:nvPicPr>
          <p:cNvPr id="6" name="Content Placeholder 3"/>
          <p:cNvPicPr>
            <a:picLocks noChangeAspect="1"/>
          </p:cNvPicPr>
          <p:nvPr/>
        </p:nvPicPr>
        <p:blipFill rotWithShape="1">
          <a:blip r:embed="rId2"/>
          <a:srcRect t="17634" b="19364"/>
          <a:stretch/>
        </p:blipFill>
        <p:spPr>
          <a:xfrm>
            <a:off x="4036816" y="4118819"/>
            <a:ext cx="6200672" cy="2340000"/>
          </a:xfrm>
          <a:prstGeom prst="rect">
            <a:avLst/>
          </a:prstGeom>
        </p:spPr>
      </p:pic>
      <p:sp>
        <p:nvSpPr>
          <p:cNvPr id="7" name="Rectangle 6"/>
          <p:cNvSpPr/>
          <p:nvPr/>
        </p:nvSpPr>
        <p:spPr>
          <a:xfrm>
            <a:off x="1228581" y="5812488"/>
            <a:ext cx="2535876" cy="646331"/>
          </a:xfrm>
          <a:prstGeom prst="rect">
            <a:avLst/>
          </a:prstGeom>
        </p:spPr>
        <p:txBody>
          <a:bodyPr wrap="square">
            <a:spAutoFit/>
          </a:bodyPr>
          <a:lstStyle/>
          <a:p>
            <a:r>
              <a:rPr lang="en-IN" sz="1200" dirty="0"/>
              <a:t>Image reference: https://www.projectpro.io/article/deep-learning-architectures/996</a:t>
            </a:r>
          </a:p>
        </p:txBody>
      </p:sp>
    </p:spTree>
    <p:extLst>
      <p:ext uri="{BB962C8B-B14F-4D97-AF65-F5344CB8AC3E}">
        <p14:creationId xmlns:p14="http://schemas.microsoft.com/office/powerpoint/2010/main" val="631417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2. Recurrent Neural Networks (RNNs)</a:t>
            </a:r>
          </a:p>
        </p:txBody>
      </p:sp>
      <p:sp>
        <p:nvSpPr>
          <p:cNvPr id="5" name="Content Placeholder 4"/>
          <p:cNvSpPr>
            <a:spLocks noGrp="1"/>
          </p:cNvSpPr>
          <p:nvPr>
            <p:ph idx="1"/>
          </p:nvPr>
        </p:nvSpPr>
        <p:spPr/>
        <p:txBody>
          <a:bodyPr/>
          <a:lstStyle/>
          <a:p>
            <a:r>
              <a:rPr lang="en-IN" dirty="0"/>
              <a:t>RNNs are designed to recognize patterns in data sequences, such as </a:t>
            </a:r>
            <a:r>
              <a:rPr lang="en-IN" dirty="0">
                <a:solidFill>
                  <a:srgbClr val="0070C0"/>
                </a:solidFill>
              </a:rPr>
              <a:t>time series or natural language</a:t>
            </a:r>
            <a:r>
              <a:rPr lang="en-IN" dirty="0"/>
              <a:t>. </a:t>
            </a:r>
          </a:p>
          <a:p>
            <a:r>
              <a:rPr lang="en-IN" dirty="0"/>
              <a:t>They </a:t>
            </a:r>
            <a:r>
              <a:rPr lang="en-IN" dirty="0">
                <a:solidFill>
                  <a:srgbClr val="0070C0"/>
                </a:solidFill>
              </a:rPr>
              <a:t>maintain </a:t>
            </a:r>
            <a:r>
              <a:rPr lang="en-IN" dirty="0"/>
              <a:t>a hidden state that captures information about previous inputs.</a:t>
            </a:r>
          </a:p>
          <a:p>
            <a:r>
              <a:rPr lang="en-IN" dirty="0"/>
              <a:t>RNNs can use their </a:t>
            </a:r>
            <a:r>
              <a:rPr lang="en-IN" dirty="0">
                <a:solidFill>
                  <a:srgbClr val="0070C0"/>
                </a:solidFill>
              </a:rPr>
              <a:t>internal state (memory) </a:t>
            </a:r>
            <a:r>
              <a:rPr lang="en-IN" dirty="0"/>
              <a:t>to process variable-length sequences of inputs. </a:t>
            </a:r>
          </a:p>
          <a:p>
            <a:r>
              <a:rPr lang="en-IN" dirty="0"/>
              <a:t>Every processed information is </a:t>
            </a:r>
            <a:r>
              <a:rPr lang="en-IN" dirty="0">
                <a:solidFill>
                  <a:srgbClr val="0070C0"/>
                </a:solidFill>
              </a:rPr>
              <a:t>captured, stored, and utilized </a:t>
            </a:r>
            <a:r>
              <a:rPr lang="en-IN" dirty="0"/>
              <a:t>to calculate the final outcome. </a:t>
            </a:r>
          </a:p>
          <a:p>
            <a:r>
              <a:rPr lang="en-IN" dirty="0"/>
              <a:t>This makes them useful when it comes to, for instance, speech recognition. </a:t>
            </a:r>
          </a:p>
          <a:p>
            <a:r>
              <a:rPr lang="en-IN" dirty="0"/>
              <a:t>Moreover, the recurrent network might have connections that </a:t>
            </a:r>
            <a:r>
              <a:rPr lang="en-IN" dirty="0">
                <a:solidFill>
                  <a:srgbClr val="0070C0"/>
                </a:solidFill>
              </a:rPr>
              <a:t>feedback</a:t>
            </a:r>
            <a:r>
              <a:rPr lang="en-IN" dirty="0"/>
              <a:t> into prior layers (or even into the same layer). </a:t>
            </a:r>
          </a:p>
          <a:p>
            <a:r>
              <a:rPr lang="en-IN" dirty="0"/>
              <a:t>This feedback allows them </a:t>
            </a:r>
            <a:r>
              <a:rPr lang="en-IN" dirty="0">
                <a:solidFill>
                  <a:srgbClr val="0070C0"/>
                </a:solidFill>
              </a:rPr>
              <a:t>to maintain </a:t>
            </a:r>
            <a:r>
              <a:rPr lang="en-IN" dirty="0"/>
              <a:t>the memory of past inputs and solve problems in time.</a:t>
            </a:r>
          </a:p>
          <a:p>
            <a:endParaRPr lang="en-IN" dirty="0"/>
          </a:p>
        </p:txBody>
      </p:sp>
    </p:spTree>
    <p:extLst>
      <p:ext uri="{BB962C8B-B14F-4D97-AF65-F5344CB8AC3E}">
        <p14:creationId xmlns:p14="http://schemas.microsoft.com/office/powerpoint/2010/main" val="3263290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RNN Works?</a:t>
            </a:r>
          </a:p>
        </p:txBody>
      </p:sp>
      <p:sp>
        <p:nvSpPr>
          <p:cNvPr id="3" name="Content Placeholder 2"/>
          <p:cNvSpPr>
            <a:spLocks noGrp="1"/>
          </p:cNvSpPr>
          <p:nvPr>
            <p:ph idx="1"/>
          </p:nvPr>
        </p:nvSpPr>
        <p:spPr/>
        <p:txBody>
          <a:bodyPr/>
          <a:lstStyle/>
          <a:p>
            <a:r>
              <a:rPr lang="en-IN" dirty="0"/>
              <a:t>RNNs </a:t>
            </a:r>
            <a:r>
              <a:rPr lang="en-IN" dirty="0">
                <a:solidFill>
                  <a:srgbClr val="0070C0"/>
                </a:solidFill>
              </a:rPr>
              <a:t>have the same </a:t>
            </a:r>
            <a:r>
              <a:rPr lang="en-IN" dirty="0"/>
              <a:t>input and output architecture as any other deep neural architecture. </a:t>
            </a:r>
          </a:p>
          <a:p>
            <a:r>
              <a:rPr lang="en-IN" dirty="0"/>
              <a:t>However, </a:t>
            </a:r>
            <a:r>
              <a:rPr lang="en-IN" dirty="0">
                <a:solidFill>
                  <a:srgbClr val="0070C0"/>
                </a:solidFill>
              </a:rPr>
              <a:t>differences arise </a:t>
            </a:r>
            <a:r>
              <a:rPr lang="en-IN" dirty="0"/>
              <a:t>in the way the information flows from input to output. </a:t>
            </a:r>
          </a:p>
          <a:p>
            <a:r>
              <a:rPr lang="en-IN" dirty="0"/>
              <a:t>The fundamental processing unit in a Recurrent Neural Network (RNN) is a </a:t>
            </a:r>
            <a:r>
              <a:rPr lang="en-IN" dirty="0">
                <a:solidFill>
                  <a:srgbClr val="0070C0"/>
                </a:solidFill>
              </a:rPr>
              <a:t>Recurrent Unit.</a:t>
            </a:r>
          </a:p>
          <a:p>
            <a:r>
              <a:rPr lang="en-IN" dirty="0">
                <a:solidFill>
                  <a:srgbClr val="0070C0"/>
                </a:solidFill>
              </a:rPr>
              <a:t>Each unit has an internal state </a:t>
            </a:r>
            <a:r>
              <a:rPr lang="en-IN" dirty="0"/>
              <a:t>which is called the hidden state of the unit. </a:t>
            </a:r>
          </a:p>
          <a:p>
            <a:r>
              <a:rPr lang="en-IN" dirty="0"/>
              <a:t>This </a:t>
            </a:r>
            <a:r>
              <a:rPr lang="en-IN" dirty="0">
                <a:solidFill>
                  <a:srgbClr val="0070C0"/>
                </a:solidFill>
              </a:rPr>
              <a:t>hidden state signifies </a:t>
            </a:r>
            <a:r>
              <a:rPr lang="en-IN" dirty="0"/>
              <a:t>the past knowledge that the network currently holds at a given time step. </a:t>
            </a:r>
          </a:p>
          <a:p>
            <a:r>
              <a:rPr lang="en-IN" dirty="0">
                <a:solidFill>
                  <a:srgbClr val="0070C0"/>
                </a:solidFill>
              </a:rPr>
              <a:t>Unlike Deep neural networks</a:t>
            </a:r>
            <a:r>
              <a:rPr lang="en-IN" dirty="0"/>
              <a:t>, where we have different weight matrices for each Dense network in RNN, the weight across the network remains the same. </a:t>
            </a:r>
          </a:p>
        </p:txBody>
      </p:sp>
      <p:pic>
        <p:nvPicPr>
          <p:cNvPr id="4" name="Picture 3"/>
          <p:cNvPicPr>
            <a:picLocks noChangeAspect="1"/>
          </p:cNvPicPr>
          <p:nvPr/>
        </p:nvPicPr>
        <p:blipFill>
          <a:blip r:embed="rId2"/>
          <a:stretch>
            <a:fillRect/>
          </a:stretch>
        </p:blipFill>
        <p:spPr>
          <a:xfrm>
            <a:off x="5253037" y="4549009"/>
            <a:ext cx="1685925" cy="1905000"/>
          </a:xfrm>
          <a:prstGeom prst="rect">
            <a:avLst/>
          </a:prstGeom>
        </p:spPr>
      </p:pic>
      <p:sp>
        <p:nvSpPr>
          <p:cNvPr id="5" name="TextBox 4"/>
          <p:cNvSpPr txBox="1"/>
          <p:nvPr/>
        </p:nvSpPr>
        <p:spPr>
          <a:xfrm>
            <a:off x="4224049" y="6084677"/>
            <a:ext cx="1641764" cy="369332"/>
          </a:xfrm>
          <a:prstGeom prst="rect">
            <a:avLst/>
          </a:prstGeom>
          <a:noFill/>
        </p:spPr>
        <p:txBody>
          <a:bodyPr wrap="square" rtlCol="0">
            <a:spAutoFit/>
          </a:bodyPr>
          <a:lstStyle/>
          <a:p>
            <a:pPr algn="ctr"/>
            <a:r>
              <a:rPr lang="en-IN" dirty="0"/>
              <a:t>Recurrent Unit</a:t>
            </a:r>
          </a:p>
        </p:txBody>
      </p:sp>
    </p:spTree>
    <p:extLst>
      <p:ext uri="{BB962C8B-B14F-4D97-AF65-F5344CB8AC3E}">
        <p14:creationId xmlns:p14="http://schemas.microsoft.com/office/powerpoint/2010/main" val="1816993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par>
                          <p:cTn id="23" fill="hold">
                            <p:stCondLst>
                              <p:cond delay="500"/>
                            </p:stCondLst>
                            <p:childTnLst>
                              <p:par>
                                <p:cTn id="24" presetID="14" presetClass="entr" presetSubtype="10"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randombar(horizontal)">
                                      <p:cBhvr>
                                        <p:cTn id="26" dur="500"/>
                                        <p:tgtEl>
                                          <p:spTgt spid="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500"/>
                                        <p:tgtEl>
                                          <p:spTgt spid="3">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Effect transition="in" filter="fade">
                                      <p:cBhvr>
                                        <p:cTn id="3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RNN Works?</a:t>
            </a:r>
          </a:p>
        </p:txBody>
      </p:sp>
      <p:sp>
        <p:nvSpPr>
          <p:cNvPr id="3" name="Content Placeholder 2"/>
          <p:cNvSpPr>
            <a:spLocks noGrp="1"/>
          </p:cNvSpPr>
          <p:nvPr>
            <p:ph idx="1"/>
          </p:nvPr>
        </p:nvSpPr>
        <p:spPr/>
        <p:txBody>
          <a:bodyPr/>
          <a:lstStyle/>
          <a:p>
            <a:r>
              <a:rPr lang="en-IN" dirty="0">
                <a:solidFill>
                  <a:schemeClr val="accent6"/>
                </a:solidFill>
              </a:rPr>
              <a:t>A Recurrent Unit </a:t>
            </a:r>
            <a:r>
              <a:rPr lang="en-IN" dirty="0"/>
              <a:t>has the unique ability to maintain a hidden state, allowing the network </a:t>
            </a:r>
            <a:r>
              <a:rPr lang="en-IN" dirty="0">
                <a:solidFill>
                  <a:srgbClr val="0070C0"/>
                </a:solidFill>
              </a:rPr>
              <a:t>to capture sequential dependencies</a:t>
            </a:r>
            <a:r>
              <a:rPr lang="en-IN" dirty="0"/>
              <a:t> by remembering previous inputs while processing.</a:t>
            </a:r>
          </a:p>
          <a:p>
            <a:r>
              <a:rPr lang="en-IN" dirty="0">
                <a:solidFill>
                  <a:schemeClr val="accent6"/>
                </a:solidFill>
              </a:rPr>
              <a:t>Hidden State: </a:t>
            </a:r>
            <a:r>
              <a:rPr lang="en-IN" dirty="0"/>
              <a:t>At each time step, </a:t>
            </a:r>
            <a:r>
              <a:rPr lang="en-IN" dirty="0">
                <a:solidFill>
                  <a:srgbClr val="0070C0"/>
                </a:solidFill>
              </a:rPr>
              <a:t>the hidden state is updated</a:t>
            </a:r>
            <a:r>
              <a:rPr lang="en-IN" dirty="0"/>
              <a:t> based on the current input and the previous hidden state. This allows the network to maintain a memory of past inputs.</a:t>
            </a:r>
          </a:p>
          <a:p>
            <a:r>
              <a:rPr lang="en-IN" dirty="0">
                <a:solidFill>
                  <a:schemeClr val="accent6"/>
                </a:solidFill>
              </a:rPr>
              <a:t>Output:</a:t>
            </a:r>
            <a:r>
              <a:rPr lang="en-IN" dirty="0"/>
              <a:t> The hidden state generates an output at each time step. The network is trained using </a:t>
            </a:r>
            <a:r>
              <a:rPr lang="en-IN" dirty="0">
                <a:solidFill>
                  <a:srgbClr val="0070C0"/>
                </a:solidFill>
              </a:rPr>
              <a:t>backpropagation through time (BPTT) </a:t>
            </a:r>
            <a:r>
              <a:rPr lang="en-IN" dirty="0"/>
              <a:t>to minimize prediction error.</a:t>
            </a:r>
          </a:p>
          <a:p>
            <a:r>
              <a:rPr lang="en-IN" dirty="0"/>
              <a:t>The Recurrent Neural Network consists of </a:t>
            </a:r>
            <a:r>
              <a:rPr lang="en-IN" dirty="0">
                <a:solidFill>
                  <a:srgbClr val="0070C0"/>
                </a:solidFill>
              </a:rPr>
              <a:t>multiple fixed activation function units</a:t>
            </a:r>
            <a:r>
              <a:rPr lang="en-IN" dirty="0"/>
              <a:t>, one for each time step. </a:t>
            </a:r>
          </a:p>
          <a:p>
            <a:endParaRPr lang="en-IN" dirty="0"/>
          </a:p>
        </p:txBody>
      </p:sp>
      <p:pic>
        <p:nvPicPr>
          <p:cNvPr id="5" name="Picture 4"/>
          <p:cNvPicPr>
            <a:picLocks noChangeAspect="1"/>
          </p:cNvPicPr>
          <p:nvPr/>
        </p:nvPicPr>
        <p:blipFill rotWithShape="1">
          <a:blip r:embed="rId2"/>
          <a:srcRect t="19916" b="13967"/>
          <a:stretch/>
        </p:blipFill>
        <p:spPr>
          <a:xfrm>
            <a:off x="2952750" y="4097620"/>
            <a:ext cx="6286500" cy="2078182"/>
          </a:xfrm>
          <a:prstGeom prst="rect">
            <a:avLst/>
          </a:prstGeom>
        </p:spPr>
      </p:pic>
      <p:sp>
        <p:nvSpPr>
          <p:cNvPr id="6" name="Rectangle 5"/>
          <p:cNvSpPr/>
          <p:nvPr/>
        </p:nvSpPr>
        <p:spPr>
          <a:xfrm>
            <a:off x="3409481" y="6176406"/>
            <a:ext cx="5805056" cy="276999"/>
          </a:xfrm>
          <a:prstGeom prst="rect">
            <a:avLst/>
          </a:prstGeom>
        </p:spPr>
        <p:txBody>
          <a:bodyPr wrap="square">
            <a:spAutoFit/>
          </a:bodyPr>
          <a:lstStyle/>
          <a:p>
            <a:r>
              <a:rPr lang="en-IN" sz="1200" dirty="0"/>
              <a:t>Image reference: https://www.geeksforgeeks.org/introduction-to-recurrent-neural-network/</a:t>
            </a:r>
          </a:p>
        </p:txBody>
      </p:sp>
    </p:spTree>
    <p:extLst>
      <p:ext uri="{BB962C8B-B14F-4D97-AF65-F5344CB8AC3E}">
        <p14:creationId xmlns:p14="http://schemas.microsoft.com/office/powerpoint/2010/main" val="39233311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3. Long Short-Term Memory (LSTM) </a:t>
            </a:r>
          </a:p>
        </p:txBody>
      </p:sp>
      <p:sp>
        <p:nvSpPr>
          <p:cNvPr id="3" name="Content Placeholder 2"/>
          <p:cNvSpPr>
            <a:spLocks noGrp="1"/>
          </p:cNvSpPr>
          <p:nvPr>
            <p:ph idx="1"/>
          </p:nvPr>
        </p:nvSpPr>
        <p:spPr/>
        <p:txBody>
          <a:bodyPr/>
          <a:lstStyle/>
          <a:p>
            <a:r>
              <a:rPr lang="en-IN" dirty="0"/>
              <a:t>The LSTM are different from typical neuron-based neural network architectures and they are </a:t>
            </a:r>
            <a:r>
              <a:rPr lang="en-IN" dirty="0">
                <a:solidFill>
                  <a:srgbClr val="0070C0"/>
                </a:solidFill>
              </a:rPr>
              <a:t>a special kind of RNN</a:t>
            </a:r>
            <a:r>
              <a:rPr lang="en-IN" dirty="0"/>
              <a:t> capable of learning long-term dependencies. </a:t>
            </a:r>
          </a:p>
          <a:p>
            <a:r>
              <a:rPr lang="en-IN" dirty="0"/>
              <a:t>However, LSTM has feedback connections. This means that it can process not only single data points (such as images) but also the </a:t>
            </a:r>
            <a:r>
              <a:rPr lang="en-IN" dirty="0">
                <a:solidFill>
                  <a:srgbClr val="0070C0"/>
                </a:solidFill>
              </a:rPr>
              <a:t>entire sequences of data </a:t>
            </a:r>
            <a:r>
              <a:rPr lang="en-IN" dirty="0"/>
              <a:t>(such as audio or video files)</a:t>
            </a:r>
          </a:p>
          <a:p>
            <a:r>
              <a:rPr lang="en-IN" dirty="0"/>
              <a:t>A typical </a:t>
            </a:r>
            <a:r>
              <a:rPr lang="en-IN" dirty="0">
                <a:solidFill>
                  <a:srgbClr val="0070C0"/>
                </a:solidFill>
              </a:rPr>
              <a:t>LSTM architecture </a:t>
            </a:r>
            <a:r>
              <a:rPr lang="en-IN" dirty="0"/>
              <a:t>is composed of a memory cell, an input gate, an output gate, and a forget gate. </a:t>
            </a:r>
          </a:p>
          <a:p>
            <a:r>
              <a:rPr lang="en-IN" dirty="0"/>
              <a:t>The memory cell can retain its value for a short or long time as a function of its inputs, which </a:t>
            </a:r>
            <a:r>
              <a:rPr lang="en-IN" dirty="0">
                <a:solidFill>
                  <a:srgbClr val="0070C0"/>
                </a:solidFill>
              </a:rPr>
              <a:t>allows the cell to remember what’s essential </a:t>
            </a:r>
            <a:r>
              <a:rPr lang="en-IN" dirty="0"/>
              <a:t>and not just its last computed value.</a:t>
            </a:r>
          </a:p>
          <a:p>
            <a:r>
              <a:rPr lang="en-IN" dirty="0"/>
              <a:t>The </a:t>
            </a:r>
            <a:r>
              <a:rPr lang="en-IN" dirty="0">
                <a:solidFill>
                  <a:srgbClr val="0070C0"/>
                </a:solidFill>
              </a:rPr>
              <a:t>three gates </a:t>
            </a:r>
            <a:r>
              <a:rPr lang="en-IN" dirty="0"/>
              <a:t>regulate the flow of information into and out of the cell. </a:t>
            </a:r>
          </a:p>
          <a:p>
            <a:r>
              <a:rPr lang="en-IN" dirty="0"/>
              <a:t>LSTMs are commonly used in such fields as text compression, handwriting recognition, speech recognition, gesture recognition, and image captioning.</a:t>
            </a:r>
          </a:p>
          <a:p>
            <a:endParaRPr lang="en-IN" dirty="0"/>
          </a:p>
          <a:p>
            <a:endParaRPr lang="en-IN" dirty="0"/>
          </a:p>
        </p:txBody>
      </p:sp>
    </p:spTree>
    <p:extLst>
      <p:ext uri="{BB962C8B-B14F-4D97-AF65-F5344CB8AC3E}">
        <p14:creationId xmlns:p14="http://schemas.microsoft.com/office/powerpoint/2010/main" val="1985085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LSTM works? </a:t>
            </a:r>
          </a:p>
        </p:txBody>
      </p:sp>
      <p:sp>
        <p:nvSpPr>
          <p:cNvPr id="3" name="Content Placeholder 2"/>
          <p:cNvSpPr>
            <a:spLocks noGrp="1"/>
          </p:cNvSpPr>
          <p:nvPr>
            <p:ph idx="1"/>
          </p:nvPr>
        </p:nvSpPr>
        <p:spPr/>
        <p:txBody>
          <a:bodyPr/>
          <a:lstStyle/>
          <a:p>
            <a:r>
              <a:rPr lang="en-IN" dirty="0"/>
              <a:t>LSTMs have </a:t>
            </a:r>
            <a:r>
              <a:rPr lang="en-IN" dirty="0">
                <a:solidFill>
                  <a:srgbClr val="0070C0"/>
                </a:solidFill>
              </a:rPr>
              <a:t>a cell state </a:t>
            </a:r>
            <a:r>
              <a:rPr lang="en-IN" dirty="0"/>
              <a:t>that runs through the entire sequence and can carry information across many steps.</a:t>
            </a:r>
          </a:p>
          <a:p>
            <a:r>
              <a:rPr lang="en-IN" dirty="0"/>
              <a:t>The LSTM memory cell contains </a:t>
            </a:r>
            <a:r>
              <a:rPr lang="en-IN" dirty="0">
                <a:solidFill>
                  <a:srgbClr val="0070C0"/>
                </a:solidFill>
              </a:rPr>
              <a:t>three gates </a:t>
            </a:r>
            <a:r>
              <a:rPr lang="en-IN" dirty="0"/>
              <a:t>that control how information flows into or out of the cell. </a:t>
            </a:r>
          </a:p>
          <a:p>
            <a:r>
              <a:rPr lang="en-IN" dirty="0"/>
              <a:t>The </a:t>
            </a:r>
            <a:r>
              <a:rPr lang="en-IN" dirty="0">
                <a:solidFill>
                  <a:srgbClr val="0070C0"/>
                </a:solidFill>
              </a:rPr>
              <a:t>input gate </a:t>
            </a:r>
            <a:r>
              <a:rPr lang="en-IN" dirty="0"/>
              <a:t>controls when new information can flow into the memory. </a:t>
            </a:r>
          </a:p>
        </p:txBody>
      </p:sp>
      <p:pic>
        <p:nvPicPr>
          <p:cNvPr id="5" name="Picture 4"/>
          <p:cNvPicPr>
            <a:picLocks noChangeAspect="1"/>
          </p:cNvPicPr>
          <p:nvPr/>
        </p:nvPicPr>
        <p:blipFill>
          <a:blip r:embed="rId2"/>
          <a:stretch>
            <a:fillRect/>
          </a:stretch>
        </p:blipFill>
        <p:spPr>
          <a:xfrm>
            <a:off x="4387562" y="2928948"/>
            <a:ext cx="5753966" cy="3525061"/>
          </a:xfrm>
          <a:prstGeom prst="rect">
            <a:avLst/>
          </a:prstGeom>
        </p:spPr>
      </p:pic>
      <p:sp>
        <p:nvSpPr>
          <p:cNvPr id="6" name="Rectangle 5"/>
          <p:cNvSpPr/>
          <p:nvPr/>
        </p:nvSpPr>
        <p:spPr>
          <a:xfrm>
            <a:off x="671082" y="5992344"/>
            <a:ext cx="3716480" cy="461665"/>
          </a:xfrm>
          <a:prstGeom prst="rect">
            <a:avLst/>
          </a:prstGeom>
        </p:spPr>
        <p:txBody>
          <a:bodyPr wrap="square">
            <a:spAutoFit/>
          </a:bodyPr>
          <a:lstStyle/>
          <a:p>
            <a:r>
              <a:rPr lang="en-IN" sz="1200" dirty="0"/>
              <a:t>Image reference: https://developer.ibm.com/articles/cc-machine-learning-deep-learning-architectures/</a:t>
            </a:r>
          </a:p>
        </p:txBody>
      </p:sp>
    </p:spTree>
    <p:extLst>
      <p:ext uri="{BB962C8B-B14F-4D97-AF65-F5344CB8AC3E}">
        <p14:creationId xmlns:p14="http://schemas.microsoft.com/office/powerpoint/2010/main" val="2871760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par>
                          <p:cTn id="13" fill="hold">
                            <p:stCondLst>
                              <p:cond delay="500"/>
                            </p:stCondLst>
                            <p:childTnLst>
                              <p:par>
                                <p:cTn id="14" presetID="14" presetClass="entr" presetSubtype="1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randombar(horizontal)">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LSTM works? </a:t>
            </a:r>
          </a:p>
        </p:txBody>
      </p:sp>
      <p:sp>
        <p:nvSpPr>
          <p:cNvPr id="3" name="Content Placeholder 2"/>
          <p:cNvSpPr>
            <a:spLocks noGrp="1"/>
          </p:cNvSpPr>
          <p:nvPr>
            <p:ph idx="1"/>
          </p:nvPr>
        </p:nvSpPr>
        <p:spPr/>
        <p:txBody>
          <a:bodyPr/>
          <a:lstStyle/>
          <a:p>
            <a:r>
              <a:rPr lang="en-IN" dirty="0"/>
              <a:t>The </a:t>
            </a:r>
            <a:r>
              <a:rPr lang="en-IN" dirty="0">
                <a:solidFill>
                  <a:srgbClr val="0070C0"/>
                </a:solidFill>
              </a:rPr>
              <a:t>forget gate </a:t>
            </a:r>
            <a:r>
              <a:rPr lang="en-IN" dirty="0"/>
              <a:t>controls when an existing piece of information is forgotten, allowing the cell to remember new data. Finally, the </a:t>
            </a:r>
            <a:r>
              <a:rPr lang="en-IN" dirty="0">
                <a:solidFill>
                  <a:srgbClr val="0070C0"/>
                </a:solidFill>
              </a:rPr>
              <a:t>output gate </a:t>
            </a:r>
            <a:r>
              <a:rPr lang="en-IN" dirty="0"/>
              <a:t>controls when the information that is contained in the cell is used in the output from the cell. </a:t>
            </a:r>
          </a:p>
          <a:p>
            <a:r>
              <a:rPr lang="en-IN" dirty="0"/>
              <a:t>The cell also contains </a:t>
            </a:r>
            <a:r>
              <a:rPr lang="en-IN" dirty="0">
                <a:solidFill>
                  <a:srgbClr val="0070C0"/>
                </a:solidFill>
              </a:rPr>
              <a:t>weights,</a:t>
            </a:r>
            <a:r>
              <a:rPr lang="en-IN" dirty="0"/>
              <a:t> which control each gate. The training algorithm, commonly </a:t>
            </a:r>
            <a:r>
              <a:rPr lang="en-IN" dirty="0">
                <a:solidFill>
                  <a:srgbClr val="0070C0"/>
                </a:solidFill>
              </a:rPr>
              <a:t>BPTT,</a:t>
            </a:r>
            <a:r>
              <a:rPr lang="en-IN" dirty="0"/>
              <a:t> optimizes these weights based on the resulting network output error.</a:t>
            </a:r>
          </a:p>
        </p:txBody>
      </p:sp>
      <p:pic>
        <p:nvPicPr>
          <p:cNvPr id="4" name="Picture 3"/>
          <p:cNvPicPr>
            <a:picLocks noChangeAspect="1"/>
          </p:cNvPicPr>
          <p:nvPr/>
        </p:nvPicPr>
        <p:blipFill>
          <a:blip r:embed="rId2"/>
          <a:stretch>
            <a:fillRect/>
          </a:stretch>
        </p:blipFill>
        <p:spPr>
          <a:xfrm>
            <a:off x="4387562" y="2928948"/>
            <a:ext cx="5753966" cy="3525061"/>
          </a:xfrm>
          <a:prstGeom prst="rect">
            <a:avLst/>
          </a:prstGeom>
        </p:spPr>
      </p:pic>
      <p:sp>
        <p:nvSpPr>
          <p:cNvPr id="5" name="Rectangle 4"/>
          <p:cNvSpPr/>
          <p:nvPr/>
        </p:nvSpPr>
        <p:spPr>
          <a:xfrm>
            <a:off x="671082" y="5992344"/>
            <a:ext cx="3716480" cy="461665"/>
          </a:xfrm>
          <a:prstGeom prst="rect">
            <a:avLst/>
          </a:prstGeom>
        </p:spPr>
        <p:txBody>
          <a:bodyPr wrap="square">
            <a:spAutoFit/>
          </a:bodyPr>
          <a:lstStyle/>
          <a:p>
            <a:r>
              <a:rPr lang="en-IN" sz="1200" dirty="0"/>
              <a:t>Image reference: https://developer.ibm.com/articles/cc-machine-learning-deep-learning-architectures/</a:t>
            </a:r>
          </a:p>
        </p:txBody>
      </p:sp>
    </p:spTree>
    <p:extLst>
      <p:ext uri="{BB962C8B-B14F-4D97-AF65-F5344CB8AC3E}">
        <p14:creationId xmlns:p14="http://schemas.microsoft.com/office/powerpoint/2010/main" val="1431711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19486</TotalTime>
  <Words>4112</Words>
  <Application>Microsoft Office PowerPoint</Application>
  <PresentationFormat>Widescreen</PresentationFormat>
  <Paragraphs>493</Paragraphs>
  <Slides>45</Slides>
  <Notes>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45</vt:i4>
      </vt:variant>
    </vt:vector>
  </HeadingPairs>
  <TitlesOfParts>
    <vt:vector size="60" baseType="lpstr">
      <vt:lpstr>Arial</vt:lpstr>
      <vt:lpstr>Calibri</vt:lpstr>
      <vt:lpstr>Cambria Math</vt:lpstr>
      <vt:lpstr>Consolas</vt:lpstr>
      <vt:lpstr>굴림</vt:lpstr>
      <vt:lpstr>Roboto</vt:lpstr>
      <vt:lpstr>Roboto Condensed</vt:lpstr>
      <vt:lpstr>Roboto Condensed Light</vt:lpstr>
      <vt:lpstr>Segoe UI Black</vt:lpstr>
      <vt:lpstr>Times New Roman</vt:lpstr>
      <vt:lpstr>Webdings</vt:lpstr>
      <vt:lpstr>Wingdings</vt:lpstr>
      <vt:lpstr>Wingdings 2</vt:lpstr>
      <vt:lpstr>Wingdings 3</vt:lpstr>
      <vt:lpstr>Office Theme</vt:lpstr>
      <vt:lpstr>Unit-05  Artificial Neural Network </vt:lpstr>
      <vt:lpstr>PowerPoint Presentation</vt:lpstr>
      <vt:lpstr>Brain vs Computer</vt:lpstr>
      <vt:lpstr>Features of the Brain</vt:lpstr>
      <vt:lpstr>Biological Neurons</vt:lpstr>
      <vt:lpstr>Biological Neurons</vt:lpstr>
      <vt:lpstr>Artificial Neurons vs Biological Neurons</vt:lpstr>
      <vt:lpstr>Artificial Neurons - Perceptron</vt:lpstr>
      <vt:lpstr>Basic Components of a Single Layer Perceptron</vt:lpstr>
      <vt:lpstr>Artificial Neural Networks</vt:lpstr>
      <vt:lpstr>History of ANN</vt:lpstr>
      <vt:lpstr>History of ANN</vt:lpstr>
      <vt:lpstr>Different Network Topologies</vt:lpstr>
      <vt:lpstr>Different Network Topologies</vt:lpstr>
      <vt:lpstr>Multi-layer feed-forward networks</vt:lpstr>
      <vt:lpstr>How ANN Works ? – Learning in ANN</vt:lpstr>
      <vt:lpstr>Delta Rule</vt:lpstr>
      <vt:lpstr>Backpropagation algorithm</vt:lpstr>
      <vt:lpstr>Backpropagation algorithm</vt:lpstr>
      <vt:lpstr>PowerPoint Presentation</vt:lpstr>
      <vt:lpstr>Activation Functions</vt:lpstr>
      <vt:lpstr>Non-Linear Activation Functions</vt:lpstr>
      <vt:lpstr>PowerPoint Presentation</vt:lpstr>
      <vt:lpstr>PowerPoint Presentation</vt:lpstr>
      <vt:lpstr>PowerPoint Presentation</vt:lpstr>
      <vt:lpstr>Introduction to Hyperparameters </vt:lpstr>
      <vt:lpstr>Introduction to Hyperparameters </vt:lpstr>
      <vt:lpstr>Hyperparameters in Neural Networks</vt:lpstr>
      <vt:lpstr>Hyperparameters in Neural Networks</vt:lpstr>
      <vt:lpstr>PowerPoint Presentation</vt:lpstr>
      <vt:lpstr>Hyperparameters in Neural Networks</vt:lpstr>
      <vt:lpstr>Hyperparameters in Neural Networks</vt:lpstr>
      <vt:lpstr>Deep Learning Libraries</vt:lpstr>
      <vt:lpstr>TensorFlow &amp; Keras</vt:lpstr>
      <vt:lpstr>Mnist - Example</vt:lpstr>
      <vt:lpstr>Deep Learning Architectures</vt:lpstr>
      <vt:lpstr>1. Convolutional Neural Networks (CNNs)</vt:lpstr>
      <vt:lpstr>How CNN works? </vt:lpstr>
      <vt:lpstr>How CNN works? </vt:lpstr>
      <vt:lpstr> 2. Recurrent Neural Networks (RNNs)</vt:lpstr>
      <vt:lpstr>How RNN Works?</vt:lpstr>
      <vt:lpstr>How RNN Works?</vt:lpstr>
      <vt:lpstr>3. Long Short-Term Memory (LSTM) </vt:lpstr>
      <vt:lpstr>How LSTM works? </vt:lpstr>
      <vt:lpstr>How LSTM works?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1440</cp:revision>
  <dcterms:created xsi:type="dcterms:W3CDTF">2020-05-01T05:09:15Z</dcterms:created>
  <dcterms:modified xsi:type="dcterms:W3CDTF">2026-03-14T08:03:52Z</dcterms:modified>
</cp:coreProperties>
</file>